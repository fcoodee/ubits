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slide" Target="slide9.xml"/><Relationship Id="rId10" Type="http://schemas.openxmlformats.org/officeDocument/2006/relationships/slide" Target="slide9.xml"/><Relationship Id="rId11" Type="http://schemas.openxmlformats.org/officeDocument/2006/relationships/slide" Target="slide9.xml"/><Relationship Id="rId12" Type="http://schemas.openxmlformats.org/officeDocument/2006/relationships/slide" Target="slide6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6.xml"/><Relationship Id="rId18" Type="http://schemas.openxmlformats.org/officeDocument/2006/relationships/slide" Target="slide6.xml"/><Relationship Id="rId19" Type="http://schemas.openxmlformats.org/officeDocument/2006/relationships/slide" Target="slide3.xml"/><Relationship Id="rId20" Type="http://schemas.openxmlformats.org/officeDocument/2006/relationships/slide" Target="slide3.xml"/><Relationship Id="rId21" Type="http://schemas.openxmlformats.org/officeDocument/2006/relationships/slide" Target="slide3.xml"/><Relationship Id="rId22" Type="http://schemas.openxmlformats.org/officeDocument/2006/relationships/slide" Target="slide3.xml"/><Relationship Id="rId23" Type="http://schemas.openxmlformats.org/officeDocument/2006/relationships/slide" Target="slide3.xml"/><Relationship Id="rId24" Type="http://schemas.openxmlformats.org/officeDocument/2006/relationships/slide" Target="slide3.xml"/><Relationship Id="rId25" Type="http://schemas.openxmlformats.org/officeDocument/2006/relationships/slide" Target="slide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 rot="1800000">
            <a:off x="5090008" y="1993392"/>
            <a:ext cx="2011680" cy="768096"/>
          </a:xfrm>
          <a:prstGeom prst="ellipse">
            <a:avLst/>
          </a:prstGeom>
          <a:ln w="31750">
            <a:solidFill>
              <a:srgbClr val="007D8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 rot="-1800000">
            <a:off x="5090008" y="1993392"/>
            <a:ext cx="2011680" cy="768096"/>
          </a:xfrm>
          <a:prstGeom prst="ellipse">
            <a:avLst/>
          </a:prstGeom>
          <a:ln w="31750">
            <a:solidFill>
              <a:srgbClr val="802980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6781648" y="1783080"/>
            <a:ext cx="164592" cy="164592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10" name="Shape 4"/>
          <p:cNvSpPr/>
          <p:nvPr/>
        </p:nvSpPr>
        <p:spPr>
          <a:xfrm>
            <a:off x="5227168" y="2788920"/>
            <a:ext cx="164592" cy="164592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11" name="Shape 5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2" name="Shape 6"/>
          <p:cNvSpPr/>
          <p:nvPr/>
        </p:nvSpPr>
        <p:spPr>
          <a:xfrm>
            <a:off x="5839816" y="2194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6223864" y="2194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5858104" y="2212848"/>
            <a:ext cx="64008" cy="64008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15" name="Shape 9"/>
          <p:cNvSpPr/>
          <p:nvPr/>
        </p:nvSpPr>
        <p:spPr>
          <a:xfrm>
            <a:off x="6242152" y="2212848"/>
            <a:ext cx="64008" cy="64008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16" name="Shape 10"/>
          <p:cNvSpPr/>
          <p:nvPr/>
        </p:nvSpPr>
        <p:spPr>
          <a:xfrm>
            <a:off x="5711800" y="2423160"/>
            <a:ext cx="146304" cy="91440"/>
          </a:xfrm>
          <a:prstGeom prst="ellipse">
            <a:avLst/>
          </a:prstGeom>
          <a:solidFill>
            <a:srgbClr val="F4A0A0"/>
          </a:solidFill>
          <a:ln/>
        </p:spPr>
      </p:sp>
      <p:sp>
        <p:nvSpPr>
          <p:cNvPr id="17" name="Shape 11"/>
          <p:cNvSpPr/>
          <p:nvPr/>
        </p:nvSpPr>
        <p:spPr>
          <a:xfrm>
            <a:off x="6333592" y="2423160"/>
            <a:ext cx="146304" cy="91440"/>
          </a:xfrm>
          <a:prstGeom prst="ellipse">
            <a:avLst/>
          </a:prstGeom>
          <a:solidFill>
            <a:srgbClr val="F4A0A0"/>
          </a:solidFill>
          <a:ln/>
        </p:spPr>
      </p:sp>
      <p:sp>
        <p:nvSpPr>
          <p:cNvPr id="18" name="Text 12"/>
          <p:cNvSpPr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منهج جديد! رحلتنا في عالم التقنية</a:t>
            </a:r>
            <a:endParaRPr lang="en-US" sz="3800" dirty="0"/>
          </a:p>
        </p:txBody>
      </p:sp>
      <p:sp>
        <p:nvSpPr>
          <p:cNvPr id="19" name="Text 13"/>
          <p:cNvSpPr/>
          <p:nvPr/>
        </p:nvSpPr>
        <p:spPr>
          <a:xfrm>
            <a:off x="731520" y="41605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Curriculum — Our Journey into Technology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31520" y="56235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F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مدارس دار الفرسان  |  العام الدراسي 2026 - 2027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B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Al-Forsan Schools  |  Academic Year 2026 - 2027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10058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اختر مرحلتك الدراسية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548640" y="15727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grade level — click a card to jump there</a:t>
            </a:r>
            <a:endParaRPr lang="en-US" sz="1300" dirty="0"/>
          </a:p>
        </p:txBody>
      </p:sp>
      <p:sp>
        <p:nvSpPr>
          <p:cNvPr id="9" name="Shape 3">
            <a:hlinkClick r:id="rId5" tooltip="" action="ppaction://hlinksldjump"/>
          </p:cNvPr>
          <p:cNvSpPr/>
          <p:nvPr/>
        </p:nvSpPr>
        <p:spPr>
          <a:xfrm>
            <a:off x="700888" y="2148840"/>
            <a:ext cx="3291840" cy="35204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Shape 4">
            <a:hlinkClick r:id="rId6" tooltip="" action="ppaction://hlinksldjump"/>
          </p:cNvPr>
          <p:cNvSpPr/>
          <p:nvPr/>
        </p:nvSpPr>
        <p:spPr>
          <a:xfrm>
            <a:off x="1843888" y="2468880"/>
            <a:ext cx="1005840" cy="1005840"/>
          </a:xfrm>
          <a:prstGeom prst="ellipse">
            <a:avLst/>
          </a:prstGeom>
          <a:solidFill>
            <a:srgbClr val="283373"/>
          </a:solidFill>
          <a:ln/>
        </p:spPr>
      </p:sp>
      <p:sp>
        <p:nvSpPr>
          <p:cNvPr id="11" name="Text 5">
            <a:hlinkClick r:id="rId7" tooltip="" action="ppaction://hlinksldjump"/>
          </p:cNvPr>
          <p:cNvSpPr/>
          <p:nvPr/>
        </p:nvSpPr>
        <p:spPr>
          <a:xfrm>
            <a:off x="184388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9-10</a:t>
            </a:r>
            <a:endParaRPr lang="en-US" sz="2200" dirty="0"/>
          </a:p>
        </p:txBody>
      </p:sp>
      <p:sp>
        <p:nvSpPr>
          <p:cNvPr id="12" name="Text 6">
            <a:hlinkClick r:id="rId8" tooltip="" action="ppaction://hlinksldjump"/>
          </p:cNvPr>
          <p:cNvSpPr/>
          <p:nvPr/>
        </p:nvSpPr>
        <p:spPr>
          <a:xfrm>
            <a:off x="883768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u="sng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انطلق نحو الاحتراف</a:t>
            </a:r>
            <a:endParaRPr lang="en-US" sz="1800" dirty="0"/>
          </a:p>
        </p:txBody>
      </p:sp>
      <p:sp>
        <p:nvSpPr>
          <p:cNvPr id="13" name="Text 7">
            <a:hlinkClick r:id="rId9" tooltip="" action="ppaction://hlinksldjump"/>
          </p:cNvPr>
          <p:cNvSpPr/>
          <p:nvPr/>
        </p:nvSpPr>
        <p:spPr>
          <a:xfrm>
            <a:off x="883768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Grades 9-10</a:t>
            </a:r>
            <a:endParaRPr lang="en-US" sz="1050" dirty="0"/>
          </a:p>
        </p:txBody>
      </p:sp>
      <p:sp>
        <p:nvSpPr>
          <p:cNvPr id="14" name="Text 8">
            <a:hlinkClick r:id="rId10" tooltip="" action="ppaction://hlinksldjump"/>
          </p:cNvPr>
          <p:cNvSpPr/>
          <p:nvPr/>
        </p:nvSpPr>
        <p:spPr>
          <a:xfrm>
            <a:off x="883768" y="4480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u="sng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المرتكزات الستة و iDar Tech Team</a:t>
            </a:r>
            <a:endParaRPr lang="en-US" sz="1200" dirty="0"/>
          </a:p>
        </p:txBody>
      </p:sp>
      <p:sp>
        <p:nvSpPr>
          <p:cNvPr id="15" name="Text 9">
            <a:hlinkClick r:id="rId11" tooltip="" action="ppaction://hlinksldjump"/>
          </p:cNvPr>
          <p:cNvSpPr/>
          <p:nvPr/>
        </p:nvSpPr>
        <p:spPr>
          <a:xfrm>
            <a:off x="883768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six pillars and iDar Tech Team</a:t>
            </a:r>
            <a:endParaRPr lang="en-US" sz="950" dirty="0"/>
          </a:p>
        </p:txBody>
      </p:sp>
      <p:sp>
        <p:nvSpPr>
          <p:cNvPr id="16" name="Shape 10">
            <a:hlinkClick r:id="rId12" tooltip="" action="ppaction://hlinksldjump"/>
          </p:cNvPr>
          <p:cNvSpPr/>
          <p:nvPr/>
        </p:nvSpPr>
        <p:spPr>
          <a:xfrm>
            <a:off x="4449928" y="2148840"/>
            <a:ext cx="3291840" cy="35204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7" name="Shape 11">
            <a:hlinkClick r:id="rId13" tooltip="" action="ppaction://hlinksldjump"/>
          </p:cNvPr>
          <p:cNvSpPr/>
          <p:nvPr/>
        </p:nvSpPr>
        <p:spPr>
          <a:xfrm>
            <a:off x="5592928" y="2468880"/>
            <a:ext cx="1005840" cy="1005840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8" name="Text 12">
            <a:hlinkClick r:id="rId14" tooltip="" action="ppaction://hlinksldjump"/>
          </p:cNvPr>
          <p:cNvSpPr/>
          <p:nvPr/>
        </p:nvSpPr>
        <p:spPr>
          <a:xfrm>
            <a:off x="559292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6-8</a:t>
            </a:r>
            <a:endParaRPr lang="en-US" sz="2200" dirty="0"/>
          </a:p>
        </p:txBody>
      </p:sp>
      <p:sp>
        <p:nvSpPr>
          <p:cNvPr id="19" name="Text 13">
            <a:hlinkClick r:id="rId15" tooltip="" action="ppaction://hlinksldjump"/>
          </p:cNvPr>
          <p:cNvSpPr/>
          <p:nvPr/>
        </p:nvSpPr>
        <p:spPr>
          <a:xfrm>
            <a:off x="4632808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u="sng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ابدأ رحلتك التقنية</a:t>
            </a:r>
            <a:endParaRPr lang="en-US" sz="1800" dirty="0"/>
          </a:p>
        </p:txBody>
      </p:sp>
      <p:sp>
        <p:nvSpPr>
          <p:cNvPr id="20" name="Text 14">
            <a:hlinkClick r:id="rId16" tooltip="" action="ppaction://hlinksldjump"/>
          </p:cNvPr>
          <p:cNvSpPr/>
          <p:nvPr/>
        </p:nvSpPr>
        <p:spPr>
          <a:xfrm>
            <a:off x="4632808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Grades 6-8</a:t>
            </a:r>
            <a:endParaRPr lang="en-US" sz="1050" dirty="0"/>
          </a:p>
        </p:txBody>
      </p:sp>
      <p:sp>
        <p:nvSpPr>
          <p:cNvPr id="21" name="Text 15">
            <a:hlinkClick r:id="rId17" tooltip="" action="ppaction://hlinksldjump"/>
          </p:cNvPr>
          <p:cNvSpPr/>
          <p:nvPr/>
        </p:nvSpPr>
        <p:spPr>
          <a:xfrm>
            <a:off x="4632808" y="4480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u="sng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برمجة حقيقية وذكاء اصطناعي</a:t>
            </a:r>
            <a:endParaRPr lang="en-US" sz="1200" dirty="0"/>
          </a:p>
        </p:txBody>
      </p:sp>
      <p:sp>
        <p:nvSpPr>
          <p:cNvPr id="22" name="Text 16">
            <a:hlinkClick r:id="rId18" tooltip="" action="ppaction://hlinksldjump"/>
          </p:cNvPr>
          <p:cNvSpPr/>
          <p:nvPr/>
        </p:nvSpPr>
        <p:spPr>
          <a:xfrm>
            <a:off x="4632808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 coding and artificial intelligence</a:t>
            </a:r>
            <a:endParaRPr lang="en-US" sz="950" dirty="0"/>
          </a:p>
        </p:txBody>
      </p:sp>
      <p:sp>
        <p:nvSpPr>
          <p:cNvPr id="23" name="Shape 17">
            <a:hlinkClick r:id="rId19" tooltip="" action="ppaction://hlinksldjump"/>
          </p:cNvPr>
          <p:cNvSpPr/>
          <p:nvPr/>
        </p:nvSpPr>
        <p:spPr>
          <a:xfrm>
            <a:off x="8198968" y="2148840"/>
            <a:ext cx="3291840" cy="35204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24" name="Shape 18">
            <a:hlinkClick r:id="rId20" tooltip="" action="ppaction://hlinksldjump"/>
          </p:cNvPr>
          <p:cNvSpPr/>
          <p:nvPr/>
        </p:nvSpPr>
        <p:spPr>
          <a:xfrm>
            <a:off x="9341968" y="2468880"/>
            <a:ext cx="1005840" cy="1005840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25" name="Text 19">
            <a:hlinkClick r:id="rId21" tooltip="" action="ppaction://hlinksldjump"/>
          </p:cNvPr>
          <p:cNvSpPr/>
          <p:nvPr/>
        </p:nvSpPr>
        <p:spPr>
          <a:xfrm>
            <a:off x="934196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3-5</a:t>
            </a:r>
            <a:endParaRPr lang="en-US" sz="2200" dirty="0"/>
          </a:p>
        </p:txBody>
      </p:sp>
      <p:sp>
        <p:nvSpPr>
          <p:cNvPr id="26" name="Text 20">
            <a:hlinkClick r:id="rId22" tooltip="" action="ppaction://hlinksldjump"/>
          </p:cNvPr>
          <p:cNvSpPr/>
          <p:nvPr/>
        </p:nvSpPr>
        <p:spPr>
          <a:xfrm>
            <a:off x="8381848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u="sng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المرحلة الابتدائية</a:t>
            </a:r>
            <a:endParaRPr lang="en-US" sz="1800" dirty="0"/>
          </a:p>
        </p:txBody>
      </p:sp>
      <p:sp>
        <p:nvSpPr>
          <p:cNvPr id="27" name="Text 21">
            <a:hlinkClick r:id="rId23" tooltip="" action="ppaction://hlinksldjump"/>
          </p:cNvPr>
          <p:cNvSpPr/>
          <p:nvPr/>
        </p:nvSpPr>
        <p:spPr>
          <a:xfrm>
            <a:off x="8381848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Grades 3-5</a:t>
            </a:r>
            <a:endParaRPr lang="en-US" sz="1050" dirty="0"/>
          </a:p>
        </p:txBody>
      </p:sp>
      <p:sp>
        <p:nvSpPr>
          <p:cNvPr id="28" name="Text 22">
            <a:hlinkClick r:id="rId24" tooltip="" action="ppaction://hlinksldjump"/>
          </p:cNvPr>
          <p:cNvSpPr/>
          <p:nvPr/>
        </p:nvSpPr>
        <p:spPr>
          <a:xfrm>
            <a:off x="8381848" y="4480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u="sng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ألعاب، رسم، وروبوتات!</a:t>
            </a:r>
            <a:endParaRPr lang="en-US" sz="1200" dirty="0"/>
          </a:p>
        </p:txBody>
      </p:sp>
      <p:sp>
        <p:nvSpPr>
          <p:cNvPr id="29" name="Text 23">
            <a:hlinkClick r:id="rId25" tooltip="" action="ppaction://hlinksldjump"/>
          </p:cNvPr>
          <p:cNvSpPr/>
          <p:nvPr/>
        </p:nvSpPr>
        <p:spPr>
          <a:xfrm>
            <a:off x="8381848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Games, drawing, and robots!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 rot="1800000">
            <a:off x="5240884" y="1776679"/>
            <a:ext cx="1709928" cy="652882"/>
          </a:xfrm>
          <a:prstGeom prst="ellipse">
            <a:avLst/>
          </a:prstGeom>
          <a:ln w="31750">
            <a:solidFill>
              <a:srgbClr val="007D8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 rot="-1800000">
            <a:off x="5240884" y="1776679"/>
            <a:ext cx="1709928" cy="652882"/>
          </a:xfrm>
          <a:prstGeom prst="ellipse">
            <a:avLst/>
          </a:prstGeom>
          <a:ln w="31750">
            <a:solidFill>
              <a:srgbClr val="802980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6678778" y="1597914"/>
            <a:ext cx="139903" cy="139903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10" name="Shape 4"/>
          <p:cNvSpPr/>
          <p:nvPr/>
        </p:nvSpPr>
        <p:spPr>
          <a:xfrm>
            <a:off x="5357470" y="2452878"/>
            <a:ext cx="139903" cy="139903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11" name="Shape 5"/>
          <p:cNvSpPr/>
          <p:nvPr/>
        </p:nvSpPr>
        <p:spPr>
          <a:xfrm>
            <a:off x="5668366" y="1675638"/>
            <a:ext cx="854964" cy="854964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2" name="Shape 6"/>
          <p:cNvSpPr/>
          <p:nvPr/>
        </p:nvSpPr>
        <p:spPr>
          <a:xfrm>
            <a:off x="5878220" y="1947672"/>
            <a:ext cx="108814" cy="1088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6204661" y="1947672"/>
            <a:ext cx="108814" cy="1088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5893765" y="1963217"/>
            <a:ext cx="54407" cy="54407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15" name="Shape 9"/>
          <p:cNvSpPr/>
          <p:nvPr/>
        </p:nvSpPr>
        <p:spPr>
          <a:xfrm>
            <a:off x="6220206" y="1963217"/>
            <a:ext cx="54407" cy="54407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16" name="Shape 10"/>
          <p:cNvSpPr/>
          <p:nvPr/>
        </p:nvSpPr>
        <p:spPr>
          <a:xfrm>
            <a:off x="5769407" y="2141982"/>
            <a:ext cx="124358" cy="77724"/>
          </a:xfrm>
          <a:prstGeom prst="ellipse">
            <a:avLst/>
          </a:prstGeom>
          <a:solidFill>
            <a:srgbClr val="F4A0A0"/>
          </a:solidFill>
          <a:ln/>
        </p:spPr>
      </p:sp>
      <p:sp>
        <p:nvSpPr>
          <p:cNvPr id="17" name="Shape 11"/>
          <p:cNvSpPr/>
          <p:nvPr/>
        </p:nvSpPr>
        <p:spPr>
          <a:xfrm>
            <a:off x="6297930" y="2141982"/>
            <a:ext cx="124358" cy="77724"/>
          </a:xfrm>
          <a:prstGeom prst="ellipse">
            <a:avLst/>
          </a:prstGeom>
          <a:solidFill>
            <a:srgbClr val="F4A0A0"/>
          </a:solidFill>
          <a:ln/>
        </p:spPr>
      </p:sp>
      <p:sp>
        <p:nvSpPr>
          <p:cNvPr id="18" name="Text 12"/>
          <p:cNvSpPr/>
          <p:nvPr/>
        </p:nvSpPr>
        <p:spPr>
          <a:xfrm>
            <a:off x="548640" y="3108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مرحباً أيها المستكشف الصغير!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Little Explorer! — Grades 3-5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8029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هذا العام سنتعلم أشياء رائعة مع الحاسوب!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year we'll learn amazing things with computers!</a:t>
            </a:r>
            <a:endParaRPr lang="en-US" sz="1250" dirty="0"/>
          </a:p>
        </p:txBody>
      </p:sp>
      <p:sp>
        <p:nvSpPr>
          <p:cNvPr id="22" name="Shape 16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23" name="Text 17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24" name="Text 18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731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سنفعل؟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We Do?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92328" y="1920240"/>
            <a:ext cx="3291840" cy="2743200"/>
          </a:xfrm>
          <a:prstGeom prst="roundRect">
            <a:avLst>
              <a:gd name="adj" fmla="val 5333"/>
            </a:avLst>
          </a:prstGeom>
          <a:solidFill>
            <a:srgbClr val="F0F6F6"/>
          </a:solidFill>
          <a:ln/>
        </p:spPr>
      </p:sp>
      <p:sp>
        <p:nvSpPr>
          <p:cNvPr id="10" name="Shape 4"/>
          <p:cNvSpPr/>
          <p:nvPr/>
        </p:nvSpPr>
        <p:spPr>
          <a:xfrm>
            <a:off x="1981048" y="2377440"/>
            <a:ext cx="914400" cy="914400"/>
          </a:xfrm>
          <a:prstGeom prst="ellipse">
            <a:avLst/>
          </a:prstGeom>
          <a:solidFill>
            <a:srgbClr val="283373"/>
          </a:solidFill>
          <a:ln/>
        </p:spPr>
      </p:sp>
      <p:sp>
        <p:nvSpPr>
          <p:cNvPr id="11" name="Text 5"/>
          <p:cNvSpPr/>
          <p:nvPr/>
        </p:nvSpPr>
        <p:spPr>
          <a:xfrm>
            <a:off x="975208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سأرسم بالألوان الرقمية!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75208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draw with digital colors!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449928" y="1920240"/>
            <a:ext cx="3291840" cy="2743200"/>
          </a:xfrm>
          <a:prstGeom prst="roundRect">
            <a:avLst>
              <a:gd name="adj" fmla="val 5333"/>
            </a:avLst>
          </a:prstGeom>
          <a:solidFill>
            <a:srgbClr val="F0F6F6"/>
          </a:solidFill>
          <a:ln/>
        </p:spPr>
      </p:sp>
      <p:sp>
        <p:nvSpPr>
          <p:cNvPr id="14" name="Shape 8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802980"/>
          </a:solidFill>
          <a:ln/>
        </p:spPr>
      </p:sp>
      <p:sp>
        <p:nvSpPr>
          <p:cNvPr id="15" name="Text 9"/>
          <p:cNvSpPr/>
          <p:nvPr/>
        </p:nvSpPr>
        <p:spPr>
          <a:xfrm>
            <a:off x="4632808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سأتحدث مع روبوت!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4632808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talk to a robot!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8107528" y="1920240"/>
            <a:ext cx="3291840" cy="2743200"/>
          </a:xfrm>
          <a:prstGeom prst="roundRect">
            <a:avLst>
              <a:gd name="adj" fmla="val 5333"/>
            </a:avLst>
          </a:prstGeom>
          <a:solidFill>
            <a:srgbClr val="F0F6F6"/>
          </a:solidFill>
          <a:ln/>
        </p:spPr>
      </p:sp>
      <p:sp>
        <p:nvSpPr>
          <p:cNvPr id="18" name="Shape 12"/>
          <p:cNvSpPr/>
          <p:nvPr/>
        </p:nvSpPr>
        <p:spPr>
          <a:xfrm>
            <a:off x="9296248" y="2377440"/>
            <a:ext cx="914400" cy="914400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9" name="Text 13"/>
          <p:cNvSpPr/>
          <p:nvPr/>
        </p:nvSpPr>
        <p:spPr>
          <a:xfrm>
            <a:off x="8290408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سأبني لعبتي الخاصة!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290408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build my own game!</a:t>
            </a:r>
            <a:endParaRPr lang="en-US" sz="1100" dirty="0"/>
          </a:p>
        </p:txBody>
      </p:sp>
      <p:sp>
        <p:nvSpPr>
          <p:cNvPr id="21" name="Shape 15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22" name="Text 16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23" name="Text 17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777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ألقابك القادمة!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Badges to Come!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1066648" y="2926080"/>
            <a:ext cx="3108960" cy="1051560"/>
          </a:xfrm>
          <a:prstGeom prst="roundRect">
            <a:avLst>
              <a:gd name="adj" fmla="val 26087"/>
            </a:avLst>
          </a:prstGeom>
          <a:solidFill>
            <a:srgbClr val="D9A400"/>
          </a:solidFill>
          <a:ln/>
        </p:spPr>
      </p:sp>
      <p:sp>
        <p:nvSpPr>
          <p:cNvPr id="10" name="Text 4"/>
          <p:cNvSpPr/>
          <p:nvPr/>
        </p:nvSpPr>
        <p:spPr>
          <a:xfrm>
            <a:off x="1066648" y="3035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بطل الحاسوب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066648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Champion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4541368" y="2926080"/>
            <a:ext cx="3108960" cy="1051560"/>
          </a:xfrm>
          <a:prstGeom prst="roundRect">
            <a:avLst>
              <a:gd name="adj" fmla="val 26087"/>
            </a:avLst>
          </a:prstGeom>
          <a:solidFill>
            <a:srgbClr val="007D8F"/>
          </a:solidFill>
          <a:ln/>
        </p:spPr>
      </p:sp>
      <p:sp>
        <p:nvSpPr>
          <p:cNvPr id="13" name="Text 7"/>
          <p:cNvSpPr/>
          <p:nvPr/>
        </p:nvSpPr>
        <p:spPr>
          <a:xfrm>
            <a:off x="4541368" y="3035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مستكشف الروبوت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4541368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Explorer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016088" y="2926080"/>
            <a:ext cx="3108960" cy="1051560"/>
          </a:xfrm>
          <a:prstGeom prst="roundRect">
            <a:avLst>
              <a:gd name="adj" fmla="val 26087"/>
            </a:avLst>
          </a:prstGeom>
          <a:solidFill>
            <a:srgbClr val="802980"/>
          </a:solidFill>
          <a:ln/>
        </p:spPr>
      </p:sp>
      <p:sp>
        <p:nvSpPr>
          <p:cNvPr id="16" name="Text 10"/>
          <p:cNvSpPr/>
          <p:nvPr/>
        </p:nvSpPr>
        <p:spPr>
          <a:xfrm>
            <a:off x="8016088" y="3035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فنان الشاشة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8016088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Artist</a:t>
            </a:r>
            <a:endParaRPr lang="en-US" sz="1050" dirty="0"/>
          </a:p>
        </p:txBody>
      </p:sp>
      <p:sp>
        <p:nvSpPr>
          <p:cNvPr id="18" name="Shape 12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19" name="Text 13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20" name="Text 14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12801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ابدأ رحلتك التقنية</a:t>
            </a:r>
            <a:endParaRPr lang="en-US" sz="3600" dirty="0"/>
          </a:p>
        </p:txBody>
      </p:sp>
      <p:sp>
        <p:nvSpPr>
          <p:cNvPr id="8" name="Text 2"/>
          <p:cNvSpPr/>
          <p:nvPr/>
        </p:nvSpPr>
        <p:spPr>
          <a:xfrm>
            <a:off x="548640" y="2057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Tech Journey — Grades 6-8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5181448" y="2743200"/>
            <a:ext cx="1828800" cy="0"/>
          </a:xfrm>
          <a:prstGeom prst="line">
            <a:avLst/>
          </a:prstGeom>
          <a:noFill/>
          <a:ln w="31750">
            <a:solidFill>
              <a:srgbClr val="007D8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548640" y="3017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Robotics  ·  Artificial Intelligence</a:t>
            </a:r>
            <a:endParaRPr lang="en-US" sz="1600" dirty="0"/>
          </a:p>
        </p:txBody>
      </p:sp>
      <p:sp>
        <p:nvSpPr>
          <p:cNvPr id="11" name="Shape 5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12" name="Text 6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13" name="Text 7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ستتعلم؟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Learn?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92328" y="182880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0F6F6"/>
          </a:solidFill>
          <a:ln/>
        </p:spPr>
      </p:sp>
      <p:sp>
        <p:nvSpPr>
          <p:cNvPr id="10" name="Shape 4"/>
          <p:cNvSpPr/>
          <p:nvPr/>
        </p:nvSpPr>
        <p:spPr>
          <a:xfrm>
            <a:off x="792328" y="1828800"/>
            <a:ext cx="3291840" cy="91440"/>
          </a:xfrm>
          <a:prstGeom prst="rect">
            <a:avLst/>
          </a:prstGeom>
          <a:solidFill>
            <a:srgbClr val="283373"/>
          </a:solidFill>
          <a:ln/>
        </p:spPr>
      </p:sp>
      <p:sp>
        <p:nvSpPr>
          <p:cNvPr id="11" name="Text 5"/>
          <p:cNvSpPr/>
          <p:nvPr/>
        </p:nvSpPr>
        <p:spPr>
          <a:xfrm>
            <a:off x="975208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أول لمسة ذكاء اصطناعي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75208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Taste of AI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020928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ستكتشف كيف يتعلم الحاسوب من البيانات.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20928" y="37947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discover how computers learn from data.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449928" y="182880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0F6F6"/>
          </a:solidFill>
          <a:ln/>
        </p:spPr>
      </p:sp>
      <p:sp>
        <p:nvSpPr>
          <p:cNvPr id="16" name="Shape 10"/>
          <p:cNvSpPr/>
          <p:nvPr/>
        </p:nvSpPr>
        <p:spPr>
          <a:xfrm>
            <a:off x="4449928" y="1828800"/>
            <a:ext cx="3291840" cy="91440"/>
          </a:xfrm>
          <a:prstGeom prst="rect">
            <a:avLst/>
          </a:prstGeom>
          <a:solidFill>
            <a:srgbClr val="802980"/>
          </a:solidFill>
          <a:ln/>
        </p:spPr>
      </p:sp>
      <p:sp>
        <p:nvSpPr>
          <p:cNvPr id="17" name="Text 11"/>
          <p:cNvSpPr/>
          <p:nvPr/>
        </p:nvSpPr>
        <p:spPr>
          <a:xfrm>
            <a:off x="4632808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روبوت يتحرك بنفسه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632808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Self-Moving Robot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678528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ستبني وتبرمج روبوتاً حقيقياً يتخذ قراراته الخاصة.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678528" y="37947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build and program a real robot that makes its own decisions.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107528" y="182880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0F6F6"/>
          </a:solidFill>
          <a:ln/>
        </p:spPr>
      </p:sp>
      <p:sp>
        <p:nvSpPr>
          <p:cNvPr id="22" name="Shape 16"/>
          <p:cNvSpPr/>
          <p:nvPr/>
        </p:nvSpPr>
        <p:spPr>
          <a:xfrm>
            <a:off x="8107528" y="1828800"/>
            <a:ext cx="3291840" cy="91440"/>
          </a:xfrm>
          <a:prstGeom prst="rect">
            <a:avLst/>
          </a:prstGeom>
          <a:solidFill>
            <a:srgbClr val="007D8F"/>
          </a:solidFill>
          <a:ln/>
        </p:spPr>
      </p:sp>
      <p:sp>
        <p:nvSpPr>
          <p:cNvPr id="23" name="Text 17"/>
          <p:cNvSpPr/>
          <p:nvPr/>
        </p:nvSpPr>
        <p:spPr>
          <a:xfrm>
            <a:off x="8290408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برمجة حقيقية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90408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Programming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336128" y="2880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ستكتب أوامر حقيقية للحاسوب بلغة Python.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36128" y="37947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write real computer commands in Python.</a:t>
            </a:r>
            <a:endParaRPr lang="en-US" sz="1000" dirty="0"/>
          </a:p>
        </p:txBody>
      </p:sp>
      <p:sp>
        <p:nvSpPr>
          <p:cNvPr id="27" name="Shape 21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28" name="Text 22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29" name="Text 23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029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قد تصبح يوماً...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Become One Day...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15188" y="2926080"/>
            <a:ext cx="1965960" cy="548640"/>
          </a:xfrm>
          <a:prstGeom prst="roundRect">
            <a:avLst>
              <a:gd name="adj" fmla="val 50000"/>
            </a:avLst>
          </a:prstGeom>
          <a:ln w="19050">
            <a:solidFill>
              <a:srgbClr val="802980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81518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2964028" y="2926080"/>
            <a:ext cx="1965960" cy="548640"/>
          </a:xfrm>
          <a:prstGeom prst="roundRect">
            <a:avLst>
              <a:gd name="adj" fmla="val 50000"/>
            </a:avLst>
          </a:prstGeom>
          <a:ln w="19050">
            <a:solidFill>
              <a:srgbClr val="802980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96402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112868" y="2926080"/>
            <a:ext cx="1965960" cy="548640"/>
          </a:xfrm>
          <a:prstGeom prst="roundRect">
            <a:avLst>
              <a:gd name="adj" fmla="val 50000"/>
            </a:avLst>
          </a:prstGeom>
          <a:ln w="19050">
            <a:solidFill>
              <a:srgbClr val="80298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11286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261708" y="2926080"/>
            <a:ext cx="1965960" cy="548640"/>
          </a:xfrm>
          <a:prstGeom prst="roundRect">
            <a:avLst>
              <a:gd name="adj" fmla="val 50000"/>
            </a:avLst>
          </a:prstGeom>
          <a:ln w="19050">
            <a:solidFill>
              <a:srgbClr val="80298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26170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Developer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410548" y="2926080"/>
            <a:ext cx="1965960" cy="548640"/>
          </a:xfrm>
          <a:prstGeom prst="roundRect">
            <a:avLst>
              <a:gd name="adj" fmla="val 50000"/>
            </a:avLst>
          </a:prstGeom>
          <a:ln w="19050">
            <a:solidFill>
              <a:srgbClr val="80298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41054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Specialist</a:t>
            </a:r>
            <a:endParaRPr lang="en-US" sz="1200" dirty="0"/>
          </a:p>
        </p:txBody>
      </p:sp>
      <p:sp>
        <p:nvSpPr>
          <p:cNvPr id="19" name="Shape 13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20" name="Text 14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21" name="Text 15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2377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انطلق نحو الاحتراف</a:t>
            </a:r>
            <a:endParaRPr lang="en-US" sz="3800" dirty="0"/>
          </a:p>
        </p:txBody>
      </p:sp>
      <p:sp>
        <p:nvSpPr>
          <p:cNvPr id="8" name="Text 2"/>
          <p:cNvSpPr/>
          <p:nvPr/>
        </p:nvSpPr>
        <p:spPr>
          <a:xfrm>
            <a:off x="548640" y="3200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Toward Mastery — Grades 9-10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منهجك هذا العام مبني على منصة Qubits LMS العالمية، وينظّم حول ستة مرتكزات حقيقية — كل واحد ليس مجرد مادة، بل مسار مهني فعلي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curriculum runs on the global Qubits LMS platform, organized around six real pillars — each one a genuine career path</a:t>
            </a:r>
            <a:endParaRPr lang="en-US" sz="1100" dirty="0"/>
          </a:p>
        </p:txBody>
      </p:sp>
      <p:sp>
        <p:nvSpPr>
          <p:cNvPr id="11" name="Shape 5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12" name="Text 6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13" name="Text 7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ستة مرتكزات حقيقية</a:t>
            </a:r>
            <a:endParaRPr lang="en-US" sz="2800" dirty="0"/>
          </a:p>
        </p:txBody>
      </p:sp>
      <p:sp>
        <p:nvSpPr>
          <p:cNvPr id="8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Real Pillars</a:t>
            </a: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548640" y="1508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واحد منها يؤهلك لمسار مهني فعلي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548640" y="181051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 genuine career pathway</a:t>
            </a:r>
            <a:endParaRPr lang="en-US" sz="1050" dirty="0"/>
          </a:p>
        </p:txBody>
      </p:sp>
      <p:sp>
        <p:nvSpPr>
          <p:cNvPr id="11" name="Shape 5"/>
          <p:cNvSpPr/>
          <p:nvPr/>
        </p:nvSpPr>
        <p:spPr>
          <a:xfrm>
            <a:off x="380848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12" name="Shape 6"/>
          <p:cNvSpPr/>
          <p:nvPr/>
        </p:nvSpPr>
        <p:spPr>
          <a:xfrm>
            <a:off x="979780" y="2377440"/>
            <a:ext cx="585216" cy="585216"/>
          </a:xfrm>
          <a:prstGeom prst="ellipse">
            <a:avLst/>
          </a:prstGeom>
          <a:solidFill>
            <a:srgbClr val="802980"/>
          </a:solidFill>
          <a:ln/>
        </p:spPr>
      </p:sp>
      <p:sp>
        <p:nvSpPr>
          <p:cNvPr id="13" name="Text 7"/>
          <p:cNvSpPr/>
          <p:nvPr/>
        </p:nvSpPr>
        <p:spPr>
          <a:xfrm>
            <a:off x="979780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454000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الفن الرقمي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4000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Art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2310232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17" name="Shape 11"/>
          <p:cNvSpPr/>
          <p:nvPr/>
        </p:nvSpPr>
        <p:spPr>
          <a:xfrm>
            <a:off x="2909164" y="2377440"/>
            <a:ext cx="585216" cy="585216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8" name="Text 12"/>
          <p:cNvSpPr/>
          <p:nvPr/>
        </p:nvSpPr>
        <p:spPr>
          <a:xfrm>
            <a:off x="2909164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2383384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الأمن السيبراني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383384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239616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22" name="Shape 16"/>
          <p:cNvSpPr/>
          <p:nvPr/>
        </p:nvSpPr>
        <p:spPr>
          <a:xfrm>
            <a:off x="4838548" y="2377440"/>
            <a:ext cx="585216" cy="585216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23" name="Text 17"/>
          <p:cNvSpPr/>
          <p:nvPr/>
        </p:nvSpPr>
        <p:spPr>
          <a:xfrm>
            <a:off x="483854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4312768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تطوير الألعاب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312768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Development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169000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27" name="Shape 21"/>
          <p:cNvSpPr/>
          <p:nvPr/>
        </p:nvSpPr>
        <p:spPr>
          <a:xfrm>
            <a:off x="6767932" y="2377440"/>
            <a:ext cx="585216" cy="585216"/>
          </a:xfrm>
          <a:prstGeom prst="ellipse">
            <a:avLst/>
          </a:prstGeom>
          <a:solidFill>
            <a:srgbClr val="283373"/>
          </a:solidFill>
          <a:ln/>
        </p:spPr>
      </p:sp>
      <p:sp>
        <p:nvSpPr>
          <p:cNvPr id="28" name="Text 22"/>
          <p:cNvSpPr/>
          <p:nvPr/>
        </p:nvSpPr>
        <p:spPr>
          <a:xfrm>
            <a:off x="67679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6242152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الذكاء الاصطناعي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42152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8098384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32" name="Shape 26"/>
          <p:cNvSpPr/>
          <p:nvPr/>
        </p:nvSpPr>
        <p:spPr>
          <a:xfrm>
            <a:off x="8697316" y="2377440"/>
            <a:ext cx="585216" cy="585216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33" name="Text 27"/>
          <p:cNvSpPr/>
          <p:nvPr/>
        </p:nvSpPr>
        <p:spPr>
          <a:xfrm>
            <a:off x="8697316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34" name="Text 28"/>
          <p:cNvSpPr/>
          <p:nvPr/>
        </p:nvSpPr>
        <p:spPr>
          <a:xfrm>
            <a:off x="8171536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الروبوتكس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171536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IoT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027768" y="2148840"/>
            <a:ext cx="1783080" cy="2651760"/>
          </a:xfrm>
          <a:prstGeom prst="roundRect">
            <a:avLst>
              <a:gd name="adj" fmla="val 4615"/>
            </a:avLst>
          </a:prstGeom>
          <a:solidFill>
            <a:srgbClr val="F0F6F6"/>
          </a:solidFill>
          <a:ln/>
        </p:spPr>
      </p:sp>
      <p:sp>
        <p:nvSpPr>
          <p:cNvPr id="37" name="Shape 31"/>
          <p:cNvSpPr/>
          <p:nvPr/>
        </p:nvSpPr>
        <p:spPr>
          <a:xfrm>
            <a:off x="10626700" y="2377440"/>
            <a:ext cx="585216" cy="585216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38" name="Text 32"/>
          <p:cNvSpPr/>
          <p:nvPr/>
        </p:nvSpPr>
        <p:spPr>
          <a:xfrm>
            <a:off x="10626700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39" name="Text 33"/>
          <p:cNvSpPr/>
          <p:nvPr/>
        </p:nvSpPr>
        <p:spPr>
          <a:xfrm>
            <a:off x="10100920" y="3154680"/>
            <a:ext cx="16367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علوم الحاسوب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10100920" y="434340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/ ICT</a:t>
            </a:r>
            <a:endParaRPr lang="en-US" sz="850" dirty="0"/>
          </a:p>
        </p:txBody>
      </p:sp>
      <p:sp>
        <p:nvSpPr>
          <p:cNvPr id="41" name="Shape 35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42" name="Text 36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43" name="Text 37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777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ستفعل في كل مرتكز؟  (1 - 3)</a:t>
            </a:r>
            <a:endParaRPr lang="en-US" sz="2600" dirty="0"/>
          </a:p>
        </p:txBody>
      </p:sp>
      <p:sp>
        <p:nvSpPr>
          <p:cNvPr id="8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 in Each Pillar (1-3)</a:t>
            </a:r>
            <a:endParaRPr lang="en-US" sz="1250" dirty="0"/>
          </a:p>
        </p:txBody>
      </p:sp>
      <p:sp>
        <p:nvSpPr>
          <p:cNvPr id="9" name="Shape 3"/>
          <p:cNvSpPr/>
          <p:nvPr/>
        </p:nvSpPr>
        <p:spPr>
          <a:xfrm>
            <a:off x="7466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10" name="Shape 4"/>
          <p:cNvSpPr/>
          <p:nvPr/>
        </p:nvSpPr>
        <p:spPr>
          <a:xfrm>
            <a:off x="2109064" y="2011680"/>
            <a:ext cx="658368" cy="658368"/>
          </a:xfrm>
          <a:prstGeom prst="ellipse">
            <a:avLst/>
          </a:prstGeom>
          <a:solidFill>
            <a:srgbClr val="283373"/>
          </a:solidFill>
          <a:ln/>
        </p:spPr>
      </p:sp>
      <p:sp>
        <p:nvSpPr>
          <p:cNvPr id="11" name="Text 5"/>
          <p:cNvSpPr/>
          <p:nvPr/>
        </p:nvSpPr>
        <p:spPr>
          <a:xfrm>
            <a:off x="21090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294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الذكاء الاصطناعي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294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9752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ستدرّب نموذج ذكاء اصطناعي بنفسك على بيانات حقيقية، وتناقش كيف نجعله عادلاً وآمناً.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752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train your own AI model on real data, and discuss how to keep AI fair and safe.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4042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17" name="Shape 11"/>
          <p:cNvSpPr/>
          <p:nvPr/>
        </p:nvSpPr>
        <p:spPr>
          <a:xfrm>
            <a:off x="5766664" y="2011680"/>
            <a:ext cx="658368" cy="658368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8" name="Text 12"/>
          <p:cNvSpPr/>
          <p:nvPr/>
        </p:nvSpPr>
        <p:spPr>
          <a:xfrm>
            <a:off x="57666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5870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الروبوتكس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5870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IoT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6328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ستربط خوارزمية تدربها بجهاز مادي حقيقي متصل بالإنترنت، ينفّذ مهمة استشعار وتحكم عن بُعد.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328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connect an algorithm you trained to a real connected device that senses and responds remotely.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0618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24" name="Shape 18"/>
          <p:cNvSpPr/>
          <p:nvPr/>
        </p:nvSpPr>
        <p:spPr>
          <a:xfrm>
            <a:off x="9424264" y="2011680"/>
            <a:ext cx="658368" cy="658368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25" name="Text 19"/>
          <p:cNvSpPr/>
          <p:nvPr/>
        </p:nvSpPr>
        <p:spPr>
          <a:xfrm>
            <a:off x="94242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2446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علوم الحاسوب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446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/ ICT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904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ستكتب أكواداً حقيقية بلغة Python وتبني مشروعاً برمجياً كاملاً من الصفر تعرضه أمام زملائك.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904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write real Python code and build a complete software project from scratch to present to classmates.</a:t>
            </a:r>
            <a:endParaRPr lang="en-US" sz="950" dirty="0"/>
          </a:p>
        </p:txBody>
      </p:sp>
      <p:sp>
        <p:nvSpPr>
          <p:cNvPr id="30" name="Shape 24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31" name="Text 25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32" name="Text 26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777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ماذا ستفعل في كل مرتكز؟  (4 - 6)</a:t>
            </a:r>
            <a:endParaRPr lang="en-US" sz="2600" dirty="0"/>
          </a:p>
        </p:txBody>
      </p:sp>
      <p:sp>
        <p:nvSpPr>
          <p:cNvPr id="8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 in Each Pillar (4-6)</a:t>
            </a:r>
            <a:endParaRPr lang="en-US" sz="1250" dirty="0"/>
          </a:p>
        </p:txBody>
      </p:sp>
      <p:sp>
        <p:nvSpPr>
          <p:cNvPr id="9" name="Shape 3"/>
          <p:cNvSpPr/>
          <p:nvPr/>
        </p:nvSpPr>
        <p:spPr>
          <a:xfrm>
            <a:off x="7466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10" name="Shape 4"/>
          <p:cNvSpPr/>
          <p:nvPr/>
        </p:nvSpPr>
        <p:spPr>
          <a:xfrm>
            <a:off x="2109064" y="2011680"/>
            <a:ext cx="658368" cy="658368"/>
          </a:xfrm>
          <a:prstGeom prst="ellipse">
            <a:avLst/>
          </a:prstGeom>
          <a:solidFill>
            <a:srgbClr val="802980"/>
          </a:solidFill>
          <a:ln/>
        </p:spPr>
      </p:sp>
      <p:sp>
        <p:nvSpPr>
          <p:cNvPr id="11" name="Text 5"/>
          <p:cNvSpPr/>
          <p:nvPr/>
        </p:nvSpPr>
        <p:spPr>
          <a:xfrm>
            <a:off x="21090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294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الفن الرقمي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294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02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9752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ستنتج عملاً فنياً بمساعدة الحوسبة، وتصمم هوية بصرية، وتبني نموذجاً ثلاثي الأبعاد لملف أعمالك.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752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create computational art, design a visual identity, and build a 3D model for your portfolio.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4042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17" name="Shape 11"/>
          <p:cNvSpPr/>
          <p:nvPr/>
        </p:nvSpPr>
        <p:spPr>
          <a:xfrm>
            <a:off x="5766664" y="2011680"/>
            <a:ext cx="658368" cy="658368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18" name="Text 12"/>
          <p:cNvSpPr/>
          <p:nvPr/>
        </p:nvSpPr>
        <p:spPr>
          <a:xfrm>
            <a:off x="57666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5870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الأمن السيبراني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5870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6328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ستتعلم كيف تحمي نفسك وبياناتك على الإنترنت، وتكتشف الفرق بين الممارسات الآمنة وغير الآمنة.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6328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learn how to protect yourself and your data online, spotting safe from unsafe practices.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061808" y="178308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0F6F6"/>
          </a:solidFill>
          <a:ln/>
        </p:spPr>
      </p:sp>
      <p:sp>
        <p:nvSpPr>
          <p:cNvPr id="24" name="Shape 18"/>
          <p:cNvSpPr/>
          <p:nvPr/>
        </p:nvSpPr>
        <p:spPr>
          <a:xfrm>
            <a:off x="9424264" y="2011680"/>
            <a:ext cx="658368" cy="658368"/>
          </a:xfrm>
          <a:prstGeom prst="ellipse">
            <a:avLst/>
          </a:prstGeom>
          <a:solidFill>
            <a:srgbClr val="007D8F"/>
          </a:solidFill>
          <a:ln/>
        </p:spPr>
      </p:sp>
      <p:sp>
        <p:nvSpPr>
          <p:cNvPr id="25" name="Text 19"/>
          <p:cNvSpPr/>
          <p:nvPr/>
        </p:nvSpPr>
        <p:spPr>
          <a:xfrm>
            <a:off x="94242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244688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4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تطوير الألعاب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44688" y="3200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Development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90408" y="3657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ستصمم لعبتك الخاصة وتضيف لها شخصية ذكية تتعلم من طريقة لعبك — بلا حاجة لخبرة سابقة.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90408" y="4617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design your own game and add a smart character that learns from how you play.</a:t>
            </a:r>
            <a:endParaRPr lang="en-US" sz="950" dirty="0"/>
          </a:p>
        </p:txBody>
      </p:sp>
      <p:sp>
        <p:nvSpPr>
          <p:cNvPr id="30" name="Shape 24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31" name="Text 25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32" name="Text 26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48640" y="914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283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قد تمثّل مدرستك في...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 Might Represent You In...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15188" y="2926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0F6F6"/>
          </a:solidFill>
          <a:ln w="12700">
            <a:solidFill>
              <a:srgbClr val="283373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81518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 2026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3512668" y="2926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0F6F6"/>
          </a:solidFill>
          <a:ln w="12700">
            <a:solidFill>
              <a:srgbClr val="283373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351266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VEX Robotics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210148" y="2926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0F6F6"/>
          </a:solidFill>
          <a:ln w="12700">
            <a:solidFill>
              <a:srgbClr val="283373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21014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Robotics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8907628" y="2926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0F6F6"/>
          </a:solidFill>
          <a:ln w="12700">
            <a:solidFill>
              <a:srgbClr val="283373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907628" y="2926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83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MRC الأفرو-آسيوي</a:t>
            </a:r>
            <a:endParaRPr lang="en-US" sz="1300" dirty="0"/>
          </a:p>
        </p:txBody>
      </p:sp>
      <p:sp>
        <p:nvSpPr>
          <p:cNvPr id="17" name="Shape 11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18" name="Text 12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19" name="Text 13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02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iDar Tech Team بانتظارك</a:t>
            </a:r>
            <a:endParaRPr lang="en-US" sz="3200" dirty="0"/>
          </a:p>
        </p:txBody>
      </p:sp>
      <p:sp>
        <p:nvSpPr>
          <p:cNvPr id="8" name="Text 2"/>
          <p:cNvSpPr/>
          <p:nvPr/>
        </p:nvSpPr>
        <p:spPr>
          <a:xfrm>
            <a:off x="731520" y="23774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Guardian  ·  Logic Architect  ·  Innovation Architect  ·  Nano Tech Pioneer  ·  Creative Technologist</a:t>
            </a:r>
            <a:endParaRPr lang="en-US" sz="1300" dirty="0"/>
          </a:p>
        </p:txBody>
      </p:sp>
      <p:sp>
        <p:nvSpPr>
          <p:cNvPr id="9" name="Text 3"/>
          <p:cNvSpPr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رشّح نفسك من معلمك، وابدأ بمشروع صغير — وقد تصبح اللقب القادم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731520" y="3749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to nominate you, and start with a small project — you could be the next title</a:t>
            </a:r>
            <a:endParaRPr lang="en-US" sz="1200" dirty="0"/>
          </a:p>
        </p:txBody>
      </p:sp>
      <p:sp>
        <p:nvSpPr>
          <p:cNvPr id="11" name="Shape 5">
            <a:hlinkClick r:id="rId5" tooltip="" action="ppaction://hlinksldjump"/>
          </p:cNvPr>
          <p:cNvSpPr/>
          <p:nvPr/>
        </p:nvSpPr>
        <p:spPr>
          <a:xfrm>
            <a:off x="365760" y="6080760"/>
            <a:ext cx="2103120" cy="548640"/>
          </a:xfrm>
          <a:prstGeom prst="roundRect">
            <a:avLst>
              <a:gd name="adj" fmla="val 26667"/>
            </a:avLst>
          </a:prstGeom>
          <a:solidFill>
            <a:srgbClr val="F0F6F6"/>
          </a:solidFill>
          <a:ln/>
        </p:spPr>
      </p:sp>
      <p:sp>
        <p:nvSpPr>
          <p:cNvPr id="12" name="Text 6">
            <a:hlinkClick r:id="rId6" tooltip="" action="ppaction://hlinksldjump"/>
          </p:cNvPr>
          <p:cNvSpPr/>
          <p:nvPr/>
        </p:nvSpPr>
        <p:spPr>
          <a:xfrm>
            <a:off x="365760" y="6080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200" b="1" u="sng" dirty="0">
                <a:solidFill>
                  <a:srgbClr val="0046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رجوع للاختيار</a:t>
            </a:r>
            <a:endParaRPr lang="en-US" sz="1200" dirty="0"/>
          </a:p>
        </p:txBody>
      </p:sp>
      <p:sp>
        <p:nvSpPr>
          <p:cNvPr id="13" name="Text 7">
            <a:hlinkClick r:id="rId7" tooltip="" action="ppaction://hlinksldjump"/>
          </p:cNvPr>
          <p:cNvSpPr/>
          <p:nvPr/>
        </p:nvSpPr>
        <p:spPr>
          <a:xfrm>
            <a:off x="365760" y="6373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Selection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70430" cy="468173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6350">
            <a:solidFill>
              <a:srgbClr val="E3E8EA"/>
            </a:solidFill>
            <a:prstDash val="solid"/>
          </a:ln>
        </p:spPr>
      </p:sp>
      <p:pic>
        <p:nvPicPr>
          <p:cNvPr id="3" name="Image 0" descr="/home/claude/qubits_pptx/logos/trim_dar_alfor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2102"/>
            <a:ext cx="254872" cy="292608"/>
          </a:xfrm>
          <a:prstGeom prst="rect">
            <a:avLst/>
          </a:prstGeom>
        </p:spPr>
      </p:pic>
      <p:pic>
        <p:nvPicPr>
          <p:cNvPr id="4" name="Image 1" descr="/home/claude/qubits_pptx/logos/trim_diploma_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0" y="362102"/>
            <a:ext cx="238918" cy="292608"/>
          </a:xfrm>
          <a:prstGeom prst="rect">
            <a:avLst/>
          </a:prstGeom>
        </p:spPr>
      </p:pic>
      <p:pic>
        <p:nvPicPr>
          <p:cNvPr id="5" name="Image 2" descr="/home/claude/qubits_pptx/logos/trim_qubits_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59" y="362102"/>
            <a:ext cx="924025" cy="292608"/>
          </a:xfrm>
          <a:prstGeom prst="rect">
            <a:avLst/>
          </a:prstGeom>
        </p:spPr>
      </p:pic>
      <p:pic>
        <p:nvPicPr>
          <p:cNvPr id="6" name="Image 3" descr="/home/claude/qubits_pptx/logos/trim_aia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624" y="362102"/>
            <a:ext cx="758838" cy="292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31520" y="2560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لنبدأ هذه الرحلة معاً!</a:t>
            </a:r>
            <a:endParaRPr lang="en-US" sz="3400" dirty="0"/>
          </a:p>
        </p:txBody>
      </p:sp>
      <p:sp>
        <p:nvSpPr>
          <p:cNvPr id="8" name="Text 2"/>
          <p:cNvSpPr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Start This Journey Together!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731520" y="56692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F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Qubits LMS  |  العام الدراسي 2026 - 2027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731520" y="59893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FB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2026 - 2027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2026-08-29T15:37:01Z</dcterms:created>
  <dcterms:modified xsi:type="dcterms:W3CDTF">2026-08-29T15:37:01Z</dcterms:modified>
</cp:coreProperties>
</file>