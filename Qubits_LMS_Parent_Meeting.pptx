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5A66"/>
        </a:solidFill>
      </p:bgPr>
    </p:bg>
    <p:spTree>
      <p:nvGrpSpPr>
        <p:cNvPr id="1" name=""/>
        <p:cNvGrpSpPr/>
        <p:nvPr/>
      </p:nvGrpSpPr>
      <p:grpSpPr>
        <a:xfrm>
          <a:off x="0" y="0"/>
          <a:ext cx="0" cy="0"/>
          <a:chOff x="0" y="0"/>
          <a:chExt cx="0" cy="0"/>
        </a:xfrm>
      </p:grpSpPr>
      <p:sp>
        <p:nvSpPr>
          <p:cNvPr id="2" name="Shape 0"/>
          <p:cNvSpPr/>
          <p:nvPr/>
        </p:nvSpPr>
        <p:spPr>
          <a:xfrm>
            <a:off x="365760" y="292608"/>
            <a:ext cx="2824759" cy="501091"/>
          </a:xfrm>
          <a:prstGeom prst="roundRect">
            <a:avLst>
              <a:gd name="adj" fmla="val 10949"/>
            </a:avLst>
          </a:prstGeom>
          <a:solidFill>
            <a:srgbClr val="FFFFFF"/>
          </a:solidFill>
          <a:ln w="6350">
            <a:solidFill>
              <a:srgbClr val="E3E8EA"/>
            </a:solidFill>
            <a:prstDash val="solid"/>
          </a:ln>
          <a:effectLst>
            <a:outerShdw sx="100000" sy="100000" kx="0" ky="0" algn="bl" rotWithShape="0" blurRad="50800" dist="12700" dir="5400000">
              <a:srgbClr val="888888">
                <a:alpha val="25000"/>
              </a:srgbClr>
            </a:outerShdw>
          </a:effectLst>
        </p:spPr>
      </p:sp>
      <p:pic>
        <p:nvPicPr>
          <p:cNvPr id="3" name="Image 0" descr="/home/claude/qubits_pptx/logos/trim_dar_alforsan.png">    </p:cNvPr>
          <p:cNvPicPr>
            <a:picLocks noChangeAspect="1"/>
          </p:cNvPicPr>
          <p:nvPr/>
        </p:nvPicPr>
        <p:blipFill>
          <a:blip r:embed="rId1"/>
          <a:stretch>
            <a:fillRect/>
          </a:stretch>
        </p:blipFill>
        <p:spPr>
          <a:xfrm>
            <a:off x="484632" y="387706"/>
            <a:ext cx="270802" cy="310896"/>
          </a:xfrm>
          <a:prstGeom prst="rect">
            <a:avLst/>
          </a:prstGeom>
        </p:spPr>
      </p:pic>
      <p:pic>
        <p:nvPicPr>
          <p:cNvPr id="4" name="Image 1" descr="/home/claude/qubits_pptx/logos/trim_diploma_section.png">    </p:cNvPr>
          <p:cNvPicPr>
            <a:picLocks noChangeAspect="1"/>
          </p:cNvPicPr>
          <p:nvPr/>
        </p:nvPicPr>
        <p:blipFill>
          <a:blip r:embed="rId2"/>
          <a:stretch>
            <a:fillRect/>
          </a:stretch>
        </p:blipFill>
        <p:spPr>
          <a:xfrm>
            <a:off x="846874" y="387706"/>
            <a:ext cx="253851" cy="310896"/>
          </a:xfrm>
          <a:prstGeom prst="rect">
            <a:avLst/>
          </a:prstGeom>
        </p:spPr>
      </p:pic>
      <p:pic>
        <p:nvPicPr>
          <p:cNvPr id="5" name="Image 2" descr="/home/claude/qubits_pptx/logos/trim_qubits_v4.png">    </p:cNvPr>
          <p:cNvPicPr>
            <a:picLocks noChangeAspect="1"/>
          </p:cNvPicPr>
          <p:nvPr/>
        </p:nvPicPr>
        <p:blipFill>
          <a:blip r:embed="rId3"/>
          <a:stretch>
            <a:fillRect/>
          </a:stretch>
        </p:blipFill>
        <p:spPr>
          <a:xfrm>
            <a:off x="1192164" y="387706"/>
            <a:ext cx="981777" cy="310896"/>
          </a:xfrm>
          <a:prstGeom prst="rect">
            <a:avLst/>
          </a:prstGeom>
        </p:spPr>
      </p:pic>
      <p:pic>
        <p:nvPicPr>
          <p:cNvPr id="6" name="Image 3" descr="/home/claude/qubits_pptx/logos/trim_aiaasc.png">    </p:cNvPr>
          <p:cNvPicPr>
            <a:picLocks noChangeAspect="1"/>
          </p:cNvPicPr>
          <p:nvPr/>
        </p:nvPicPr>
        <p:blipFill>
          <a:blip r:embed="rId4"/>
          <a:stretch>
            <a:fillRect/>
          </a:stretch>
        </p:blipFill>
        <p:spPr>
          <a:xfrm>
            <a:off x="2265381" y="387706"/>
            <a:ext cx="806266" cy="310896"/>
          </a:xfrm>
          <a:prstGeom prst="rect">
            <a:avLst/>
          </a:prstGeom>
        </p:spPr>
      </p:pic>
      <p:sp>
        <p:nvSpPr>
          <p:cNvPr id="7" name="Text 1"/>
          <p:cNvSpPr/>
          <p:nvPr/>
        </p:nvSpPr>
        <p:spPr>
          <a:xfrm>
            <a:off x="731520" y="1874520"/>
            <a:ext cx="10728655" cy="502920"/>
          </a:xfrm>
          <a:prstGeom prst="rect">
            <a:avLst/>
          </a:prstGeom>
          <a:noFill/>
          <a:ln/>
        </p:spPr>
        <p:txBody>
          <a:bodyPr wrap="square" rtlCol="0" anchor="ctr"/>
          <a:lstStyle/>
          <a:p>
            <a:pPr algn="ctr" indent="0" marL="0">
              <a:buNone/>
            </a:pPr>
            <a:r>
              <a:rPr lang="en-US" sz="1900" b="1" spc="200" kern="0" dirty="0">
                <a:solidFill>
                  <a:srgbClr val="FFFFFF"/>
                </a:solidFill>
                <a:latin typeface="Arial" pitchFamily="34" charset="0"/>
                <a:ea typeface="Arial" pitchFamily="34" charset="-122"/>
                <a:cs typeface="Arial" pitchFamily="34" charset="-120"/>
              </a:rPr>
              <a:t>Qubits LMS</a:t>
            </a:r>
            <a:endParaRPr lang="en-US" sz="1900" dirty="0"/>
          </a:p>
        </p:txBody>
      </p:sp>
      <p:sp>
        <p:nvSpPr>
          <p:cNvPr id="8" name="Text 2"/>
          <p:cNvSpPr/>
          <p:nvPr/>
        </p:nvSpPr>
        <p:spPr>
          <a:xfrm>
            <a:off x="731520" y="2331720"/>
            <a:ext cx="10728655" cy="914400"/>
          </a:xfrm>
          <a:prstGeom prst="rect">
            <a:avLst/>
          </a:prstGeom>
          <a:noFill/>
          <a:ln/>
        </p:spPr>
        <p:txBody>
          <a:bodyPr wrap="square" rtlCol="0" anchor="ctr"/>
          <a:lstStyle/>
          <a:p>
            <a:pPr rtl="1" algn="ctr" indent="0" marL="0">
              <a:buNone/>
            </a:pPr>
            <a:r>
              <a:rPr lang="en-US" sz="3800" b="1" dirty="0">
                <a:solidFill>
                  <a:srgbClr val="FFFFFF"/>
                </a:solidFill>
                <a:latin typeface="Cambria" pitchFamily="34" charset="0"/>
                <a:ea typeface="Cambria" pitchFamily="34" charset="-122"/>
                <a:cs typeface="Cambria" pitchFamily="34" charset="-120"/>
              </a:rPr>
              <a:t>التحوّل إلى منصّة Qubits LMS</a:t>
            </a:r>
            <a:endParaRPr lang="en-US" sz="3800" dirty="0"/>
          </a:p>
        </p:txBody>
      </p:sp>
      <p:sp>
        <p:nvSpPr>
          <p:cNvPr id="9" name="Text 3"/>
          <p:cNvSpPr/>
          <p:nvPr/>
        </p:nvSpPr>
        <p:spPr>
          <a:xfrm>
            <a:off x="731520" y="3200400"/>
            <a:ext cx="10728655" cy="365760"/>
          </a:xfrm>
          <a:prstGeom prst="rect">
            <a:avLst/>
          </a:prstGeom>
          <a:noFill/>
          <a:ln/>
        </p:spPr>
        <p:txBody>
          <a:bodyPr wrap="square" rtlCol="0" anchor="ctr"/>
          <a:lstStyle/>
          <a:p>
            <a:pPr algn="ctr" indent="0" marL="0">
              <a:buNone/>
            </a:pPr>
            <a:r>
              <a:rPr lang="en-US" sz="1400" i="1" dirty="0">
                <a:solidFill>
                  <a:srgbClr val="BFE3E8"/>
                </a:solidFill>
                <a:latin typeface="Arial" pitchFamily="34" charset="0"/>
                <a:ea typeface="Arial" pitchFamily="34" charset="-122"/>
                <a:cs typeface="Arial" pitchFamily="34" charset="-120"/>
              </a:rPr>
              <a:t>Transitioning to the Qubits LMS Platform</a:t>
            </a:r>
            <a:endParaRPr lang="en-US" sz="1400" dirty="0"/>
          </a:p>
        </p:txBody>
      </p:sp>
      <p:sp>
        <p:nvSpPr>
          <p:cNvPr id="10" name="Text 4"/>
          <p:cNvSpPr/>
          <p:nvPr/>
        </p:nvSpPr>
        <p:spPr>
          <a:xfrm>
            <a:off x="1005840" y="3703320"/>
            <a:ext cx="10180015" cy="457200"/>
          </a:xfrm>
          <a:prstGeom prst="rect">
            <a:avLst/>
          </a:prstGeom>
          <a:noFill/>
          <a:ln/>
        </p:spPr>
        <p:txBody>
          <a:bodyPr wrap="square" rtlCol="0" anchor="ctr"/>
          <a:lstStyle/>
          <a:p>
            <a:pPr rtl="1" algn="ctr" indent="0" marL="0">
              <a:buNone/>
            </a:pPr>
            <a:r>
              <a:rPr lang="en-US" sz="1400" dirty="0">
                <a:solidFill>
                  <a:srgbClr val="BFE3E8"/>
                </a:solidFill>
                <a:latin typeface="Arial" pitchFamily="34" charset="0"/>
                <a:ea typeface="Arial" pitchFamily="34" charset="-122"/>
                <a:cs typeface="Arial" pitchFamily="34" charset="-120"/>
              </a:rPr>
              <a:t>رؤية تعليمية جديدة لعلوم الحاسوب والذكاء الاصطناعي والفن الرقمي التكاملي</a:t>
            </a:r>
            <a:endParaRPr lang="en-US" sz="1400" dirty="0"/>
          </a:p>
        </p:txBody>
      </p:sp>
      <p:sp>
        <p:nvSpPr>
          <p:cNvPr id="11" name="Text 5"/>
          <p:cNvSpPr/>
          <p:nvPr/>
        </p:nvSpPr>
        <p:spPr>
          <a:xfrm>
            <a:off x="1005840" y="4114800"/>
            <a:ext cx="10180015" cy="365760"/>
          </a:xfrm>
          <a:prstGeom prst="rect">
            <a:avLst/>
          </a:prstGeom>
          <a:noFill/>
          <a:ln/>
        </p:spPr>
        <p:txBody>
          <a:bodyPr wrap="square" rtlCol="0" anchor="ctr"/>
          <a:lstStyle/>
          <a:p>
            <a:pPr algn="ctr" indent="0" marL="0">
              <a:buNone/>
            </a:pPr>
            <a:r>
              <a:rPr lang="en-US" sz="1100" i="1" dirty="0">
                <a:solidFill>
                  <a:srgbClr val="8FBFC7"/>
                </a:solidFill>
                <a:latin typeface="Arial" pitchFamily="34" charset="0"/>
                <a:ea typeface="Arial" pitchFamily="34" charset="-122"/>
                <a:cs typeface="Arial" pitchFamily="34" charset="-120"/>
              </a:rPr>
              <a:t>A new educational vision for computer science, artificial intelligence, and integrative digital art</a:t>
            </a:r>
            <a:endParaRPr lang="en-US" sz="1100" dirty="0"/>
          </a:p>
        </p:txBody>
      </p:sp>
      <p:sp>
        <p:nvSpPr>
          <p:cNvPr id="12" name="Shape 6"/>
          <p:cNvSpPr/>
          <p:nvPr/>
        </p:nvSpPr>
        <p:spPr>
          <a:xfrm>
            <a:off x="5090008" y="4617720"/>
            <a:ext cx="2011680" cy="0"/>
          </a:xfrm>
          <a:prstGeom prst="line">
            <a:avLst/>
          </a:prstGeom>
          <a:noFill/>
          <a:ln w="31750">
            <a:solidFill>
              <a:srgbClr val="802980"/>
            </a:solidFill>
            <a:prstDash val="solid"/>
          </a:ln>
        </p:spPr>
      </p:sp>
      <p:sp>
        <p:nvSpPr>
          <p:cNvPr id="13" name="Text 7"/>
          <p:cNvSpPr/>
          <p:nvPr/>
        </p:nvSpPr>
        <p:spPr>
          <a:xfrm>
            <a:off x="1005840" y="4800600"/>
            <a:ext cx="10180015" cy="365760"/>
          </a:xfrm>
          <a:prstGeom prst="rect">
            <a:avLst/>
          </a:prstGeom>
          <a:noFill/>
          <a:ln/>
        </p:spPr>
        <p:txBody>
          <a:bodyPr wrap="square" rtlCol="0" anchor="ctr"/>
          <a:lstStyle/>
          <a:p>
            <a:pPr rtl="1" algn="ctr" indent="0" marL="0">
              <a:buNone/>
            </a:pPr>
            <a:r>
              <a:rPr lang="en-US" sz="1300" dirty="0">
                <a:solidFill>
                  <a:srgbClr val="FFFFFF"/>
                </a:solidFill>
                <a:latin typeface="Arial" pitchFamily="34" charset="0"/>
                <a:ea typeface="Arial" pitchFamily="34" charset="-122"/>
                <a:cs typeface="Arial" pitchFamily="34" charset="-120"/>
              </a:rPr>
              <a:t>اجتماع أولياء الأمور  |  العام الدراسي 2026 - 2027</a:t>
            </a:r>
            <a:endParaRPr lang="en-US" sz="1300" dirty="0"/>
          </a:p>
        </p:txBody>
      </p:sp>
      <p:sp>
        <p:nvSpPr>
          <p:cNvPr id="14" name="Text 8"/>
          <p:cNvSpPr/>
          <p:nvPr/>
        </p:nvSpPr>
        <p:spPr>
          <a:xfrm>
            <a:off x="1005840" y="5138928"/>
            <a:ext cx="10180015" cy="320040"/>
          </a:xfrm>
          <a:prstGeom prst="rect">
            <a:avLst/>
          </a:prstGeom>
          <a:noFill/>
          <a:ln/>
        </p:spPr>
        <p:txBody>
          <a:bodyPr wrap="square" rtlCol="0" anchor="ctr"/>
          <a:lstStyle/>
          <a:p>
            <a:pPr algn="ctr" indent="0" marL="0">
              <a:buNone/>
            </a:pPr>
            <a:r>
              <a:rPr lang="en-US" sz="1100" i="1" dirty="0">
                <a:solidFill>
                  <a:srgbClr val="8FBFC7"/>
                </a:solidFill>
                <a:latin typeface="Arial" pitchFamily="34" charset="0"/>
                <a:ea typeface="Arial" pitchFamily="34" charset="-122"/>
                <a:cs typeface="Arial" pitchFamily="34" charset="-120"/>
              </a:rPr>
              <a:t>Parent Meeting  |  Academic Year 2026 - 2027</a:t>
            </a:r>
            <a:endParaRPr lang="en-US" sz="1100" dirty="0"/>
          </a:p>
        </p:txBody>
      </p:sp>
      <p:sp>
        <p:nvSpPr>
          <p:cNvPr id="15" name="Text 9"/>
          <p:cNvSpPr/>
          <p:nvPr/>
        </p:nvSpPr>
        <p:spPr>
          <a:xfrm>
            <a:off x="11551615" y="6400800"/>
            <a:ext cx="365760" cy="274320"/>
          </a:xfrm>
          <a:prstGeom prst="rect">
            <a:avLst/>
          </a:prstGeom>
          <a:noFill/>
          <a:ln/>
        </p:spPr>
        <p:txBody>
          <a:bodyPr wrap="square" rtlCol="0" anchor="ctr"/>
          <a:lstStyle/>
          <a:p>
            <a:pPr algn="r" indent="0" marL="0">
              <a:buNone/>
            </a:pPr>
            <a:r>
              <a:rPr lang="en-US" sz="1000" dirty="0">
                <a:solidFill>
                  <a:srgbClr val="5A5F73"/>
                </a:solidFill>
                <a:latin typeface="Arial" pitchFamily="34" charset="0"/>
                <a:ea typeface="Arial" pitchFamily="34" charset="-122"/>
                <a:cs typeface="Arial"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92608"/>
            <a:ext cx="2824759" cy="501091"/>
          </a:xfrm>
          <a:prstGeom prst="roundRect">
            <a:avLst>
              <a:gd name="adj" fmla="val 10949"/>
            </a:avLst>
          </a:prstGeom>
          <a:solidFill>
            <a:srgbClr val="FFFFFF"/>
          </a:solidFill>
          <a:ln w="6350">
            <a:solidFill>
              <a:srgbClr val="E3E8EA"/>
            </a:solidFill>
            <a:prstDash val="solid"/>
          </a:ln>
          <a:effectLst>
            <a:outerShdw sx="100000" sy="100000" kx="0" ky="0" algn="bl" rotWithShape="0" blurRad="50800" dist="12700" dir="5400000">
              <a:srgbClr val="888888">
                <a:alpha val="25000"/>
              </a:srgbClr>
            </a:outerShdw>
          </a:effectLst>
        </p:spPr>
      </p:sp>
      <p:pic>
        <p:nvPicPr>
          <p:cNvPr id="3" name="Image 0" descr="/home/claude/qubits_pptx/logos/trim_dar_alforsan.png">    </p:cNvPr>
          <p:cNvPicPr>
            <a:picLocks noChangeAspect="1"/>
          </p:cNvPicPr>
          <p:nvPr/>
        </p:nvPicPr>
        <p:blipFill>
          <a:blip r:embed="rId1"/>
          <a:stretch>
            <a:fillRect/>
          </a:stretch>
        </p:blipFill>
        <p:spPr>
          <a:xfrm>
            <a:off x="484632" y="387706"/>
            <a:ext cx="270802" cy="310896"/>
          </a:xfrm>
          <a:prstGeom prst="rect">
            <a:avLst/>
          </a:prstGeom>
        </p:spPr>
      </p:pic>
      <p:pic>
        <p:nvPicPr>
          <p:cNvPr id="4" name="Image 1" descr="/home/claude/qubits_pptx/logos/trim_diploma_section.png">    </p:cNvPr>
          <p:cNvPicPr>
            <a:picLocks noChangeAspect="1"/>
          </p:cNvPicPr>
          <p:nvPr/>
        </p:nvPicPr>
        <p:blipFill>
          <a:blip r:embed="rId2"/>
          <a:stretch>
            <a:fillRect/>
          </a:stretch>
        </p:blipFill>
        <p:spPr>
          <a:xfrm>
            <a:off x="846874" y="387706"/>
            <a:ext cx="253851" cy="310896"/>
          </a:xfrm>
          <a:prstGeom prst="rect">
            <a:avLst/>
          </a:prstGeom>
        </p:spPr>
      </p:pic>
      <p:pic>
        <p:nvPicPr>
          <p:cNvPr id="5" name="Image 2" descr="/home/claude/qubits_pptx/logos/trim_qubits_v4.png">    </p:cNvPr>
          <p:cNvPicPr>
            <a:picLocks noChangeAspect="1"/>
          </p:cNvPicPr>
          <p:nvPr/>
        </p:nvPicPr>
        <p:blipFill>
          <a:blip r:embed="rId3"/>
          <a:stretch>
            <a:fillRect/>
          </a:stretch>
        </p:blipFill>
        <p:spPr>
          <a:xfrm>
            <a:off x="1192164" y="387706"/>
            <a:ext cx="981777" cy="310896"/>
          </a:xfrm>
          <a:prstGeom prst="rect">
            <a:avLst/>
          </a:prstGeom>
        </p:spPr>
      </p:pic>
      <p:pic>
        <p:nvPicPr>
          <p:cNvPr id="6" name="Image 3" descr="/home/claude/qubits_pptx/logos/trim_aiaasc.png">    </p:cNvPr>
          <p:cNvPicPr>
            <a:picLocks noChangeAspect="1"/>
          </p:cNvPicPr>
          <p:nvPr/>
        </p:nvPicPr>
        <p:blipFill>
          <a:blip r:embed="rId4"/>
          <a:stretch>
            <a:fillRect/>
          </a:stretch>
        </p:blipFill>
        <p:spPr>
          <a:xfrm>
            <a:off x="2265381" y="387706"/>
            <a:ext cx="806266" cy="310896"/>
          </a:xfrm>
          <a:prstGeom prst="rect">
            <a:avLst/>
          </a:prstGeom>
        </p:spPr>
      </p:pic>
      <p:sp>
        <p:nvSpPr>
          <p:cNvPr id="7" name="Text 1"/>
          <p:cNvSpPr/>
          <p:nvPr/>
        </p:nvSpPr>
        <p:spPr>
          <a:xfrm>
            <a:off x="548640" y="438912"/>
            <a:ext cx="11094415" cy="502920"/>
          </a:xfrm>
          <a:prstGeom prst="rect">
            <a:avLst/>
          </a:prstGeom>
          <a:noFill/>
          <a:ln/>
        </p:spPr>
        <p:txBody>
          <a:bodyPr wrap="square" lIns="0" tIns="0" rIns="0" bIns="0" rtlCol="0" anchor="ctr"/>
          <a:lstStyle/>
          <a:p>
            <a:pPr rtl="1" algn="r" indent="0" marL="0">
              <a:buNone/>
            </a:pPr>
            <a:r>
              <a:rPr lang="en-US" sz="2400" b="1" dirty="0">
                <a:solidFill>
                  <a:srgbClr val="005A66"/>
                </a:solidFill>
                <a:latin typeface="Cambria" pitchFamily="34" charset="0"/>
                <a:ea typeface="Cambria" pitchFamily="34" charset="-122"/>
                <a:cs typeface="Cambria" pitchFamily="34" charset="-120"/>
              </a:rPr>
              <a:t>كلمة أولياء الأمور — ١ / ٣  الافتتاحية والإطار</a:t>
            </a:r>
            <a:endParaRPr lang="en-US" sz="2400" dirty="0"/>
          </a:p>
        </p:txBody>
      </p:sp>
      <p:sp>
        <p:nvSpPr>
          <p:cNvPr id="8" name="Text 2"/>
          <p:cNvSpPr/>
          <p:nvPr/>
        </p:nvSpPr>
        <p:spPr>
          <a:xfrm>
            <a:off x="548640" y="914400"/>
            <a:ext cx="11094415" cy="320040"/>
          </a:xfrm>
          <a:prstGeom prst="rect">
            <a:avLst/>
          </a:prstGeom>
          <a:noFill/>
          <a:ln/>
        </p:spPr>
        <p:txBody>
          <a:bodyPr wrap="square" lIns="0" tIns="0" rIns="0" bIns="0" rtlCol="0" anchor="ctr"/>
          <a:lstStyle/>
          <a:p>
            <a:pPr algn="r" indent="0" marL="0">
              <a:buNone/>
            </a:pPr>
            <a:r>
              <a:rPr lang="en-US" sz="1200" i="1" dirty="0">
                <a:solidFill>
                  <a:srgbClr val="5A5F73"/>
                </a:solidFill>
                <a:latin typeface="Arial" pitchFamily="34" charset="0"/>
                <a:ea typeface="Arial" pitchFamily="34" charset="-122"/>
                <a:cs typeface="Arial" pitchFamily="34" charset="-120"/>
              </a:rPr>
              <a:t>Parents' Address — 1 of 3  Opening &amp; Framework</a:t>
            </a:r>
            <a:endParaRPr lang="en-US" sz="1200" dirty="0"/>
          </a:p>
        </p:txBody>
      </p:sp>
      <p:sp>
        <p:nvSpPr>
          <p:cNvPr id="9" name="Shape 3"/>
          <p:cNvSpPr/>
          <p:nvPr/>
        </p:nvSpPr>
        <p:spPr>
          <a:xfrm>
            <a:off x="6095848" y="1417320"/>
            <a:ext cx="0" cy="4846320"/>
          </a:xfrm>
          <a:prstGeom prst="line">
            <a:avLst/>
          </a:prstGeom>
          <a:noFill/>
          <a:ln w="12700">
            <a:solidFill>
              <a:srgbClr val="DCE4E6"/>
            </a:solidFill>
            <a:prstDash val="solid"/>
          </a:ln>
        </p:spPr>
      </p:sp>
      <p:sp>
        <p:nvSpPr>
          <p:cNvPr id="10" name="Text 4"/>
          <p:cNvSpPr/>
          <p:nvPr/>
        </p:nvSpPr>
        <p:spPr>
          <a:xfrm>
            <a:off x="6370168" y="1463040"/>
            <a:ext cx="5272888" cy="777240"/>
          </a:xfrm>
          <a:prstGeom prst="rect">
            <a:avLst/>
          </a:prstGeom>
          <a:noFill/>
          <a:ln/>
        </p:spPr>
        <p:txBody>
          <a:bodyPr wrap="square" rtlCol="0" anchor="t"/>
          <a:lstStyle/>
          <a:p>
            <a:pPr rtl="1" algn="r" indent="0" marL="0">
              <a:lnSpc>
                <a:spcPct val="120000"/>
              </a:lnSpc>
              <a:buNone/>
            </a:pPr>
            <a:r>
              <a:rPr lang="en-US" sz="1100" dirty="0">
                <a:solidFill>
                  <a:srgbClr val="1B1B2F"/>
                </a:solidFill>
                <a:latin typeface="Arial" pitchFamily="34" charset="0"/>
                <a:ea typeface="Arial" pitchFamily="34" charset="-122"/>
                <a:cs typeface="Arial" pitchFamily="34" charset="-120"/>
              </a:rPr>
              <a:t>أولياء الأمور الأفاضل،،</a:t>
            </a:r>
            <a:endParaRPr lang="en-US" sz="1100" dirty="0"/>
          </a:p>
          <a:p>
            <a:pPr rtl="1" algn="r" indent="0" marL="0">
              <a:lnSpc>
                <a:spcPct val="120000"/>
              </a:lnSpc>
              <a:buNone/>
            </a:pPr>
            <a:r>
              <a:rPr lang="en-US" sz="1100" dirty="0">
                <a:solidFill>
                  <a:srgbClr val="1B1B2F"/>
                </a:solidFill>
                <a:latin typeface="Arial" pitchFamily="34" charset="0"/>
                <a:ea typeface="Arial" pitchFamily="34" charset="-122"/>
                <a:cs typeface="Arial" pitchFamily="34" charset="-120"/>
              </a:rPr>
              <a:t>السلام عليكم ورحمة الله وبركاته، وأهلاً بكم في انطلاقة العام الدراسي 2026-2027.</a:t>
            </a:r>
            <a:endParaRPr lang="en-US" sz="1100" dirty="0"/>
          </a:p>
        </p:txBody>
      </p:sp>
      <p:sp>
        <p:nvSpPr>
          <p:cNvPr id="11" name="Text 5"/>
          <p:cNvSpPr/>
          <p:nvPr/>
        </p:nvSpPr>
        <p:spPr>
          <a:xfrm>
            <a:off x="548640" y="1463040"/>
            <a:ext cx="5272888" cy="777240"/>
          </a:xfrm>
          <a:prstGeom prst="rect">
            <a:avLst/>
          </a:prstGeom>
          <a:noFill/>
          <a:ln/>
        </p:spPr>
        <p:txBody>
          <a:bodyPr wrap="square" rtlCol="0" anchor="t"/>
          <a:lstStyle/>
          <a:p>
            <a:pPr algn="l" indent="0" marL="0">
              <a:lnSpc>
                <a:spcPct val="115000"/>
              </a:lnSpc>
              <a:buNone/>
            </a:pPr>
            <a:r>
              <a:rPr lang="en-US" sz="1000" i="1" dirty="0">
                <a:solidFill>
                  <a:srgbClr val="5A5F73"/>
                </a:solidFill>
                <a:latin typeface="Arial" pitchFamily="34" charset="0"/>
                <a:ea typeface="Arial" pitchFamily="34" charset="-122"/>
                <a:cs typeface="Arial" pitchFamily="34" charset="-120"/>
              </a:rPr>
              <a:t>Dear Parents,</a:t>
            </a:r>
            <a:endParaRPr lang="en-US" sz="1000" dirty="0"/>
          </a:p>
          <a:p>
            <a:pPr algn="l" indent="0" marL="0">
              <a:lnSpc>
                <a:spcPct val="115000"/>
              </a:lnSpc>
              <a:buNone/>
            </a:pPr>
            <a:r>
              <a:rPr lang="en-US" sz="1000" i="1" dirty="0">
                <a:solidFill>
                  <a:srgbClr val="5A5F73"/>
                </a:solidFill>
                <a:latin typeface="Arial" pitchFamily="34" charset="0"/>
                <a:ea typeface="Arial" pitchFamily="34" charset="-122"/>
                <a:cs typeface="Arial" pitchFamily="34" charset="-120"/>
              </a:rPr>
              <a:t>Peace, mercy, and blessings of God be upon you, and welcome to the start of the 2026-2027 academic year.</a:t>
            </a:r>
            <a:endParaRPr lang="en-US" sz="1000" dirty="0"/>
          </a:p>
        </p:txBody>
      </p:sp>
      <p:sp>
        <p:nvSpPr>
          <p:cNvPr id="12" name="Text 6"/>
          <p:cNvSpPr/>
          <p:nvPr/>
        </p:nvSpPr>
        <p:spPr>
          <a:xfrm>
            <a:off x="6370168" y="2240280"/>
            <a:ext cx="5272888" cy="1691640"/>
          </a:xfrm>
          <a:prstGeom prst="rect">
            <a:avLst/>
          </a:prstGeom>
          <a:noFill/>
          <a:ln/>
        </p:spPr>
        <p:txBody>
          <a:bodyPr wrap="square" rtlCol="0" anchor="t"/>
          <a:lstStyle/>
          <a:p>
            <a:pPr rtl="1" algn="r" indent="0" marL="0">
              <a:lnSpc>
                <a:spcPct val="120000"/>
              </a:lnSpc>
              <a:buNone/>
            </a:pPr>
            <a:r>
              <a:rPr lang="en-US" sz="1100" dirty="0">
                <a:solidFill>
                  <a:srgbClr val="1B1B2F"/>
                </a:solidFill>
                <a:latin typeface="Arial" pitchFamily="34" charset="0"/>
                <a:ea typeface="Arial" pitchFamily="34" charset="-122"/>
                <a:cs typeface="Arial" pitchFamily="34" charset="-120"/>
              </a:rPr>
              <a:t>قبل أن نستعرض تفاصيل هذا العام، أودّ أن أؤكد لكم أن هذا التحول ليس قراراً منعزلاً، بل يأتي مواءمةً مباشرة مع تطلعات وزارة التعليم الاستراتيجية في دعم التحول الرقمي، وضمن مستهدفات برنامج جودة الحياة الذي يجعل من التجربة التعليمية تجربة تفاعلية محفزة ترفع من ثقة الطالب وجاهزيته لمستقبله.</a:t>
            </a:r>
            <a:endParaRPr lang="en-US" sz="1100" dirty="0"/>
          </a:p>
        </p:txBody>
      </p:sp>
      <p:sp>
        <p:nvSpPr>
          <p:cNvPr id="13" name="Text 7"/>
          <p:cNvSpPr/>
          <p:nvPr/>
        </p:nvSpPr>
        <p:spPr>
          <a:xfrm>
            <a:off x="548640" y="2240280"/>
            <a:ext cx="5272888" cy="1691640"/>
          </a:xfrm>
          <a:prstGeom prst="rect">
            <a:avLst/>
          </a:prstGeom>
          <a:noFill/>
          <a:ln/>
        </p:spPr>
        <p:txBody>
          <a:bodyPr wrap="square" rtlCol="0" anchor="t"/>
          <a:lstStyle/>
          <a:p>
            <a:pPr algn="l" indent="0" marL="0">
              <a:lnSpc>
                <a:spcPct val="115000"/>
              </a:lnSpc>
              <a:buNone/>
            </a:pPr>
            <a:r>
              <a:rPr lang="en-US" sz="1000" i="1" dirty="0">
                <a:solidFill>
                  <a:srgbClr val="5A5F73"/>
                </a:solidFill>
                <a:latin typeface="Arial" pitchFamily="34" charset="0"/>
                <a:ea typeface="Arial" pitchFamily="34" charset="-122"/>
                <a:cs typeface="Arial" pitchFamily="34" charset="-120"/>
              </a:rPr>
              <a:t>Before we walk through this year's details, I want to assure you that this transition is not an isolated decision. It comes in direct alignment with the Ministry of Education's strategic vision for digital transformation, and within the goals of the Quality of Life Program, which turns learning into an interactive, motivating experience that builds student confidence and future readiness.</a:t>
            </a:r>
            <a:endParaRPr lang="en-US" sz="1000" dirty="0"/>
          </a:p>
        </p:txBody>
      </p:sp>
      <p:sp>
        <p:nvSpPr>
          <p:cNvPr id="14" name="Text 8"/>
          <p:cNvSpPr/>
          <p:nvPr/>
        </p:nvSpPr>
        <p:spPr>
          <a:xfrm>
            <a:off x="6370168" y="3931920"/>
            <a:ext cx="5272888" cy="1554480"/>
          </a:xfrm>
          <a:prstGeom prst="rect">
            <a:avLst/>
          </a:prstGeom>
          <a:noFill/>
          <a:ln/>
        </p:spPr>
        <p:txBody>
          <a:bodyPr wrap="square" rtlCol="0" anchor="t"/>
          <a:lstStyle/>
          <a:p>
            <a:pPr rtl="1" algn="r" indent="0" marL="0">
              <a:lnSpc>
                <a:spcPct val="120000"/>
              </a:lnSpc>
              <a:buNone/>
            </a:pPr>
            <a:r>
              <a:rPr lang="en-US" sz="1100" dirty="0">
                <a:solidFill>
                  <a:srgbClr val="1B1B2F"/>
                </a:solidFill>
                <a:latin typeface="Arial" pitchFamily="34" charset="0"/>
                <a:ea typeface="Arial" pitchFamily="34" charset="-122"/>
                <a:cs typeface="Arial" pitchFamily="34" charset="-120"/>
              </a:rPr>
              <a:t>ننتقل هذا العام إلى منصة Qubits LMS العالمية، معتمدين إطاراً تربوياً موحداً هو التعلم القائم على المشاريع (PBL) — بمعنى أن الطالب لا “يدرس” المفهوم نظرياً فقط، بل ينتج مشروعاً ملموساً يُطبّق فيه ما تعلّمه ويُقيَّم عليه.</a:t>
            </a:r>
            <a:endParaRPr lang="en-US" sz="1100" dirty="0"/>
          </a:p>
        </p:txBody>
      </p:sp>
      <p:sp>
        <p:nvSpPr>
          <p:cNvPr id="15" name="Text 9"/>
          <p:cNvSpPr/>
          <p:nvPr/>
        </p:nvSpPr>
        <p:spPr>
          <a:xfrm>
            <a:off x="548640" y="3931920"/>
            <a:ext cx="5272888" cy="1554480"/>
          </a:xfrm>
          <a:prstGeom prst="rect">
            <a:avLst/>
          </a:prstGeom>
          <a:noFill/>
          <a:ln/>
        </p:spPr>
        <p:txBody>
          <a:bodyPr wrap="square" rtlCol="0" anchor="t"/>
          <a:lstStyle/>
          <a:p>
            <a:pPr algn="l" indent="0" marL="0">
              <a:lnSpc>
                <a:spcPct val="115000"/>
              </a:lnSpc>
              <a:buNone/>
            </a:pPr>
            <a:r>
              <a:rPr lang="en-US" sz="1000" i="1" dirty="0">
                <a:solidFill>
                  <a:srgbClr val="5A5F73"/>
                </a:solidFill>
                <a:latin typeface="Arial" pitchFamily="34" charset="0"/>
                <a:ea typeface="Arial" pitchFamily="34" charset="-122"/>
                <a:cs typeface="Arial" pitchFamily="34" charset="-120"/>
              </a:rPr>
              <a:t>This year, we are moving to the global Qubits LMS platform, adopting a unified pedagogical framework: Project-Based Learning (PBL) — meaning a student does not merely “study” a concept theoretically, but produces a tangible project that applies and is assessed on what they have learned.</a:t>
            </a:r>
            <a:endParaRPr lang="en-US" sz="1000" dirty="0"/>
          </a:p>
        </p:txBody>
      </p:sp>
      <p:sp>
        <p:nvSpPr>
          <p:cNvPr id="16" name="Text 10"/>
          <p:cNvSpPr/>
          <p:nvPr/>
        </p:nvSpPr>
        <p:spPr>
          <a:xfrm>
            <a:off x="11551615" y="6400800"/>
            <a:ext cx="365760" cy="274320"/>
          </a:xfrm>
          <a:prstGeom prst="rect">
            <a:avLst/>
          </a:prstGeom>
          <a:noFill/>
          <a:ln/>
        </p:spPr>
        <p:txBody>
          <a:bodyPr wrap="square" rtlCol="0" anchor="ctr"/>
          <a:lstStyle/>
          <a:p>
            <a:pPr algn="r" indent="0" marL="0">
              <a:buNone/>
            </a:pPr>
            <a:r>
              <a:rPr lang="en-US" sz="1000" dirty="0">
                <a:solidFill>
                  <a:srgbClr val="5A5F73"/>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92608"/>
            <a:ext cx="2824759" cy="501091"/>
          </a:xfrm>
          <a:prstGeom prst="roundRect">
            <a:avLst>
              <a:gd name="adj" fmla="val 10949"/>
            </a:avLst>
          </a:prstGeom>
          <a:solidFill>
            <a:srgbClr val="FFFFFF"/>
          </a:solidFill>
          <a:ln w="6350">
            <a:solidFill>
              <a:srgbClr val="E3E8EA"/>
            </a:solidFill>
            <a:prstDash val="solid"/>
          </a:ln>
          <a:effectLst>
            <a:outerShdw sx="100000" sy="100000" kx="0" ky="0" algn="bl" rotWithShape="0" blurRad="50800" dist="12700" dir="5400000">
              <a:srgbClr val="888888">
                <a:alpha val="25000"/>
              </a:srgbClr>
            </a:outerShdw>
          </a:effectLst>
        </p:spPr>
      </p:sp>
      <p:pic>
        <p:nvPicPr>
          <p:cNvPr id="3" name="Image 0" descr="/home/claude/qubits_pptx/logos/trim_dar_alforsan.png">    </p:cNvPr>
          <p:cNvPicPr>
            <a:picLocks noChangeAspect="1"/>
          </p:cNvPicPr>
          <p:nvPr/>
        </p:nvPicPr>
        <p:blipFill>
          <a:blip r:embed="rId1"/>
          <a:stretch>
            <a:fillRect/>
          </a:stretch>
        </p:blipFill>
        <p:spPr>
          <a:xfrm>
            <a:off x="484632" y="387706"/>
            <a:ext cx="270802" cy="310896"/>
          </a:xfrm>
          <a:prstGeom prst="rect">
            <a:avLst/>
          </a:prstGeom>
        </p:spPr>
      </p:pic>
      <p:pic>
        <p:nvPicPr>
          <p:cNvPr id="4" name="Image 1" descr="/home/claude/qubits_pptx/logos/trim_diploma_section.png">    </p:cNvPr>
          <p:cNvPicPr>
            <a:picLocks noChangeAspect="1"/>
          </p:cNvPicPr>
          <p:nvPr/>
        </p:nvPicPr>
        <p:blipFill>
          <a:blip r:embed="rId2"/>
          <a:stretch>
            <a:fillRect/>
          </a:stretch>
        </p:blipFill>
        <p:spPr>
          <a:xfrm>
            <a:off x="846874" y="387706"/>
            <a:ext cx="253851" cy="310896"/>
          </a:xfrm>
          <a:prstGeom prst="rect">
            <a:avLst/>
          </a:prstGeom>
        </p:spPr>
      </p:pic>
      <p:pic>
        <p:nvPicPr>
          <p:cNvPr id="5" name="Image 2" descr="/home/claude/qubits_pptx/logos/trim_qubits_v4.png">    </p:cNvPr>
          <p:cNvPicPr>
            <a:picLocks noChangeAspect="1"/>
          </p:cNvPicPr>
          <p:nvPr/>
        </p:nvPicPr>
        <p:blipFill>
          <a:blip r:embed="rId3"/>
          <a:stretch>
            <a:fillRect/>
          </a:stretch>
        </p:blipFill>
        <p:spPr>
          <a:xfrm>
            <a:off x="1192164" y="387706"/>
            <a:ext cx="981777" cy="310896"/>
          </a:xfrm>
          <a:prstGeom prst="rect">
            <a:avLst/>
          </a:prstGeom>
        </p:spPr>
      </p:pic>
      <p:pic>
        <p:nvPicPr>
          <p:cNvPr id="6" name="Image 3" descr="/home/claude/qubits_pptx/logos/trim_aiaasc.png">    </p:cNvPr>
          <p:cNvPicPr>
            <a:picLocks noChangeAspect="1"/>
          </p:cNvPicPr>
          <p:nvPr/>
        </p:nvPicPr>
        <p:blipFill>
          <a:blip r:embed="rId4"/>
          <a:stretch>
            <a:fillRect/>
          </a:stretch>
        </p:blipFill>
        <p:spPr>
          <a:xfrm>
            <a:off x="2265381" y="387706"/>
            <a:ext cx="806266" cy="310896"/>
          </a:xfrm>
          <a:prstGeom prst="rect">
            <a:avLst/>
          </a:prstGeom>
        </p:spPr>
      </p:pic>
      <p:sp>
        <p:nvSpPr>
          <p:cNvPr id="7" name="Text 1"/>
          <p:cNvSpPr/>
          <p:nvPr/>
        </p:nvSpPr>
        <p:spPr>
          <a:xfrm>
            <a:off x="548640" y="438912"/>
            <a:ext cx="11094415" cy="502920"/>
          </a:xfrm>
          <a:prstGeom prst="rect">
            <a:avLst/>
          </a:prstGeom>
          <a:noFill/>
          <a:ln/>
        </p:spPr>
        <p:txBody>
          <a:bodyPr wrap="square" lIns="0" tIns="0" rIns="0" bIns="0" rtlCol="0" anchor="ctr"/>
          <a:lstStyle/>
          <a:p>
            <a:pPr rtl="1" algn="r" indent="0" marL="0">
              <a:buNone/>
            </a:pPr>
            <a:r>
              <a:rPr lang="en-US" sz="2400" b="1" dirty="0">
                <a:solidFill>
                  <a:srgbClr val="005A66"/>
                </a:solidFill>
                <a:latin typeface="Cambria" pitchFamily="34" charset="0"/>
                <a:ea typeface="Cambria" pitchFamily="34" charset="-122"/>
                <a:cs typeface="Cambria" pitchFamily="34" charset="-120"/>
              </a:rPr>
              <a:t>كلمة أولياء الأمور — ٢ / ٣  التدرج الأكاديمي K-12</a:t>
            </a:r>
            <a:endParaRPr lang="en-US" sz="2400" dirty="0"/>
          </a:p>
        </p:txBody>
      </p:sp>
      <p:sp>
        <p:nvSpPr>
          <p:cNvPr id="8" name="Text 2"/>
          <p:cNvSpPr/>
          <p:nvPr/>
        </p:nvSpPr>
        <p:spPr>
          <a:xfrm>
            <a:off x="548640" y="914400"/>
            <a:ext cx="11094415" cy="320040"/>
          </a:xfrm>
          <a:prstGeom prst="rect">
            <a:avLst/>
          </a:prstGeom>
          <a:noFill/>
          <a:ln/>
        </p:spPr>
        <p:txBody>
          <a:bodyPr wrap="square" lIns="0" tIns="0" rIns="0" bIns="0" rtlCol="0" anchor="ctr"/>
          <a:lstStyle/>
          <a:p>
            <a:pPr algn="r" indent="0" marL="0">
              <a:buNone/>
            </a:pPr>
            <a:r>
              <a:rPr lang="en-US" sz="1200" i="1" dirty="0">
                <a:solidFill>
                  <a:srgbClr val="5A5F73"/>
                </a:solidFill>
                <a:latin typeface="Arial" pitchFamily="34" charset="0"/>
                <a:ea typeface="Arial" pitchFamily="34" charset="-122"/>
                <a:cs typeface="Arial" pitchFamily="34" charset="-120"/>
              </a:rPr>
              <a:t>Parents' Address — 2 of 3  Academic Progression K-12</a:t>
            </a:r>
            <a:endParaRPr lang="en-US" sz="1200" dirty="0"/>
          </a:p>
        </p:txBody>
      </p:sp>
      <p:sp>
        <p:nvSpPr>
          <p:cNvPr id="9" name="Shape 3"/>
          <p:cNvSpPr/>
          <p:nvPr/>
        </p:nvSpPr>
        <p:spPr>
          <a:xfrm>
            <a:off x="6095848" y="1417320"/>
            <a:ext cx="0" cy="4846320"/>
          </a:xfrm>
          <a:prstGeom prst="line">
            <a:avLst/>
          </a:prstGeom>
          <a:noFill/>
          <a:ln w="12700">
            <a:solidFill>
              <a:srgbClr val="DCE4E6"/>
            </a:solidFill>
            <a:prstDash val="solid"/>
          </a:ln>
        </p:spPr>
      </p:sp>
      <p:sp>
        <p:nvSpPr>
          <p:cNvPr id="10" name="Text 4"/>
          <p:cNvSpPr/>
          <p:nvPr/>
        </p:nvSpPr>
        <p:spPr>
          <a:xfrm>
            <a:off x="6370168" y="1463040"/>
            <a:ext cx="5272888" cy="320040"/>
          </a:xfrm>
          <a:prstGeom prst="rect">
            <a:avLst/>
          </a:prstGeom>
          <a:noFill/>
          <a:ln/>
        </p:spPr>
        <p:txBody>
          <a:bodyPr wrap="square" rtlCol="0" anchor="ctr"/>
          <a:lstStyle/>
          <a:p>
            <a:pPr rtl="1" algn="r" indent="0" marL="0">
              <a:buNone/>
            </a:pPr>
            <a:r>
              <a:rPr lang="en-US" sz="1300" b="1" dirty="0">
                <a:solidFill>
                  <a:srgbClr val="802980"/>
                </a:solidFill>
                <a:latin typeface="Cambria" pitchFamily="34" charset="0"/>
                <a:ea typeface="Cambria" pitchFamily="34" charset="-122"/>
                <a:cs typeface="Cambria" pitchFamily="34" charset="-120"/>
              </a:rPr>
              <a:t>التدرج الأكاديمي عبر المراحل</a:t>
            </a:r>
            <a:endParaRPr lang="en-US" sz="1300" dirty="0"/>
          </a:p>
        </p:txBody>
      </p:sp>
      <p:sp>
        <p:nvSpPr>
          <p:cNvPr id="11" name="Text 5"/>
          <p:cNvSpPr/>
          <p:nvPr/>
        </p:nvSpPr>
        <p:spPr>
          <a:xfrm>
            <a:off x="548640" y="1463040"/>
            <a:ext cx="5272888" cy="320040"/>
          </a:xfrm>
          <a:prstGeom prst="rect">
            <a:avLst/>
          </a:prstGeom>
          <a:noFill/>
          <a:ln/>
        </p:spPr>
        <p:txBody>
          <a:bodyPr wrap="square" rtlCol="0" anchor="ctr"/>
          <a:lstStyle/>
          <a:p>
            <a:pPr algn="l" indent="0" marL="0">
              <a:buNone/>
            </a:pPr>
            <a:r>
              <a:rPr lang="en-US" sz="1200" b="1" i="1" dirty="0">
                <a:solidFill>
                  <a:srgbClr val="802980"/>
                </a:solidFill>
                <a:latin typeface="Cambria" pitchFamily="34" charset="0"/>
                <a:ea typeface="Cambria" pitchFamily="34" charset="-122"/>
                <a:cs typeface="Cambria" pitchFamily="34" charset="-120"/>
              </a:rPr>
              <a:t>Academic Progression Across Stages</a:t>
            </a:r>
            <a:endParaRPr lang="en-US" sz="1200" dirty="0"/>
          </a:p>
        </p:txBody>
      </p:sp>
      <p:sp>
        <p:nvSpPr>
          <p:cNvPr id="12" name="Text 6"/>
          <p:cNvSpPr/>
          <p:nvPr/>
        </p:nvSpPr>
        <p:spPr>
          <a:xfrm>
            <a:off x="6370168" y="1828800"/>
            <a:ext cx="5272888" cy="685800"/>
          </a:xfrm>
          <a:prstGeom prst="rect">
            <a:avLst/>
          </a:prstGeom>
          <a:noFill/>
          <a:ln/>
        </p:spPr>
        <p:txBody>
          <a:bodyPr wrap="square" rtlCol="0" anchor="t"/>
          <a:lstStyle/>
          <a:p>
            <a:pPr rtl="1" algn="r" indent="0" marL="0">
              <a:lnSpc>
                <a:spcPct val="120000"/>
              </a:lnSpc>
              <a:buNone/>
            </a:pPr>
            <a:r>
              <a:rPr lang="en-US" sz="1100" dirty="0">
                <a:solidFill>
                  <a:srgbClr val="1B1B2F"/>
                </a:solidFill>
                <a:latin typeface="Arial" pitchFamily="34" charset="0"/>
                <a:ea typeface="Arial" pitchFamily="34" charset="-122"/>
                <a:cs typeface="Arial" pitchFamily="34" charset="-120"/>
              </a:rPr>
              <a:t>يتميز منهج المنصة بمسارات متسلسلة تضمن بناء عقلية برمجية تحليلية تتناسب مع كل فئة عمرية:</a:t>
            </a:r>
            <a:endParaRPr lang="en-US" sz="1100" dirty="0"/>
          </a:p>
        </p:txBody>
      </p:sp>
      <p:sp>
        <p:nvSpPr>
          <p:cNvPr id="13" name="Text 7"/>
          <p:cNvSpPr/>
          <p:nvPr/>
        </p:nvSpPr>
        <p:spPr>
          <a:xfrm>
            <a:off x="548640" y="1828800"/>
            <a:ext cx="5272888" cy="685800"/>
          </a:xfrm>
          <a:prstGeom prst="rect">
            <a:avLst/>
          </a:prstGeom>
          <a:noFill/>
          <a:ln/>
        </p:spPr>
        <p:txBody>
          <a:bodyPr wrap="square" rtlCol="0" anchor="t"/>
          <a:lstStyle/>
          <a:p>
            <a:pPr algn="l" indent="0" marL="0">
              <a:lnSpc>
                <a:spcPct val="115000"/>
              </a:lnSpc>
              <a:buNone/>
            </a:pPr>
            <a:r>
              <a:rPr lang="en-US" sz="1000" i="1" dirty="0">
                <a:solidFill>
                  <a:srgbClr val="5A5F73"/>
                </a:solidFill>
                <a:latin typeface="Arial" pitchFamily="34" charset="0"/>
                <a:ea typeface="Arial" pitchFamily="34" charset="-122"/>
                <a:cs typeface="Arial" pitchFamily="34" charset="-120"/>
              </a:rPr>
              <a:t>The platform's curriculum features sequential pathways that build an analytical programming mindset suited to each age group:</a:t>
            </a:r>
            <a:endParaRPr lang="en-US" sz="1000" dirty="0"/>
          </a:p>
        </p:txBody>
      </p:sp>
      <p:sp>
        <p:nvSpPr>
          <p:cNvPr id="14" name="Text 8"/>
          <p:cNvSpPr/>
          <p:nvPr/>
        </p:nvSpPr>
        <p:spPr>
          <a:xfrm>
            <a:off x="6370168" y="2514600"/>
            <a:ext cx="5272888" cy="2743200"/>
          </a:xfrm>
          <a:prstGeom prst="rect">
            <a:avLst/>
          </a:prstGeom>
          <a:noFill/>
          <a:ln/>
        </p:spPr>
        <p:txBody>
          <a:bodyPr wrap="square" rtlCol="0" anchor="t"/>
          <a:lstStyle/>
          <a:p>
            <a:pPr rtl="1" algn="r" indent="0" marL="0">
              <a:lnSpc>
                <a:spcPct val="120000"/>
              </a:lnSpc>
              <a:buNone/>
            </a:pPr>
            <a:r>
              <a:rPr lang="en-US" sz="1100" dirty="0">
                <a:solidFill>
                  <a:srgbClr val="1B1B2F"/>
                </a:solidFill>
                <a:latin typeface="Arial" pitchFamily="34" charset="0"/>
                <a:ea typeface="Arial" pitchFamily="34" charset="-122"/>
                <a:cs typeface="Arial" pitchFamily="34" charset="-120"/>
              </a:rPr>
              <a:t>–  الروضة - الصف 2: خوارزميات بسيطة وبرمجة بالكتل المرئية لتأسيس التفكير المنطقي</a:t>
            </a:r>
            <a:endParaRPr lang="en-US" sz="1100" dirty="0"/>
          </a:p>
          <a:p>
            <a:pPr rtl="1" algn="r" indent="0" marL="0">
              <a:lnSpc>
                <a:spcPct val="120000"/>
              </a:lnSpc>
              <a:buNone/>
            </a:pPr>
            <a:r>
              <a:rPr lang="en-US" sz="1100" dirty="0">
                <a:solidFill>
                  <a:srgbClr val="1B1B2F"/>
                </a:solidFill>
                <a:latin typeface="Arial" pitchFamily="34" charset="0"/>
                <a:ea typeface="Arial" pitchFamily="34" charset="-122"/>
                <a:cs typeface="Arial" pitchFamily="34" charset="-120"/>
              </a:rPr>
              <a:t>–  الصفوف 3-5: تطوير تطبيقات وبرمجة متقدمة بالكتل، مع مقدمة في تصنيف البيانات</a:t>
            </a:r>
            <a:endParaRPr lang="en-US" sz="1100" dirty="0"/>
          </a:p>
          <a:p>
            <a:pPr rtl="1" algn="r" indent="0" marL="0">
              <a:lnSpc>
                <a:spcPct val="120000"/>
              </a:lnSpc>
              <a:buNone/>
            </a:pPr>
            <a:r>
              <a:rPr lang="en-US" sz="1100" dirty="0">
                <a:solidFill>
                  <a:srgbClr val="1B1B2F"/>
                </a:solidFill>
                <a:latin typeface="Arial" pitchFamily="34" charset="0"/>
                <a:ea typeface="Arial" pitchFamily="34" charset="-122"/>
                <a:cs typeface="Arial" pitchFamily="34" charset="-120"/>
              </a:rPr>
              <a:t>–  الصفوف 6-8: برمجة نصية بلغة Python، هياكل بيانات، وبناء نماذج ذكاء اصطناعي أولية</a:t>
            </a:r>
            <a:endParaRPr lang="en-US" sz="1100" dirty="0"/>
          </a:p>
          <a:p>
            <a:pPr rtl="1" algn="r" indent="0" marL="0">
              <a:lnSpc>
                <a:spcPct val="120000"/>
              </a:lnSpc>
              <a:buNone/>
            </a:pPr>
            <a:r>
              <a:rPr lang="en-US" sz="1100" dirty="0">
                <a:solidFill>
                  <a:srgbClr val="1B1B2F"/>
                </a:solidFill>
                <a:latin typeface="Arial" pitchFamily="34" charset="0"/>
                <a:ea typeface="Arial" pitchFamily="34" charset="-122"/>
                <a:cs typeface="Arial" pitchFamily="34" charset="-120"/>
              </a:rPr>
              <a:t>–  الصفوف 9-12: برمجة كائنية (OOP)، علوم بيانات، وشبكات عصبية عبر مكتبات مثل PyTorch</a:t>
            </a:r>
            <a:endParaRPr lang="en-US" sz="1100" dirty="0"/>
          </a:p>
        </p:txBody>
      </p:sp>
      <p:sp>
        <p:nvSpPr>
          <p:cNvPr id="15" name="Text 9"/>
          <p:cNvSpPr/>
          <p:nvPr/>
        </p:nvSpPr>
        <p:spPr>
          <a:xfrm>
            <a:off x="548640" y="2514600"/>
            <a:ext cx="5272888" cy="2743200"/>
          </a:xfrm>
          <a:prstGeom prst="rect">
            <a:avLst/>
          </a:prstGeom>
          <a:noFill/>
          <a:ln/>
        </p:spPr>
        <p:txBody>
          <a:bodyPr wrap="square" rtlCol="0" anchor="t"/>
          <a:lstStyle/>
          <a:p>
            <a:pPr algn="l" indent="0" marL="0">
              <a:lnSpc>
                <a:spcPct val="115000"/>
              </a:lnSpc>
              <a:buNone/>
            </a:pPr>
            <a:r>
              <a:rPr lang="en-US" sz="1000" i="1" dirty="0">
                <a:solidFill>
                  <a:srgbClr val="5A5F73"/>
                </a:solidFill>
                <a:latin typeface="Arial" pitchFamily="34" charset="0"/>
                <a:ea typeface="Arial" pitchFamily="34" charset="-122"/>
                <a:cs typeface="Arial" pitchFamily="34" charset="-120"/>
              </a:rPr>
              <a:t>–  Kindergarten - Grade 2: Simple algorithms and block-based programming to build logical thinking</a:t>
            </a:r>
            <a:endParaRPr lang="en-US" sz="1000" dirty="0"/>
          </a:p>
          <a:p>
            <a:pPr algn="l" indent="0" marL="0">
              <a:lnSpc>
                <a:spcPct val="115000"/>
              </a:lnSpc>
              <a:buNone/>
            </a:pPr>
            <a:r>
              <a:rPr lang="en-US" sz="1000" i="1" dirty="0">
                <a:solidFill>
                  <a:srgbClr val="5A5F73"/>
                </a:solidFill>
                <a:latin typeface="Arial" pitchFamily="34" charset="0"/>
                <a:ea typeface="Arial" pitchFamily="34" charset="-122"/>
                <a:cs typeface="Arial" pitchFamily="34" charset="-120"/>
              </a:rPr>
              <a:t>–  Grades 3-5: Application development and advanced block-based programming, with an intro to data classification</a:t>
            </a:r>
            <a:endParaRPr lang="en-US" sz="1000" dirty="0"/>
          </a:p>
          <a:p>
            <a:pPr algn="l" indent="0" marL="0">
              <a:lnSpc>
                <a:spcPct val="115000"/>
              </a:lnSpc>
              <a:buNone/>
            </a:pPr>
            <a:r>
              <a:rPr lang="en-US" sz="1000" i="1" dirty="0">
                <a:solidFill>
                  <a:srgbClr val="5A5F73"/>
                </a:solidFill>
                <a:latin typeface="Arial" pitchFamily="34" charset="0"/>
                <a:ea typeface="Arial" pitchFamily="34" charset="-122"/>
                <a:cs typeface="Arial" pitchFamily="34" charset="-120"/>
              </a:rPr>
              <a:t>–  Grades 6-8: Text-based Python programming, data structures, and introductory AI model building</a:t>
            </a:r>
            <a:endParaRPr lang="en-US" sz="1000" dirty="0"/>
          </a:p>
          <a:p>
            <a:pPr algn="l" indent="0" marL="0">
              <a:lnSpc>
                <a:spcPct val="115000"/>
              </a:lnSpc>
              <a:buNone/>
            </a:pPr>
            <a:r>
              <a:rPr lang="en-US" sz="1000" i="1" dirty="0">
                <a:solidFill>
                  <a:srgbClr val="5A5F73"/>
                </a:solidFill>
                <a:latin typeface="Arial" pitchFamily="34" charset="0"/>
                <a:ea typeface="Arial" pitchFamily="34" charset="-122"/>
                <a:cs typeface="Arial" pitchFamily="34" charset="-120"/>
              </a:rPr>
              <a:t>–  Grades 9-12: Object-Oriented Programming (OOP), data science, and neural networks using libraries such as PyTorch</a:t>
            </a:r>
            <a:endParaRPr lang="en-US" sz="1000" dirty="0"/>
          </a:p>
        </p:txBody>
      </p:sp>
      <p:sp>
        <p:nvSpPr>
          <p:cNvPr id="16" name="Text 10"/>
          <p:cNvSpPr/>
          <p:nvPr/>
        </p:nvSpPr>
        <p:spPr>
          <a:xfrm>
            <a:off x="11551615" y="6400800"/>
            <a:ext cx="365760" cy="274320"/>
          </a:xfrm>
          <a:prstGeom prst="rect">
            <a:avLst/>
          </a:prstGeom>
          <a:noFill/>
          <a:ln/>
        </p:spPr>
        <p:txBody>
          <a:bodyPr wrap="square" rtlCol="0" anchor="ctr"/>
          <a:lstStyle/>
          <a:p>
            <a:pPr algn="r" indent="0" marL="0">
              <a:buNone/>
            </a:pPr>
            <a:r>
              <a:rPr lang="en-US" sz="1000" dirty="0">
                <a:solidFill>
                  <a:srgbClr val="5A5F73"/>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92608"/>
            <a:ext cx="2824759" cy="501091"/>
          </a:xfrm>
          <a:prstGeom prst="roundRect">
            <a:avLst>
              <a:gd name="adj" fmla="val 10949"/>
            </a:avLst>
          </a:prstGeom>
          <a:solidFill>
            <a:srgbClr val="FFFFFF"/>
          </a:solidFill>
          <a:ln w="6350">
            <a:solidFill>
              <a:srgbClr val="E3E8EA"/>
            </a:solidFill>
            <a:prstDash val="solid"/>
          </a:ln>
          <a:effectLst>
            <a:outerShdw sx="100000" sy="100000" kx="0" ky="0" algn="bl" rotWithShape="0" blurRad="50800" dist="12700" dir="5400000">
              <a:srgbClr val="888888">
                <a:alpha val="25000"/>
              </a:srgbClr>
            </a:outerShdw>
          </a:effectLst>
        </p:spPr>
      </p:sp>
      <p:pic>
        <p:nvPicPr>
          <p:cNvPr id="3" name="Image 0" descr="/home/claude/qubits_pptx/logos/trim_dar_alforsan.png">    </p:cNvPr>
          <p:cNvPicPr>
            <a:picLocks noChangeAspect="1"/>
          </p:cNvPicPr>
          <p:nvPr/>
        </p:nvPicPr>
        <p:blipFill>
          <a:blip r:embed="rId1"/>
          <a:stretch>
            <a:fillRect/>
          </a:stretch>
        </p:blipFill>
        <p:spPr>
          <a:xfrm>
            <a:off x="484632" y="387706"/>
            <a:ext cx="270802" cy="310896"/>
          </a:xfrm>
          <a:prstGeom prst="rect">
            <a:avLst/>
          </a:prstGeom>
        </p:spPr>
      </p:pic>
      <p:pic>
        <p:nvPicPr>
          <p:cNvPr id="4" name="Image 1" descr="/home/claude/qubits_pptx/logos/trim_diploma_section.png">    </p:cNvPr>
          <p:cNvPicPr>
            <a:picLocks noChangeAspect="1"/>
          </p:cNvPicPr>
          <p:nvPr/>
        </p:nvPicPr>
        <p:blipFill>
          <a:blip r:embed="rId2"/>
          <a:stretch>
            <a:fillRect/>
          </a:stretch>
        </p:blipFill>
        <p:spPr>
          <a:xfrm>
            <a:off x="846874" y="387706"/>
            <a:ext cx="253851" cy="310896"/>
          </a:xfrm>
          <a:prstGeom prst="rect">
            <a:avLst/>
          </a:prstGeom>
        </p:spPr>
      </p:pic>
      <p:pic>
        <p:nvPicPr>
          <p:cNvPr id="5" name="Image 2" descr="/home/claude/qubits_pptx/logos/trim_qubits_v4.png">    </p:cNvPr>
          <p:cNvPicPr>
            <a:picLocks noChangeAspect="1"/>
          </p:cNvPicPr>
          <p:nvPr/>
        </p:nvPicPr>
        <p:blipFill>
          <a:blip r:embed="rId3"/>
          <a:stretch>
            <a:fillRect/>
          </a:stretch>
        </p:blipFill>
        <p:spPr>
          <a:xfrm>
            <a:off x="1192164" y="387706"/>
            <a:ext cx="981777" cy="310896"/>
          </a:xfrm>
          <a:prstGeom prst="rect">
            <a:avLst/>
          </a:prstGeom>
        </p:spPr>
      </p:pic>
      <p:pic>
        <p:nvPicPr>
          <p:cNvPr id="6" name="Image 3" descr="/home/claude/qubits_pptx/logos/trim_aiaasc.png">    </p:cNvPr>
          <p:cNvPicPr>
            <a:picLocks noChangeAspect="1"/>
          </p:cNvPicPr>
          <p:nvPr/>
        </p:nvPicPr>
        <p:blipFill>
          <a:blip r:embed="rId4"/>
          <a:stretch>
            <a:fillRect/>
          </a:stretch>
        </p:blipFill>
        <p:spPr>
          <a:xfrm>
            <a:off x="2265381" y="387706"/>
            <a:ext cx="806266" cy="310896"/>
          </a:xfrm>
          <a:prstGeom prst="rect">
            <a:avLst/>
          </a:prstGeom>
        </p:spPr>
      </p:pic>
      <p:sp>
        <p:nvSpPr>
          <p:cNvPr id="7" name="Text 1"/>
          <p:cNvSpPr/>
          <p:nvPr/>
        </p:nvSpPr>
        <p:spPr>
          <a:xfrm>
            <a:off x="548640" y="438912"/>
            <a:ext cx="11094415" cy="502920"/>
          </a:xfrm>
          <a:prstGeom prst="rect">
            <a:avLst/>
          </a:prstGeom>
          <a:noFill/>
          <a:ln/>
        </p:spPr>
        <p:txBody>
          <a:bodyPr wrap="square" lIns="0" tIns="0" rIns="0" bIns="0" rtlCol="0" anchor="ctr"/>
          <a:lstStyle/>
          <a:p>
            <a:pPr rtl="1" algn="r" indent="0" marL="0">
              <a:buNone/>
            </a:pPr>
            <a:r>
              <a:rPr lang="en-US" sz="2400" b="1" dirty="0">
                <a:solidFill>
                  <a:srgbClr val="005A66"/>
                </a:solidFill>
                <a:latin typeface="Cambria" pitchFamily="34" charset="0"/>
                <a:ea typeface="Cambria" pitchFamily="34" charset="-122"/>
                <a:cs typeface="Cambria" pitchFamily="34" charset="-120"/>
              </a:rPr>
              <a:t>كلمة أولياء الأمور — ٣ / ٣  المرتكزات الستة والختام</a:t>
            </a:r>
            <a:endParaRPr lang="en-US" sz="2400" dirty="0"/>
          </a:p>
        </p:txBody>
      </p:sp>
      <p:sp>
        <p:nvSpPr>
          <p:cNvPr id="8" name="Text 2"/>
          <p:cNvSpPr/>
          <p:nvPr/>
        </p:nvSpPr>
        <p:spPr>
          <a:xfrm>
            <a:off x="548640" y="914400"/>
            <a:ext cx="11094415" cy="320040"/>
          </a:xfrm>
          <a:prstGeom prst="rect">
            <a:avLst/>
          </a:prstGeom>
          <a:noFill/>
          <a:ln/>
        </p:spPr>
        <p:txBody>
          <a:bodyPr wrap="square" lIns="0" tIns="0" rIns="0" bIns="0" rtlCol="0" anchor="ctr"/>
          <a:lstStyle/>
          <a:p>
            <a:pPr algn="r" indent="0" marL="0">
              <a:buNone/>
            </a:pPr>
            <a:r>
              <a:rPr lang="en-US" sz="1200" i="1" dirty="0">
                <a:solidFill>
                  <a:srgbClr val="5A5F73"/>
                </a:solidFill>
                <a:latin typeface="Arial" pitchFamily="34" charset="0"/>
                <a:ea typeface="Arial" pitchFamily="34" charset="-122"/>
                <a:cs typeface="Arial" pitchFamily="34" charset="-120"/>
              </a:rPr>
              <a:t>Parents' Address — 3 of 3  Six Pillars &amp; Closing</a:t>
            </a:r>
            <a:endParaRPr lang="en-US" sz="1200" dirty="0"/>
          </a:p>
        </p:txBody>
      </p:sp>
      <p:sp>
        <p:nvSpPr>
          <p:cNvPr id="9" name="Shape 3"/>
          <p:cNvSpPr/>
          <p:nvPr/>
        </p:nvSpPr>
        <p:spPr>
          <a:xfrm>
            <a:off x="6095848" y="1417320"/>
            <a:ext cx="0" cy="4846320"/>
          </a:xfrm>
          <a:prstGeom prst="line">
            <a:avLst/>
          </a:prstGeom>
          <a:noFill/>
          <a:ln w="12700">
            <a:solidFill>
              <a:srgbClr val="DCE4E6"/>
            </a:solidFill>
            <a:prstDash val="solid"/>
          </a:ln>
        </p:spPr>
      </p:sp>
      <p:sp>
        <p:nvSpPr>
          <p:cNvPr id="10" name="Text 4"/>
          <p:cNvSpPr/>
          <p:nvPr/>
        </p:nvSpPr>
        <p:spPr>
          <a:xfrm>
            <a:off x="6370168" y="1463040"/>
            <a:ext cx="5272888" cy="1463040"/>
          </a:xfrm>
          <a:prstGeom prst="rect">
            <a:avLst/>
          </a:prstGeom>
          <a:noFill/>
          <a:ln/>
        </p:spPr>
        <p:txBody>
          <a:bodyPr wrap="square" rtlCol="0" anchor="t"/>
          <a:lstStyle/>
          <a:p>
            <a:pPr rtl="1" algn="r" indent="0" marL="0">
              <a:lnSpc>
                <a:spcPct val="120000"/>
              </a:lnSpc>
              <a:buNone/>
            </a:pPr>
            <a:r>
              <a:rPr lang="en-US" sz="1100" dirty="0">
                <a:solidFill>
                  <a:srgbClr val="1B1B2F"/>
                </a:solidFill>
                <a:latin typeface="Arial" pitchFamily="34" charset="0"/>
                <a:ea typeface="Arial" pitchFamily="34" charset="-122"/>
                <a:cs typeface="Arial" pitchFamily="34" charset="-120"/>
              </a:rPr>
              <a:t>لقياس هذا التحول بدقة عن منهج Zero1 السابق، حددنا ستة مرتكزات سنتابع أداء الطلاب فيها تحديداً — من علوم الحاسوب والروبوتكس، مروراً بالذكاء الاصطناعي المسؤول المستند إلى مبادئ سدايا، والأمن السيبراني المستند إلى ضوابط الهيئة الوطنية للأمن السيبراني (NCA)، وصولاً إلى الفن الرقمي التكاملي.</a:t>
            </a:r>
            <a:endParaRPr lang="en-US" sz="1100" dirty="0"/>
          </a:p>
        </p:txBody>
      </p:sp>
      <p:sp>
        <p:nvSpPr>
          <p:cNvPr id="11" name="Text 5"/>
          <p:cNvSpPr/>
          <p:nvPr/>
        </p:nvSpPr>
        <p:spPr>
          <a:xfrm>
            <a:off x="548640" y="1463040"/>
            <a:ext cx="5272888" cy="1463040"/>
          </a:xfrm>
          <a:prstGeom prst="rect">
            <a:avLst/>
          </a:prstGeom>
          <a:noFill/>
          <a:ln/>
        </p:spPr>
        <p:txBody>
          <a:bodyPr wrap="square" rtlCol="0" anchor="t"/>
          <a:lstStyle/>
          <a:p>
            <a:pPr algn="l" indent="0" marL="0">
              <a:lnSpc>
                <a:spcPct val="115000"/>
              </a:lnSpc>
              <a:buNone/>
            </a:pPr>
            <a:r>
              <a:rPr lang="en-US" sz="1000" i="1" dirty="0">
                <a:solidFill>
                  <a:srgbClr val="5A5F73"/>
                </a:solidFill>
                <a:latin typeface="Arial" pitchFamily="34" charset="0"/>
                <a:ea typeface="Arial" pitchFamily="34" charset="-122"/>
                <a:cs typeface="Arial" pitchFamily="34" charset="-120"/>
              </a:rPr>
              <a:t>To precisely measure this transition from the previous Zero1 curriculum, we identified six pillars we will track specifically — from computer science and robotics, through Responsible AI grounded in SDAIA's principles, cybersecurity grounded in the National Cybersecurity Authority's (NCA) controls, to integrative digital art.</a:t>
            </a:r>
            <a:endParaRPr lang="en-US" sz="1000" dirty="0"/>
          </a:p>
        </p:txBody>
      </p:sp>
      <p:sp>
        <p:nvSpPr>
          <p:cNvPr id="12" name="Text 6"/>
          <p:cNvSpPr/>
          <p:nvPr/>
        </p:nvSpPr>
        <p:spPr>
          <a:xfrm>
            <a:off x="6370168" y="2926080"/>
            <a:ext cx="5272888" cy="1097280"/>
          </a:xfrm>
          <a:prstGeom prst="rect">
            <a:avLst/>
          </a:prstGeom>
          <a:noFill/>
          <a:ln/>
        </p:spPr>
        <p:txBody>
          <a:bodyPr wrap="square" rtlCol="0" anchor="t"/>
          <a:lstStyle/>
          <a:p>
            <a:pPr rtl="1" algn="r" indent="0" marL="0">
              <a:lnSpc>
                <a:spcPct val="120000"/>
              </a:lnSpc>
              <a:buNone/>
            </a:pPr>
            <a:r>
              <a:rPr lang="en-US" sz="1100" dirty="0">
                <a:solidFill>
                  <a:srgbClr val="1B1B2F"/>
                </a:solidFill>
                <a:latin typeface="Arial" pitchFamily="34" charset="0"/>
                <a:ea typeface="Arial" pitchFamily="34" charset="-122"/>
                <a:cs typeface="Arial" pitchFamily="34" charset="-120"/>
              </a:rPr>
              <a:t>كل مرتكز سيُقيَّم عبر معايير أداء واضحة (Rubric)، ولوحات تحكم Qubits ستتيح لنا رصد تقدم كل طالب أولاً بأول، وسنشارككم تقريراً دورياً بمخرجات فعلية محقَّقة، لا بمحتوى تمت تغطيته فقط.</a:t>
            </a:r>
            <a:endParaRPr lang="en-US" sz="1100" dirty="0"/>
          </a:p>
        </p:txBody>
      </p:sp>
      <p:sp>
        <p:nvSpPr>
          <p:cNvPr id="13" name="Text 7"/>
          <p:cNvSpPr/>
          <p:nvPr/>
        </p:nvSpPr>
        <p:spPr>
          <a:xfrm>
            <a:off x="548640" y="2926080"/>
            <a:ext cx="5272888" cy="1097280"/>
          </a:xfrm>
          <a:prstGeom prst="rect">
            <a:avLst/>
          </a:prstGeom>
          <a:noFill/>
          <a:ln/>
        </p:spPr>
        <p:txBody>
          <a:bodyPr wrap="square" rtlCol="0" anchor="t"/>
          <a:lstStyle/>
          <a:p>
            <a:pPr algn="l" indent="0" marL="0">
              <a:lnSpc>
                <a:spcPct val="115000"/>
              </a:lnSpc>
              <a:buNone/>
            </a:pPr>
            <a:r>
              <a:rPr lang="en-US" sz="1000" i="1" dirty="0">
                <a:solidFill>
                  <a:srgbClr val="5A5F73"/>
                </a:solidFill>
                <a:latin typeface="Arial" pitchFamily="34" charset="0"/>
                <a:ea typeface="Arial" pitchFamily="34" charset="-122"/>
                <a:cs typeface="Arial" pitchFamily="34" charset="-120"/>
              </a:rPr>
              <a:t>Each pillar will be assessed through clear performance rubrics, and Qubits dashboards will let us track every student's progress in real time. We will share a periodic report reflecting actual achieved outcomes — not merely content that was covered.</a:t>
            </a:r>
            <a:endParaRPr lang="en-US" sz="1000" dirty="0"/>
          </a:p>
        </p:txBody>
      </p:sp>
      <p:sp>
        <p:nvSpPr>
          <p:cNvPr id="14" name="Text 8"/>
          <p:cNvSpPr/>
          <p:nvPr/>
        </p:nvSpPr>
        <p:spPr>
          <a:xfrm>
            <a:off x="6370168" y="4023360"/>
            <a:ext cx="5272888" cy="1005840"/>
          </a:xfrm>
          <a:prstGeom prst="rect">
            <a:avLst/>
          </a:prstGeom>
          <a:noFill/>
          <a:ln/>
        </p:spPr>
        <p:txBody>
          <a:bodyPr wrap="square" rtlCol="0" anchor="t"/>
          <a:lstStyle/>
          <a:p>
            <a:pPr rtl="1" algn="r" indent="0" marL="0">
              <a:lnSpc>
                <a:spcPct val="120000"/>
              </a:lnSpc>
              <a:buNone/>
            </a:pPr>
            <a:r>
              <a:rPr lang="en-US" sz="1100" dirty="0">
                <a:solidFill>
                  <a:srgbClr val="1B1B2F"/>
                </a:solidFill>
                <a:latin typeface="Arial" pitchFamily="34" charset="0"/>
                <a:ea typeface="Arial" pitchFamily="34" charset="-122"/>
                <a:cs typeface="Arial" pitchFamily="34" charset="-120"/>
              </a:rPr>
              <a:t>وضمن الأنشطة اللاصفية، نطلق هذا العام مبادرة iDar Tech Team، بمشاركة طلاب من كل فصل ضمن مسارات تخصصية تحاكي سوق العمل الرقمي، إضافة إلى تقويم تنافسي حافل بمسابقات الروبوتكس والبرمجة الوطنية والدولية.</a:t>
            </a:r>
            <a:endParaRPr lang="en-US" sz="1100" dirty="0"/>
          </a:p>
        </p:txBody>
      </p:sp>
      <p:sp>
        <p:nvSpPr>
          <p:cNvPr id="15" name="Text 9"/>
          <p:cNvSpPr/>
          <p:nvPr/>
        </p:nvSpPr>
        <p:spPr>
          <a:xfrm>
            <a:off x="548640" y="4023360"/>
            <a:ext cx="5272888" cy="1005840"/>
          </a:xfrm>
          <a:prstGeom prst="rect">
            <a:avLst/>
          </a:prstGeom>
          <a:noFill/>
          <a:ln/>
        </p:spPr>
        <p:txBody>
          <a:bodyPr wrap="square" rtlCol="0" anchor="t"/>
          <a:lstStyle/>
          <a:p>
            <a:pPr algn="l" indent="0" marL="0">
              <a:lnSpc>
                <a:spcPct val="115000"/>
              </a:lnSpc>
              <a:buNone/>
            </a:pPr>
            <a:r>
              <a:rPr lang="en-US" sz="1000" i="1" dirty="0">
                <a:solidFill>
                  <a:srgbClr val="5A5F73"/>
                </a:solidFill>
                <a:latin typeface="Arial" pitchFamily="34" charset="0"/>
                <a:ea typeface="Arial" pitchFamily="34" charset="-122"/>
                <a:cs typeface="Arial" pitchFamily="34" charset="-120"/>
              </a:rPr>
              <a:t>As part of our extracurricular activities, we are launching the iDar Tech Team this year, with participation from every classroom across specialized tracks mirroring the digital job market, alongside a packed competitive calendar of robotics and coding competitions.</a:t>
            </a:r>
            <a:endParaRPr lang="en-US" sz="1000" dirty="0"/>
          </a:p>
        </p:txBody>
      </p:sp>
      <p:sp>
        <p:nvSpPr>
          <p:cNvPr id="16" name="Text 10"/>
          <p:cNvSpPr/>
          <p:nvPr/>
        </p:nvSpPr>
        <p:spPr>
          <a:xfrm>
            <a:off x="6370168" y="5029200"/>
            <a:ext cx="5272888" cy="914400"/>
          </a:xfrm>
          <a:prstGeom prst="rect">
            <a:avLst/>
          </a:prstGeom>
          <a:noFill/>
          <a:ln/>
        </p:spPr>
        <p:txBody>
          <a:bodyPr wrap="square" rtlCol="0" anchor="t"/>
          <a:lstStyle/>
          <a:p>
            <a:pPr rtl="1" algn="r" indent="0" marL="0">
              <a:lnSpc>
                <a:spcPct val="120000"/>
              </a:lnSpc>
              <a:buNone/>
            </a:pPr>
            <a:r>
              <a:rPr lang="en-US" sz="1100" dirty="0">
                <a:solidFill>
                  <a:srgbClr val="1B1B2F"/>
                </a:solidFill>
                <a:latin typeface="Arial" pitchFamily="34" charset="0"/>
                <a:ea typeface="Arial" pitchFamily="34" charset="-122"/>
                <a:cs typeface="Arial" pitchFamily="34" charset="-120"/>
              </a:rPr>
              <a:t>نتطلع لشراكتكم في هذه المرحلة الانتقالية، وباب الأسئلة مفتوح دائماً.</a:t>
            </a:r>
            <a:endParaRPr lang="en-US" sz="1100" dirty="0"/>
          </a:p>
          <a:p>
            <a:pPr rtl="1" algn="r" indent="0" marL="0">
              <a:lnSpc>
                <a:spcPct val="120000"/>
              </a:lnSpc>
              <a:buNone/>
            </a:pPr>
            <a:r>
              <a:rPr lang="en-US" sz="1100" dirty="0">
                <a:solidFill>
                  <a:srgbClr val="1B1B2F"/>
                </a:solidFill>
                <a:latin typeface="Arial" pitchFamily="34" charset="0"/>
                <a:ea typeface="Arial" pitchFamily="34" charset="-122"/>
                <a:cs typeface="Arial" pitchFamily="34" charset="-120"/>
              </a:rPr>
              <a:t>وتفضلوا بقبول فائق الاحترام والتقدير.</a:t>
            </a:r>
            <a:endParaRPr lang="en-US" sz="1100" dirty="0"/>
          </a:p>
        </p:txBody>
      </p:sp>
      <p:sp>
        <p:nvSpPr>
          <p:cNvPr id="17" name="Text 11"/>
          <p:cNvSpPr/>
          <p:nvPr/>
        </p:nvSpPr>
        <p:spPr>
          <a:xfrm>
            <a:off x="548640" y="5029200"/>
            <a:ext cx="5272888" cy="914400"/>
          </a:xfrm>
          <a:prstGeom prst="rect">
            <a:avLst/>
          </a:prstGeom>
          <a:noFill/>
          <a:ln/>
        </p:spPr>
        <p:txBody>
          <a:bodyPr wrap="square" rtlCol="0" anchor="t"/>
          <a:lstStyle/>
          <a:p>
            <a:pPr algn="l" indent="0" marL="0">
              <a:lnSpc>
                <a:spcPct val="115000"/>
              </a:lnSpc>
              <a:buNone/>
            </a:pPr>
            <a:r>
              <a:rPr lang="en-US" sz="1000" i="1" dirty="0">
                <a:solidFill>
                  <a:srgbClr val="5A5F73"/>
                </a:solidFill>
                <a:latin typeface="Arial" pitchFamily="34" charset="0"/>
                <a:ea typeface="Arial" pitchFamily="34" charset="-122"/>
                <a:cs typeface="Arial" pitchFamily="34" charset="-120"/>
              </a:rPr>
              <a:t>We look forward to your partnership during this transitional phase, and our door is always open for your questions.</a:t>
            </a:r>
            <a:endParaRPr lang="en-US" sz="1000" dirty="0"/>
          </a:p>
          <a:p>
            <a:pPr algn="l" indent="0" marL="0">
              <a:lnSpc>
                <a:spcPct val="115000"/>
              </a:lnSpc>
              <a:buNone/>
            </a:pPr>
            <a:r>
              <a:rPr lang="en-US" sz="1000" i="1" dirty="0">
                <a:solidFill>
                  <a:srgbClr val="5A5F73"/>
                </a:solidFill>
                <a:latin typeface="Arial" pitchFamily="34" charset="0"/>
                <a:ea typeface="Arial" pitchFamily="34" charset="-122"/>
                <a:cs typeface="Arial" pitchFamily="34" charset="-120"/>
              </a:rPr>
              <a:t>Please accept our utmost respect and appreciation.</a:t>
            </a:r>
            <a:endParaRPr lang="en-US" sz="1000" dirty="0"/>
          </a:p>
        </p:txBody>
      </p:sp>
      <p:sp>
        <p:nvSpPr>
          <p:cNvPr id="18" name="Text 12"/>
          <p:cNvSpPr/>
          <p:nvPr/>
        </p:nvSpPr>
        <p:spPr>
          <a:xfrm>
            <a:off x="11551615" y="6400800"/>
            <a:ext cx="365760" cy="274320"/>
          </a:xfrm>
          <a:prstGeom prst="rect">
            <a:avLst/>
          </a:prstGeom>
          <a:noFill/>
          <a:ln/>
        </p:spPr>
        <p:txBody>
          <a:bodyPr wrap="square" rtlCol="0" anchor="ctr"/>
          <a:lstStyle/>
          <a:p>
            <a:pPr algn="r" indent="0" marL="0">
              <a:buNone/>
            </a:pPr>
            <a:r>
              <a:rPr lang="en-US" sz="1000" dirty="0">
                <a:solidFill>
                  <a:srgbClr val="5A5F73"/>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7D8F"/>
        </a:solidFill>
      </p:bgPr>
    </p:bg>
    <p:spTree>
      <p:nvGrpSpPr>
        <p:cNvPr id="1" name=""/>
        <p:cNvGrpSpPr/>
        <p:nvPr/>
      </p:nvGrpSpPr>
      <p:grpSpPr>
        <a:xfrm>
          <a:off x="0" y="0"/>
          <a:ext cx="0" cy="0"/>
          <a:chOff x="0" y="0"/>
          <a:chExt cx="0" cy="0"/>
        </a:xfrm>
      </p:grpSpPr>
      <p:sp>
        <p:nvSpPr>
          <p:cNvPr id="2" name="Shape 0"/>
          <p:cNvSpPr/>
          <p:nvPr/>
        </p:nvSpPr>
        <p:spPr>
          <a:xfrm>
            <a:off x="365760" y="292608"/>
            <a:ext cx="2824759" cy="501091"/>
          </a:xfrm>
          <a:prstGeom prst="roundRect">
            <a:avLst>
              <a:gd name="adj" fmla="val 10949"/>
            </a:avLst>
          </a:prstGeom>
          <a:solidFill>
            <a:srgbClr val="FFFFFF"/>
          </a:solidFill>
          <a:ln w="6350">
            <a:solidFill>
              <a:srgbClr val="E3E8EA"/>
            </a:solidFill>
            <a:prstDash val="solid"/>
          </a:ln>
          <a:effectLst>
            <a:outerShdw sx="100000" sy="100000" kx="0" ky="0" algn="bl" rotWithShape="0" blurRad="50800" dist="12700" dir="5400000">
              <a:srgbClr val="888888">
                <a:alpha val="25000"/>
              </a:srgbClr>
            </a:outerShdw>
          </a:effectLst>
        </p:spPr>
      </p:sp>
      <p:pic>
        <p:nvPicPr>
          <p:cNvPr id="3" name="Image 0" descr="/home/claude/qubits_pptx/logos/trim_dar_alforsan.png">    </p:cNvPr>
          <p:cNvPicPr>
            <a:picLocks noChangeAspect="1"/>
          </p:cNvPicPr>
          <p:nvPr/>
        </p:nvPicPr>
        <p:blipFill>
          <a:blip r:embed="rId1"/>
          <a:stretch>
            <a:fillRect/>
          </a:stretch>
        </p:blipFill>
        <p:spPr>
          <a:xfrm>
            <a:off x="484632" y="387706"/>
            <a:ext cx="270802" cy="310896"/>
          </a:xfrm>
          <a:prstGeom prst="rect">
            <a:avLst/>
          </a:prstGeom>
        </p:spPr>
      </p:pic>
      <p:pic>
        <p:nvPicPr>
          <p:cNvPr id="4" name="Image 1" descr="/home/claude/qubits_pptx/logos/trim_diploma_section.png">    </p:cNvPr>
          <p:cNvPicPr>
            <a:picLocks noChangeAspect="1"/>
          </p:cNvPicPr>
          <p:nvPr/>
        </p:nvPicPr>
        <p:blipFill>
          <a:blip r:embed="rId2"/>
          <a:stretch>
            <a:fillRect/>
          </a:stretch>
        </p:blipFill>
        <p:spPr>
          <a:xfrm>
            <a:off x="846874" y="387706"/>
            <a:ext cx="253851" cy="310896"/>
          </a:xfrm>
          <a:prstGeom prst="rect">
            <a:avLst/>
          </a:prstGeom>
        </p:spPr>
      </p:pic>
      <p:pic>
        <p:nvPicPr>
          <p:cNvPr id="5" name="Image 2" descr="/home/claude/qubits_pptx/logos/trim_qubits_v4.png">    </p:cNvPr>
          <p:cNvPicPr>
            <a:picLocks noChangeAspect="1"/>
          </p:cNvPicPr>
          <p:nvPr/>
        </p:nvPicPr>
        <p:blipFill>
          <a:blip r:embed="rId3"/>
          <a:stretch>
            <a:fillRect/>
          </a:stretch>
        </p:blipFill>
        <p:spPr>
          <a:xfrm>
            <a:off x="1192164" y="387706"/>
            <a:ext cx="981777" cy="310896"/>
          </a:xfrm>
          <a:prstGeom prst="rect">
            <a:avLst/>
          </a:prstGeom>
        </p:spPr>
      </p:pic>
      <p:pic>
        <p:nvPicPr>
          <p:cNvPr id="6" name="Image 3" descr="/home/claude/qubits_pptx/logos/trim_aiaasc.png">    </p:cNvPr>
          <p:cNvPicPr>
            <a:picLocks noChangeAspect="1"/>
          </p:cNvPicPr>
          <p:nvPr/>
        </p:nvPicPr>
        <p:blipFill>
          <a:blip r:embed="rId4"/>
          <a:stretch>
            <a:fillRect/>
          </a:stretch>
        </p:blipFill>
        <p:spPr>
          <a:xfrm>
            <a:off x="2265381" y="387706"/>
            <a:ext cx="806266" cy="310896"/>
          </a:xfrm>
          <a:prstGeom prst="rect">
            <a:avLst/>
          </a:prstGeom>
        </p:spPr>
      </p:pic>
      <p:sp>
        <p:nvSpPr>
          <p:cNvPr id="7" name="Text 1"/>
          <p:cNvSpPr/>
          <p:nvPr/>
        </p:nvSpPr>
        <p:spPr>
          <a:xfrm>
            <a:off x="914400" y="2788920"/>
            <a:ext cx="10362895" cy="777240"/>
          </a:xfrm>
          <a:prstGeom prst="rect">
            <a:avLst/>
          </a:prstGeom>
          <a:noFill/>
          <a:ln/>
        </p:spPr>
        <p:txBody>
          <a:bodyPr wrap="square" rtlCol="0" anchor="ctr"/>
          <a:lstStyle/>
          <a:p>
            <a:pPr rtl="1" algn="ctr" indent="0" marL="0">
              <a:buNone/>
            </a:pPr>
            <a:r>
              <a:rPr lang="en-US" sz="3400" b="1" dirty="0">
                <a:solidFill>
                  <a:srgbClr val="FFFFFF"/>
                </a:solidFill>
                <a:latin typeface="Cambria" pitchFamily="34" charset="0"/>
                <a:ea typeface="Cambria" pitchFamily="34" charset="-122"/>
                <a:cs typeface="Cambria" pitchFamily="34" charset="-120"/>
              </a:rPr>
              <a:t>شرح مرئي للمفاهيم</a:t>
            </a:r>
            <a:endParaRPr lang="en-US" sz="3400" dirty="0"/>
          </a:p>
        </p:txBody>
      </p:sp>
      <p:sp>
        <p:nvSpPr>
          <p:cNvPr id="8" name="Text 2"/>
          <p:cNvSpPr/>
          <p:nvPr/>
        </p:nvSpPr>
        <p:spPr>
          <a:xfrm>
            <a:off x="914400" y="3520440"/>
            <a:ext cx="10362895" cy="457200"/>
          </a:xfrm>
          <a:prstGeom prst="rect">
            <a:avLst/>
          </a:prstGeom>
          <a:noFill/>
          <a:ln/>
        </p:spPr>
        <p:txBody>
          <a:bodyPr wrap="square" rtlCol="0" anchor="ctr"/>
          <a:lstStyle/>
          <a:p>
            <a:pPr algn="ctr" indent="0" marL="0">
              <a:buNone/>
            </a:pPr>
            <a:r>
              <a:rPr lang="en-US" sz="1500" i="1" dirty="0">
                <a:solidFill>
                  <a:srgbClr val="D8F0F3"/>
                </a:solidFill>
                <a:latin typeface="Arial" pitchFamily="34" charset="0"/>
                <a:ea typeface="Arial" pitchFamily="34" charset="-122"/>
                <a:cs typeface="Arial" pitchFamily="34" charset="-120"/>
              </a:rPr>
              <a:t>A Visual Walkthrough of the Concepts</a:t>
            </a:r>
            <a:endParaRPr lang="en-US" sz="1500" dirty="0"/>
          </a:p>
        </p:txBody>
      </p:sp>
      <p:sp>
        <p:nvSpPr>
          <p:cNvPr id="9" name="Text 3"/>
          <p:cNvSpPr/>
          <p:nvPr/>
        </p:nvSpPr>
        <p:spPr>
          <a:xfrm>
            <a:off x="11551615" y="6400800"/>
            <a:ext cx="365760" cy="274320"/>
          </a:xfrm>
          <a:prstGeom prst="rect">
            <a:avLst/>
          </a:prstGeom>
          <a:noFill/>
          <a:ln/>
        </p:spPr>
        <p:txBody>
          <a:bodyPr wrap="square" rtlCol="0" anchor="ctr"/>
          <a:lstStyle/>
          <a:p>
            <a:pPr algn="r" indent="0" marL="0">
              <a:buNone/>
            </a:pPr>
            <a:r>
              <a:rPr lang="en-US" sz="1000" dirty="0">
                <a:solidFill>
                  <a:srgbClr val="5A5F73"/>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92608"/>
            <a:ext cx="2824759" cy="501091"/>
          </a:xfrm>
          <a:prstGeom prst="roundRect">
            <a:avLst>
              <a:gd name="adj" fmla="val 10949"/>
            </a:avLst>
          </a:prstGeom>
          <a:solidFill>
            <a:srgbClr val="FFFFFF"/>
          </a:solidFill>
          <a:ln w="6350">
            <a:solidFill>
              <a:srgbClr val="E3E8EA"/>
            </a:solidFill>
            <a:prstDash val="solid"/>
          </a:ln>
          <a:effectLst>
            <a:outerShdw sx="100000" sy="100000" kx="0" ky="0" algn="bl" rotWithShape="0" blurRad="50800" dist="12700" dir="5400000">
              <a:srgbClr val="888888">
                <a:alpha val="25000"/>
              </a:srgbClr>
            </a:outerShdw>
          </a:effectLst>
        </p:spPr>
      </p:sp>
      <p:pic>
        <p:nvPicPr>
          <p:cNvPr id="3" name="Image 0" descr="/home/claude/qubits_pptx/logos/trim_dar_alforsan.png">    </p:cNvPr>
          <p:cNvPicPr>
            <a:picLocks noChangeAspect="1"/>
          </p:cNvPicPr>
          <p:nvPr/>
        </p:nvPicPr>
        <p:blipFill>
          <a:blip r:embed="rId1"/>
          <a:stretch>
            <a:fillRect/>
          </a:stretch>
        </p:blipFill>
        <p:spPr>
          <a:xfrm>
            <a:off x="484632" y="387706"/>
            <a:ext cx="270802" cy="310896"/>
          </a:xfrm>
          <a:prstGeom prst="rect">
            <a:avLst/>
          </a:prstGeom>
        </p:spPr>
      </p:pic>
      <p:pic>
        <p:nvPicPr>
          <p:cNvPr id="4" name="Image 1" descr="/home/claude/qubits_pptx/logos/trim_diploma_section.png">    </p:cNvPr>
          <p:cNvPicPr>
            <a:picLocks noChangeAspect="1"/>
          </p:cNvPicPr>
          <p:nvPr/>
        </p:nvPicPr>
        <p:blipFill>
          <a:blip r:embed="rId2"/>
          <a:stretch>
            <a:fillRect/>
          </a:stretch>
        </p:blipFill>
        <p:spPr>
          <a:xfrm>
            <a:off x="846874" y="387706"/>
            <a:ext cx="253851" cy="310896"/>
          </a:xfrm>
          <a:prstGeom prst="rect">
            <a:avLst/>
          </a:prstGeom>
        </p:spPr>
      </p:pic>
      <p:pic>
        <p:nvPicPr>
          <p:cNvPr id="5" name="Image 2" descr="/home/claude/qubits_pptx/logos/trim_qubits_v4.png">    </p:cNvPr>
          <p:cNvPicPr>
            <a:picLocks noChangeAspect="1"/>
          </p:cNvPicPr>
          <p:nvPr/>
        </p:nvPicPr>
        <p:blipFill>
          <a:blip r:embed="rId3"/>
          <a:stretch>
            <a:fillRect/>
          </a:stretch>
        </p:blipFill>
        <p:spPr>
          <a:xfrm>
            <a:off x="1192164" y="387706"/>
            <a:ext cx="981777" cy="310896"/>
          </a:xfrm>
          <a:prstGeom prst="rect">
            <a:avLst/>
          </a:prstGeom>
        </p:spPr>
      </p:pic>
      <p:pic>
        <p:nvPicPr>
          <p:cNvPr id="6" name="Image 3" descr="/home/claude/qubits_pptx/logos/trim_aiaasc.png">    </p:cNvPr>
          <p:cNvPicPr>
            <a:picLocks noChangeAspect="1"/>
          </p:cNvPicPr>
          <p:nvPr/>
        </p:nvPicPr>
        <p:blipFill>
          <a:blip r:embed="rId4"/>
          <a:stretch>
            <a:fillRect/>
          </a:stretch>
        </p:blipFill>
        <p:spPr>
          <a:xfrm>
            <a:off x="2265381" y="387706"/>
            <a:ext cx="806266" cy="310896"/>
          </a:xfrm>
          <a:prstGeom prst="rect">
            <a:avLst/>
          </a:prstGeom>
        </p:spPr>
      </p:pic>
      <p:sp>
        <p:nvSpPr>
          <p:cNvPr id="7" name="Text 1"/>
          <p:cNvSpPr/>
          <p:nvPr/>
        </p:nvSpPr>
        <p:spPr>
          <a:xfrm>
            <a:off x="548640" y="438912"/>
            <a:ext cx="11094415" cy="502920"/>
          </a:xfrm>
          <a:prstGeom prst="rect">
            <a:avLst/>
          </a:prstGeom>
          <a:noFill/>
          <a:ln/>
        </p:spPr>
        <p:txBody>
          <a:bodyPr wrap="square" lIns="0" tIns="0" rIns="0" bIns="0" rtlCol="0" anchor="ctr"/>
          <a:lstStyle/>
          <a:p>
            <a:pPr rtl="1" algn="r" indent="0" marL="0">
              <a:buNone/>
            </a:pPr>
            <a:r>
              <a:rPr lang="en-US" sz="2400" b="1" dirty="0">
                <a:solidFill>
                  <a:srgbClr val="007D8F"/>
                </a:solidFill>
                <a:latin typeface="Cambria" pitchFamily="34" charset="0"/>
                <a:ea typeface="Cambria" pitchFamily="34" charset="-122"/>
                <a:cs typeface="Cambria" pitchFamily="34" charset="-120"/>
              </a:rPr>
              <a:t>لماذا الآن؟ المواءمة الاستراتيجية</a:t>
            </a:r>
            <a:endParaRPr lang="en-US" sz="2400" dirty="0"/>
          </a:p>
        </p:txBody>
      </p:sp>
      <p:sp>
        <p:nvSpPr>
          <p:cNvPr id="8" name="Text 2"/>
          <p:cNvSpPr/>
          <p:nvPr/>
        </p:nvSpPr>
        <p:spPr>
          <a:xfrm>
            <a:off x="548640" y="914400"/>
            <a:ext cx="11094415" cy="320040"/>
          </a:xfrm>
          <a:prstGeom prst="rect">
            <a:avLst/>
          </a:prstGeom>
          <a:noFill/>
          <a:ln/>
        </p:spPr>
        <p:txBody>
          <a:bodyPr wrap="square" lIns="0" tIns="0" rIns="0" bIns="0" rtlCol="0" anchor="ctr"/>
          <a:lstStyle/>
          <a:p>
            <a:pPr algn="r" indent="0" marL="0">
              <a:buNone/>
            </a:pPr>
            <a:r>
              <a:rPr lang="en-US" sz="1200" i="1" dirty="0">
                <a:solidFill>
                  <a:srgbClr val="5A5F73"/>
                </a:solidFill>
                <a:latin typeface="Arial" pitchFamily="34" charset="0"/>
                <a:ea typeface="Arial" pitchFamily="34" charset="-122"/>
                <a:cs typeface="Arial" pitchFamily="34" charset="-120"/>
              </a:rPr>
              <a:t>Strategic Alignment</a:t>
            </a:r>
            <a:endParaRPr lang="en-US" sz="1200" dirty="0"/>
          </a:p>
        </p:txBody>
      </p:sp>
      <p:sp>
        <p:nvSpPr>
          <p:cNvPr id="9" name="Shape 3"/>
          <p:cNvSpPr/>
          <p:nvPr/>
        </p:nvSpPr>
        <p:spPr>
          <a:xfrm>
            <a:off x="8127797" y="1508760"/>
            <a:ext cx="3515258" cy="4114800"/>
          </a:xfrm>
          <a:prstGeom prst="roundRect">
            <a:avLst>
              <a:gd name="adj" fmla="val 2081"/>
            </a:avLst>
          </a:prstGeom>
          <a:solidFill>
            <a:srgbClr val="F2F7F8"/>
          </a:solidFill>
          <a:ln/>
        </p:spPr>
      </p:sp>
      <p:sp>
        <p:nvSpPr>
          <p:cNvPr id="10" name="Shape 4"/>
          <p:cNvSpPr/>
          <p:nvPr/>
        </p:nvSpPr>
        <p:spPr>
          <a:xfrm>
            <a:off x="9592818" y="1737360"/>
            <a:ext cx="585216" cy="585216"/>
          </a:xfrm>
          <a:prstGeom prst="ellipse">
            <a:avLst/>
          </a:prstGeom>
          <a:solidFill>
            <a:srgbClr val="007D8F"/>
          </a:solidFill>
          <a:ln/>
        </p:spPr>
      </p:sp>
      <p:sp>
        <p:nvSpPr>
          <p:cNvPr id="11" name="Text 5"/>
          <p:cNvSpPr/>
          <p:nvPr/>
        </p:nvSpPr>
        <p:spPr>
          <a:xfrm>
            <a:off x="9592818" y="1737360"/>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12" name="Text 6"/>
          <p:cNvSpPr/>
          <p:nvPr/>
        </p:nvSpPr>
        <p:spPr>
          <a:xfrm>
            <a:off x="8310677" y="2450592"/>
            <a:ext cx="3149498" cy="365760"/>
          </a:xfrm>
          <a:prstGeom prst="rect">
            <a:avLst/>
          </a:prstGeom>
          <a:noFill/>
          <a:ln/>
        </p:spPr>
        <p:txBody>
          <a:bodyPr wrap="square" rtlCol="0" anchor="ctr"/>
          <a:lstStyle/>
          <a:p>
            <a:pPr rtl="1" algn="ctr" indent="0" marL="0">
              <a:buNone/>
            </a:pPr>
            <a:r>
              <a:rPr lang="en-US" sz="1500" b="1" dirty="0">
                <a:solidFill>
                  <a:srgbClr val="005A66"/>
                </a:solidFill>
                <a:latin typeface="Cambria" pitchFamily="34" charset="0"/>
                <a:ea typeface="Cambria" pitchFamily="34" charset="-122"/>
                <a:cs typeface="Cambria" pitchFamily="34" charset="-120"/>
              </a:rPr>
              <a:t>التحول الرقمي</a:t>
            </a:r>
            <a:endParaRPr lang="en-US" sz="1500" dirty="0"/>
          </a:p>
        </p:txBody>
      </p:sp>
      <p:sp>
        <p:nvSpPr>
          <p:cNvPr id="13" name="Text 7"/>
          <p:cNvSpPr/>
          <p:nvPr/>
        </p:nvSpPr>
        <p:spPr>
          <a:xfrm>
            <a:off x="8310677" y="2788920"/>
            <a:ext cx="3149498" cy="274320"/>
          </a:xfrm>
          <a:prstGeom prst="rect">
            <a:avLst/>
          </a:prstGeom>
          <a:noFill/>
          <a:ln/>
        </p:spPr>
        <p:txBody>
          <a:bodyPr wrap="square" rtlCol="0" anchor="ctr"/>
          <a:lstStyle/>
          <a:p>
            <a:pPr algn="ctr" indent="0" marL="0">
              <a:buNone/>
            </a:pPr>
            <a:r>
              <a:rPr lang="en-US" sz="950" i="1" dirty="0">
                <a:solidFill>
                  <a:srgbClr val="007D8F"/>
                </a:solidFill>
                <a:latin typeface="Arial" pitchFamily="34" charset="0"/>
                <a:ea typeface="Arial" pitchFamily="34" charset="-122"/>
                <a:cs typeface="Arial" pitchFamily="34" charset="-120"/>
              </a:rPr>
              <a:t>Digital Transformation</a:t>
            </a:r>
            <a:endParaRPr lang="en-US" sz="950" dirty="0"/>
          </a:p>
        </p:txBody>
      </p:sp>
      <p:sp>
        <p:nvSpPr>
          <p:cNvPr id="14" name="Text 8"/>
          <p:cNvSpPr/>
          <p:nvPr/>
        </p:nvSpPr>
        <p:spPr>
          <a:xfrm>
            <a:off x="8356397" y="3200400"/>
            <a:ext cx="3058058" cy="1325880"/>
          </a:xfrm>
          <a:prstGeom prst="rect">
            <a:avLst/>
          </a:prstGeom>
          <a:noFill/>
          <a:ln/>
        </p:spPr>
        <p:txBody>
          <a:bodyPr wrap="square" rtlCol="0" anchor="t"/>
          <a:lstStyle/>
          <a:p>
            <a:pPr rtl="1" algn="r" indent="0" marL="0">
              <a:lnSpc>
                <a:spcPct val="115000"/>
              </a:lnSpc>
              <a:buNone/>
            </a:pPr>
            <a:r>
              <a:rPr lang="en-US" sz="1100" dirty="0">
                <a:solidFill>
                  <a:srgbClr val="1B1B2F"/>
                </a:solidFill>
                <a:latin typeface="Arial" pitchFamily="34" charset="0"/>
                <a:ea typeface="Arial" pitchFamily="34" charset="-122"/>
                <a:cs typeface="Arial" pitchFamily="34" charset="-120"/>
              </a:rPr>
              <a:t>مواءمة مباشرة مع تطلعات وزارة التعليم الاستراتيجية في دعم التحول الرقمي للمنظومة التعليمية</a:t>
            </a:r>
            <a:endParaRPr lang="en-US" sz="1100" dirty="0"/>
          </a:p>
        </p:txBody>
      </p:sp>
      <p:sp>
        <p:nvSpPr>
          <p:cNvPr id="15" name="Text 9"/>
          <p:cNvSpPr/>
          <p:nvPr/>
        </p:nvSpPr>
        <p:spPr>
          <a:xfrm>
            <a:off x="8356397" y="4526280"/>
            <a:ext cx="3058058" cy="960120"/>
          </a:xfrm>
          <a:prstGeom prst="rect">
            <a:avLst/>
          </a:prstGeom>
          <a:noFill/>
          <a:ln/>
        </p:spPr>
        <p:txBody>
          <a:bodyPr wrap="square" rtlCol="0" anchor="t"/>
          <a:lstStyle/>
          <a:p>
            <a:pPr algn="r" indent="0" marL="0">
              <a:lnSpc>
                <a:spcPct val="110000"/>
              </a:lnSpc>
              <a:buNone/>
            </a:pPr>
            <a:r>
              <a:rPr lang="en-US" sz="900" i="1" dirty="0">
                <a:solidFill>
                  <a:srgbClr val="5A5F73"/>
                </a:solidFill>
                <a:latin typeface="Arial" pitchFamily="34" charset="0"/>
                <a:ea typeface="Arial" pitchFamily="34" charset="-122"/>
                <a:cs typeface="Arial" pitchFamily="34" charset="-120"/>
              </a:rPr>
              <a:t>Directly aligned with the Ministry of Education's strategic vision to support the education system's digital transformation</a:t>
            </a:r>
            <a:endParaRPr lang="en-US" sz="900" dirty="0"/>
          </a:p>
        </p:txBody>
      </p:sp>
      <p:sp>
        <p:nvSpPr>
          <p:cNvPr id="16" name="Shape 10"/>
          <p:cNvSpPr/>
          <p:nvPr/>
        </p:nvSpPr>
        <p:spPr>
          <a:xfrm>
            <a:off x="4338218" y="1508760"/>
            <a:ext cx="3515258" cy="4114800"/>
          </a:xfrm>
          <a:prstGeom prst="roundRect">
            <a:avLst>
              <a:gd name="adj" fmla="val 2081"/>
            </a:avLst>
          </a:prstGeom>
          <a:solidFill>
            <a:srgbClr val="F2F7F8"/>
          </a:solidFill>
          <a:ln/>
        </p:spPr>
      </p:sp>
      <p:sp>
        <p:nvSpPr>
          <p:cNvPr id="17" name="Shape 11"/>
          <p:cNvSpPr/>
          <p:nvPr/>
        </p:nvSpPr>
        <p:spPr>
          <a:xfrm>
            <a:off x="5803240" y="1737360"/>
            <a:ext cx="585216" cy="585216"/>
          </a:xfrm>
          <a:prstGeom prst="ellipse">
            <a:avLst/>
          </a:prstGeom>
          <a:solidFill>
            <a:srgbClr val="6C279E"/>
          </a:solidFill>
          <a:ln/>
        </p:spPr>
      </p:sp>
      <p:sp>
        <p:nvSpPr>
          <p:cNvPr id="18" name="Text 12"/>
          <p:cNvSpPr/>
          <p:nvPr/>
        </p:nvSpPr>
        <p:spPr>
          <a:xfrm>
            <a:off x="5803240" y="1737360"/>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9" name="Text 13"/>
          <p:cNvSpPr/>
          <p:nvPr/>
        </p:nvSpPr>
        <p:spPr>
          <a:xfrm>
            <a:off x="4521098" y="2450592"/>
            <a:ext cx="3149498" cy="365760"/>
          </a:xfrm>
          <a:prstGeom prst="rect">
            <a:avLst/>
          </a:prstGeom>
          <a:noFill/>
          <a:ln/>
        </p:spPr>
        <p:txBody>
          <a:bodyPr wrap="square" rtlCol="0" anchor="ctr"/>
          <a:lstStyle/>
          <a:p>
            <a:pPr rtl="1" algn="ctr" indent="0" marL="0">
              <a:buNone/>
            </a:pPr>
            <a:r>
              <a:rPr lang="en-US" sz="1500" b="1" dirty="0">
                <a:solidFill>
                  <a:srgbClr val="005A66"/>
                </a:solidFill>
                <a:latin typeface="Cambria" pitchFamily="34" charset="0"/>
                <a:ea typeface="Cambria" pitchFamily="34" charset="-122"/>
                <a:cs typeface="Cambria" pitchFamily="34" charset="-120"/>
              </a:rPr>
              <a:t>جودة الحياة</a:t>
            </a:r>
            <a:endParaRPr lang="en-US" sz="1500" dirty="0"/>
          </a:p>
        </p:txBody>
      </p:sp>
      <p:sp>
        <p:nvSpPr>
          <p:cNvPr id="20" name="Text 14"/>
          <p:cNvSpPr/>
          <p:nvPr/>
        </p:nvSpPr>
        <p:spPr>
          <a:xfrm>
            <a:off x="4521098" y="2788920"/>
            <a:ext cx="3149498" cy="274320"/>
          </a:xfrm>
          <a:prstGeom prst="rect">
            <a:avLst/>
          </a:prstGeom>
          <a:noFill/>
          <a:ln/>
        </p:spPr>
        <p:txBody>
          <a:bodyPr wrap="square" rtlCol="0" anchor="ctr"/>
          <a:lstStyle/>
          <a:p>
            <a:pPr algn="ctr" indent="0" marL="0">
              <a:buNone/>
            </a:pPr>
            <a:r>
              <a:rPr lang="en-US" sz="950" i="1" dirty="0">
                <a:solidFill>
                  <a:srgbClr val="6C279E"/>
                </a:solidFill>
                <a:latin typeface="Arial" pitchFamily="34" charset="0"/>
                <a:ea typeface="Arial" pitchFamily="34" charset="-122"/>
                <a:cs typeface="Arial" pitchFamily="34" charset="-120"/>
              </a:rPr>
              <a:t>Quality of Life</a:t>
            </a:r>
            <a:endParaRPr lang="en-US" sz="950" dirty="0"/>
          </a:p>
        </p:txBody>
      </p:sp>
      <p:sp>
        <p:nvSpPr>
          <p:cNvPr id="21" name="Text 15"/>
          <p:cNvSpPr/>
          <p:nvPr/>
        </p:nvSpPr>
        <p:spPr>
          <a:xfrm>
            <a:off x="4566818" y="3200400"/>
            <a:ext cx="3058058" cy="1325880"/>
          </a:xfrm>
          <a:prstGeom prst="rect">
            <a:avLst/>
          </a:prstGeom>
          <a:noFill/>
          <a:ln/>
        </p:spPr>
        <p:txBody>
          <a:bodyPr wrap="square" rtlCol="0" anchor="t"/>
          <a:lstStyle/>
          <a:p>
            <a:pPr rtl="1" algn="r" indent="0" marL="0">
              <a:lnSpc>
                <a:spcPct val="115000"/>
              </a:lnSpc>
              <a:buNone/>
            </a:pPr>
            <a:r>
              <a:rPr lang="en-US" sz="1100" dirty="0">
                <a:solidFill>
                  <a:srgbClr val="1B1B2F"/>
                </a:solidFill>
                <a:latin typeface="Arial" pitchFamily="34" charset="0"/>
                <a:ea typeface="Arial" pitchFamily="34" charset="-122"/>
                <a:cs typeface="Arial" pitchFamily="34" charset="-120"/>
              </a:rPr>
              <a:t>يخدم مستهدفات برنامج جودة الحياة عبر تجربة تعليمية تفاعلية ومحفزة ترفع من ثقة الطالب</a:t>
            </a:r>
            <a:endParaRPr lang="en-US" sz="1100" dirty="0"/>
          </a:p>
        </p:txBody>
      </p:sp>
      <p:sp>
        <p:nvSpPr>
          <p:cNvPr id="22" name="Text 16"/>
          <p:cNvSpPr/>
          <p:nvPr/>
        </p:nvSpPr>
        <p:spPr>
          <a:xfrm>
            <a:off x="4566818" y="4526280"/>
            <a:ext cx="3058058" cy="960120"/>
          </a:xfrm>
          <a:prstGeom prst="rect">
            <a:avLst/>
          </a:prstGeom>
          <a:noFill/>
          <a:ln/>
        </p:spPr>
        <p:txBody>
          <a:bodyPr wrap="square" rtlCol="0" anchor="t"/>
          <a:lstStyle/>
          <a:p>
            <a:pPr algn="r" indent="0" marL="0">
              <a:lnSpc>
                <a:spcPct val="110000"/>
              </a:lnSpc>
              <a:buNone/>
            </a:pPr>
            <a:r>
              <a:rPr lang="en-US" sz="900" i="1" dirty="0">
                <a:solidFill>
                  <a:srgbClr val="5A5F73"/>
                </a:solidFill>
                <a:latin typeface="Arial" pitchFamily="34" charset="0"/>
                <a:ea typeface="Arial" pitchFamily="34" charset="-122"/>
                <a:cs typeface="Arial" pitchFamily="34" charset="-120"/>
              </a:rPr>
              <a:t>Serves the Quality of Life Program's goals through an interactive, motivating learning experience</a:t>
            </a:r>
            <a:endParaRPr lang="en-US" sz="900" dirty="0"/>
          </a:p>
        </p:txBody>
      </p:sp>
      <p:sp>
        <p:nvSpPr>
          <p:cNvPr id="23" name="Shape 17"/>
          <p:cNvSpPr/>
          <p:nvPr/>
        </p:nvSpPr>
        <p:spPr>
          <a:xfrm>
            <a:off x="548640" y="1508760"/>
            <a:ext cx="3515258" cy="4114800"/>
          </a:xfrm>
          <a:prstGeom prst="roundRect">
            <a:avLst>
              <a:gd name="adj" fmla="val 2081"/>
            </a:avLst>
          </a:prstGeom>
          <a:solidFill>
            <a:srgbClr val="F2F7F8"/>
          </a:solidFill>
          <a:ln/>
        </p:spPr>
      </p:sp>
      <p:sp>
        <p:nvSpPr>
          <p:cNvPr id="24" name="Shape 18"/>
          <p:cNvSpPr/>
          <p:nvPr/>
        </p:nvSpPr>
        <p:spPr>
          <a:xfrm>
            <a:off x="2013661" y="1737360"/>
            <a:ext cx="585216" cy="585216"/>
          </a:xfrm>
          <a:prstGeom prst="ellipse">
            <a:avLst/>
          </a:prstGeom>
          <a:solidFill>
            <a:srgbClr val="283373"/>
          </a:solidFill>
          <a:ln/>
        </p:spPr>
      </p:sp>
      <p:sp>
        <p:nvSpPr>
          <p:cNvPr id="25" name="Text 19"/>
          <p:cNvSpPr/>
          <p:nvPr/>
        </p:nvSpPr>
        <p:spPr>
          <a:xfrm>
            <a:off x="2013661" y="1737360"/>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26" name="Text 20"/>
          <p:cNvSpPr/>
          <p:nvPr/>
        </p:nvSpPr>
        <p:spPr>
          <a:xfrm>
            <a:off x="731520" y="2450592"/>
            <a:ext cx="3149498" cy="365760"/>
          </a:xfrm>
          <a:prstGeom prst="rect">
            <a:avLst/>
          </a:prstGeom>
          <a:noFill/>
          <a:ln/>
        </p:spPr>
        <p:txBody>
          <a:bodyPr wrap="square" rtlCol="0" anchor="ctr"/>
          <a:lstStyle/>
          <a:p>
            <a:pPr rtl="1" algn="ctr" indent="0" marL="0">
              <a:buNone/>
            </a:pPr>
            <a:r>
              <a:rPr lang="en-US" sz="1500" b="1" dirty="0">
                <a:solidFill>
                  <a:srgbClr val="005A66"/>
                </a:solidFill>
                <a:latin typeface="Cambria" pitchFamily="34" charset="0"/>
                <a:ea typeface="Cambria" pitchFamily="34" charset="-122"/>
                <a:cs typeface="Cambria" pitchFamily="34" charset="-120"/>
              </a:rPr>
              <a:t>اعتماد دولي</a:t>
            </a:r>
            <a:endParaRPr lang="en-US" sz="1500" dirty="0"/>
          </a:p>
        </p:txBody>
      </p:sp>
      <p:sp>
        <p:nvSpPr>
          <p:cNvPr id="27" name="Text 21"/>
          <p:cNvSpPr/>
          <p:nvPr/>
        </p:nvSpPr>
        <p:spPr>
          <a:xfrm>
            <a:off x="731520" y="2788920"/>
            <a:ext cx="3149498" cy="274320"/>
          </a:xfrm>
          <a:prstGeom prst="rect">
            <a:avLst/>
          </a:prstGeom>
          <a:noFill/>
          <a:ln/>
        </p:spPr>
        <p:txBody>
          <a:bodyPr wrap="square" rtlCol="0" anchor="ctr"/>
          <a:lstStyle/>
          <a:p>
            <a:pPr algn="ctr" indent="0" marL="0">
              <a:buNone/>
            </a:pPr>
            <a:r>
              <a:rPr lang="en-US" sz="950" i="1" dirty="0">
                <a:solidFill>
                  <a:srgbClr val="283373"/>
                </a:solidFill>
                <a:latin typeface="Arial" pitchFamily="34" charset="0"/>
                <a:ea typeface="Arial" pitchFamily="34" charset="-122"/>
                <a:cs typeface="Arial" pitchFamily="34" charset="-120"/>
              </a:rPr>
              <a:t>ISTE Seal — Feb 2025</a:t>
            </a:r>
            <a:endParaRPr lang="en-US" sz="950" dirty="0"/>
          </a:p>
        </p:txBody>
      </p:sp>
      <p:sp>
        <p:nvSpPr>
          <p:cNvPr id="28" name="Text 22"/>
          <p:cNvSpPr/>
          <p:nvPr/>
        </p:nvSpPr>
        <p:spPr>
          <a:xfrm>
            <a:off x="777240" y="3200400"/>
            <a:ext cx="3058058" cy="1325880"/>
          </a:xfrm>
          <a:prstGeom prst="rect">
            <a:avLst/>
          </a:prstGeom>
          <a:noFill/>
          <a:ln/>
        </p:spPr>
        <p:txBody>
          <a:bodyPr wrap="square" rtlCol="0" anchor="t"/>
          <a:lstStyle/>
          <a:p>
            <a:pPr rtl="1" algn="r" indent="0" marL="0">
              <a:lnSpc>
                <a:spcPct val="115000"/>
              </a:lnSpc>
              <a:buNone/>
            </a:pPr>
            <a:r>
              <a:rPr lang="en-US" sz="1100" dirty="0">
                <a:solidFill>
                  <a:srgbClr val="1B1B2F"/>
                </a:solidFill>
                <a:latin typeface="Arial" pitchFamily="34" charset="0"/>
                <a:ea typeface="Arial" pitchFamily="34" charset="-122"/>
                <a:cs typeface="Arial" pitchFamily="34" charset="-120"/>
              </a:rPr>
              <a:t>منصة Qubits حاصلة على ختم ISTE، اعتماد دولي مستقل يُمنح بعد مراجعة فعلية من لجنة خبراء</a:t>
            </a:r>
            <a:endParaRPr lang="en-US" sz="1100" dirty="0"/>
          </a:p>
        </p:txBody>
      </p:sp>
      <p:sp>
        <p:nvSpPr>
          <p:cNvPr id="29" name="Text 23"/>
          <p:cNvSpPr/>
          <p:nvPr/>
        </p:nvSpPr>
        <p:spPr>
          <a:xfrm>
            <a:off x="777240" y="4526280"/>
            <a:ext cx="3058058" cy="960120"/>
          </a:xfrm>
          <a:prstGeom prst="rect">
            <a:avLst/>
          </a:prstGeom>
          <a:noFill/>
          <a:ln/>
        </p:spPr>
        <p:txBody>
          <a:bodyPr wrap="square" rtlCol="0" anchor="t"/>
          <a:lstStyle/>
          <a:p>
            <a:pPr algn="r" indent="0" marL="0">
              <a:lnSpc>
                <a:spcPct val="110000"/>
              </a:lnSpc>
              <a:buNone/>
            </a:pPr>
            <a:r>
              <a:rPr lang="en-US" sz="900" i="1" dirty="0">
                <a:solidFill>
                  <a:srgbClr val="5A5F73"/>
                </a:solidFill>
                <a:latin typeface="Arial" pitchFamily="34" charset="0"/>
                <a:ea typeface="Arial" pitchFamily="34" charset="-122"/>
                <a:cs typeface="Arial" pitchFamily="34" charset="-120"/>
              </a:rPr>
              <a:t>Qubits holds the ISTE Seal, an independent international accreditation granted after expert panel review</a:t>
            </a:r>
            <a:endParaRPr lang="en-US" sz="900" dirty="0"/>
          </a:p>
        </p:txBody>
      </p:sp>
      <p:sp>
        <p:nvSpPr>
          <p:cNvPr id="30" name="Text 24"/>
          <p:cNvSpPr/>
          <p:nvPr/>
        </p:nvSpPr>
        <p:spPr>
          <a:xfrm>
            <a:off x="11551615" y="6400800"/>
            <a:ext cx="365760" cy="274320"/>
          </a:xfrm>
          <a:prstGeom prst="rect">
            <a:avLst/>
          </a:prstGeom>
          <a:noFill/>
          <a:ln/>
        </p:spPr>
        <p:txBody>
          <a:bodyPr wrap="square" rtlCol="0" anchor="ctr"/>
          <a:lstStyle/>
          <a:p>
            <a:pPr algn="r" indent="0" marL="0">
              <a:buNone/>
            </a:pPr>
            <a:r>
              <a:rPr lang="en-US" sz="1000" dirty="0">
                <a:solidFill>
                  <a:srgbClr val="5A5F73"/>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92608"/>
            <a:ext cx="2824759" cy="501091"/>
          </a:xfrm>
          <a:prstGeom prst="roundRect">
            <a:avLst>
              <a:gd name="adj" fmla="val 10949"/>
            </a:avLst>
          </a:prstGeom>
          <a:solidFill>
            <a:srgbClr val="FFFFFF"/>
          </a:solidFill>
          <a:ln w="6350">
            <a:solidFill>
              <a:srgbClr val="E3E8EA"/>
            </a:solidFill>
            <a:prstDash val="solid"/>
          </a:ln>
          <a:effectLst>
            <a:outerShdw sx="100000" sy="100000" kx="0" ky="0" algn="bl" rotWithShape="0" blurRad="50800" dist="12700" dir="5400000">
              <a:srgbClr val="888888">
                <a:alpha val="25000"/>
              </a:srgbClr>
            </a:outerShdw>
          </a:effectLst>
        </p:spPr>
      </p:sp>
      <p:pic>
        <p:nvPicPr>
          <p:cNvPr id="3" name="Image 0" descr="/home/claude/qubits_pptx/logos/trim_dar_alforsan.png">    </p:cNvPr>
          <p:cNvPicPr>
            <a:picLocks noChangeAspect="1"/>
          </p:cNvPicPr>
          <p:nvPr/>
        </p:nvPicPr>
        <p:blipFill>
          <a:blip r:embed="rId1"/>
          <a:stretch>
            <a:fillRect/>
          </a:stretch>
        </p:blipFill>
        <p:spPr>
          <a:xfrm>
            <a:off x="484632" y="387706"/>
            <a:ext cx="270802" cy="310896"/>
          </a:xfrm>
          <a:prstGeom prst="rect">
            <a:avLst/>
          </a:prstGeom>
        </p:spPr>
      </p:pic>
      <p:pic>
        <p:nvPicPr>
          <p:cNvPr id="4" name="Image 1" descr="/home/claude/qubits_pptx/logos/trim_diploma_section.png">    </p:cNvPr>
          <p:cNvPicPr>
            <a:picLocks noChangeAspect="1"/>
          </p:cNvPicPr>
          <p:nvPr/>
        </p:nvPicPr>
        <p:blipFill>
          <a:blip r:embed="rId2"/>
          <a:stretch>
            <a:fillRect/>
          </a:stretch>
        </p:blipFill>
        <p:spPr>
          <a:xfrm>
            <a:off x="846874" y="387706"/>
            <a:ext cx="253851" cy="310896"/>
          </a:xfrm>
          <a:prstGeom prst="rect">
            <a:avLst/>
          </a:prstGeom>
        </p:spPr>
      </p:pic>
      <p:pic>
        <p:nvPicPr>
          <p:cNvPr id="5" name="Image 2" descr="/home/claude/qubits_pptx/logos/trim_qubits_v4.png">    </p:cNvPr>
          <p:cNvPicPr>
            <a:picLocks noChangeAspect="1"/>
          </p:cNvPicPr>
          <p:nvPr/>
        </p:nvPicPr>
        <p:blipFill>
          <a:blip r:embed="rId3"/>
          <a:stretch>
            <a:fillRect/>
          </a:stretch>
        </p:blipFill>
        <p:spPr>
          <a:xfrm>
            <a:off x="1192164" y="387706"/>
            <a:ext cx="981777" cy="310896"/>
          </a:xfrm>
          <a:prstGeom prst="rect">
            <a:avLst/>
          </a:prstGeom>
        </p:spPr>
      </p:pic>
      <p:pic>
        <p:nvPicPr>
          <p:cNvPr id="6" name="Image 3" descr="/home/claude/qubits_pptx/logos/trim_aiaasc.png">    </p:cNvPr>
          <p:cNvPicPr>
            <a:picLocks noChangeAspect="1"/>
          </p:cNvPicPr>
          <p:nvPr/>
        </p:nvPicPr>
        <p:blipFill>
          <a:blip r:embed="rId4"/>
          <a:stretch>
            <a:fillRect/>
          </a:stretch>
        </p:blipFill>
        <p:spPr>
          <a:xfrm>
            <a:off x="2265381" y="387706"/>
            <a:ext cx="806266" cy="310896"/>
          </a:xfrm>
          <a:prstGeom prst="rect">
            <a:avLst/>
          </a:prstGeom>
        </p:spPr>
      </p:pic>
      <p:sp>
        <p:nvSpPr>
          <p:cNvPr id="7" name="Text 1"/>
          <p:cNvSpPr/>
          <p:nvPr/>
        </p:nvSpPr>
        <p:spPr>
          <a:xfrm>
            <a:off x="548640" y="438912"/>
            <a:ext cx="11094415" cy="502920"/>
          </a:xfrm>
          <a:prstGeom prst="rect">
            <a:avLst/>
          </a:prstGeom>
          <a:noFill/>
          <a:ln/>
        </p:spPr>
        <p:txBody>
          <a:bodyPr wrap="square" lIns="0" tIns="0" rIns="0" bIns="0" rtlCol="0" anchor="ctr"/>
          <a:lstStyle/>
          <a:p>
            <a:pPr rtl="1" algn="r" indent="0" marL="0">
              <a:buNone/>
            </a:pPr>
            <a:r>
              <a:rPr lang="en-US" sz="2400" b="1" dirty="0">
                <a:solidFill>
                  <a:srgbClr val="007D8F"/>
                </a:solidFill>
                <a:latin typeface="Cambria" pitchFamily="34" charset="0"/>
                <a:ea typeface="Cambria" pitchFamily="34" charset="-122"/>
                <a:cs typeface="Cambria" pitchFamily="34" charset="-120"/>
              </a:rPr>
              <a:t>الإطار التربوي المعتمد</a:t>
            </a:r>
            <a:endParaRPr lang="en-US" sz="2400" dirty="0"/>
          </a:p>
        </p:txBody>
      </p:sp>
      <p:sp>
        <p:nvSpPr>
          <p:cNvPr id="8" name="Text 2"/>
          <p:cNvSpPr/>
          <p:nvPr/>
        </p:nvSpPr>
        <p:spPr>
          <a:xfrm>
            <a:off x="548640" y="914400"/>
            <a:ext cx="11094415" cy="320040"/>
          </a:xfrm>
          <a:prstGeom prst="rect">
            <a:avLst/>
          </a:prstGeom>
          <a:noFill/>
          <a:ln/>
        </p:spPr>
        <p:txBody>
          <a:bodyPr wrap="square" lIns="0" tIns="0" rIns="0" bIns="0" rtlCol="0" anchor="ctr"/>
          <a:lstStyle/>
          <a:p>
            <a:pPr algn="r" indent="0" marL="0">
              <a:buNone/>
            </a:pPr>
            <a:r>
              <a:rPr lang="en-US" sz="1200" i="1" dirty="0">
                <a:solidFill>
                  <a:srgbClr val="5A5F73"/>
                </a:solidFill>
                <a:latin typeface="Arial" pitchFamily="34" charset="0"/>
                <a:ea typeface="Arial" pitchFamily="34" charset="-122"/>
                <a:cs typeface="Arial" pitchFamily="34" charset="-120"/>
              </a:rPr>
              <a:t>Project-Based Learning (PBL)</a:t>
            </a:r>
            <a:endParaRPr lang="en-US" sz="1200" dirty="0"/>
          </a:p>
        </p:txBody>
      </p:sp>
      <p:sp>
        <p:nvSpPr>
          <p:cNvPr id="9" name="Text 3"/>
          <p:cNvSpPr/>
          <p:nvPr/>
        </p:nvSpPr>
        <p:spPr>
          <a:xfrm>
            <a:off x="548640" y="1417320"/>
            <a:ext cx="11094415" cy="450799"/>
          </a:xfrm>
          <a:prstGeom prst="rect">
            <a:avLst/>
          </a:prstGeom>
          <a:noFill/>
          <a:ln/>
        </p:spPr>
        <p:txBody>
          <a:bodyPr wrap="square" rtlCol="0" anchor="t"/>
          <a:lstStyle/>
          <a:p>
            <a:pPr rtl="1" algn="r" indent="0" marL="0">
              <a:lnSpc>
                <a:spcPct val="115000"/>
              </a:lnSpc>
              <a:buNone/>
            </a:pPr>
            <a:r>
              <a:rPr lang="en-US" sz="1400" dirty="0">
                <a:solidFill>
                  <a:srgbClr val="1B1B2F"/>
                </a:solidFill>
                <a:latin typeface="Arial" pitchFamily="34" charset="0"/>
                <a:ea typeface="Arial" pitchFamily="34" charset="-122"/>
                <a:cs typeface="Arial" pitchFamily="34" charset="-120"/>
              </a:rPr>
              <a:t>الطالب لا “يدرس” المفهوم نظرياً فقط، بل ينتج مشروعاً ملموساً يُطبّق فيه ما تعلّمه ويُقيَّم عليه</a:t>
            </a:r>
            <a:endParaRPr lang="en-US" sz="1400" dirty="0"/>
          </a:p>
        </p:txBody>
      </p:sp>
      <p:sp>
        <p:nvSpPr>
          <p:cNvPr id="10" name="Text 4"/>
          <p:cNvSpPr/>
          <p:nvPr/>
        </p:nvSpPr>
        <p:spPr>
          <a:xfrm>
            <a:off x="548640" y="1868119"/>
            <a:ext cx="11094415" cy="326441"/>
          </a:xfrm>
          <a:prstGeom prst="rect">
            <a:avLst/>
          </a:prstGeom>
          <a:noFill/>
          <a:ln/>
        </p:spPr>
        <p:txBody>
          <a:bodyPr wrap="square" rtlCol="0" anchor="t"/>
          <a:lstStyle/>
          <a:p>
            <a:pPr algn="r" indent="0" marL="0">
              <a:lnSpc>
                <a:spcPct val="110000"/>
              </a:lnSpc>
              <a:buNone/>
            </a:pPr>
            <a:r>
              <a:rPr lang="en-US" sz="1150" i="1" dirty="0">
                <a:solidFill>
                  <a:srgbClr val="5A5F73"/>
                </a:solidFill>
                <a:latin typeface="Arial" pitchFamily="34" charset="0"/>
                <a:ea typeface="Arial" pitchFamily="34" charset="-122"/>
                <a:cs typeface="Arial" pitchFamily="34" charset="-120"/>
              </a:rPr>
              <a:t>The student does not merely “study” a concept theoretically — they produce a tangible project that applies and is assessed on what they learned</a:t>
            </a:r>
            <a:endParaRPr lang="en-US" sz="1150" dirty="0"/>
          </a:p>
        </p:txBody>
      </p:sp>
      <p:sp>
        <p:nvSpPr>
          <p:cNvPr id="11" name="Shape 5"/>
          <p:cNvSpPr/>
          <p:nvPr/>
        </p:nvSpPr>
        <p:spPr>
          <a:xfrm>
            <a:off x="1295248" y="2606040"/>
            <a:ext cx="2651760" cy="1600200"/>
          </a:xfrm>
          <a:prstGeom prst="roundRect">
            <a:avLst>
              <a:gd name="adj" fmla="val 5714"/>
            </a:avLst>
          </a:prstGeom>
          <a:solidFill>
            <a:srgbClr val="F2F7F8"/>
          </a:solidFill>
          <a:ln/>
        </p:spPr>
      </p:sp>
      <p:sp>
        <p:nvSpPr>
          <p:cNvPr id="12" name="Text 6"/>
          <p:cNvSpPr/>
          <p:nvPr/>
        </p:nvSpPr>
        <p:spPr>
          <a:xfrm>
            <a:off x="1295248" y="2715768"/>
            <a:ext cx="2651760" cy="365760"/>
          </a:xfrm>
          <a:prstGeom prst="rect">
            <a:avLst/>
          </a:prstGeom>
          <a:noFill/>
          <a:ln/>
        </p:spPr>
        <p:txBody>
          <a:bodyPr wrap="square" rtlCol="0" anchor="ctr"/>
          <a:lstStyle/>
          <a:p>
            <a:pPr algn="ctr" indent="0" marL="0">
              <a:buNone/>
            </a:pPr>
            <a:r>
              <a:rPr lang="en-US" sz="1800" b="1" dirty="0">
                <a:solidFill>
                  <a:srgbClr val="802980"/>
                </a:solidFill>
                <a:latin typeface="Arial" pitchFamily="34" charset="0"/>
                <a:ea typeface="Arial" pitchFamily="34" charset="-122"/>
                <a:cs typeface="Arial" pitchFamily="34" charset="-120"/>
              </a:rPr>
              <a:t>3</a:t>
            </a:r>
            <a:endParaRPr lang="en-US" sz="1800" dirty="0"/>
          </a:p>
        </p:txBody>
      </p:sp>
      <p:sp>
        <p:nvSpPr>
          <p:cNvPr id="13" name="Text 7"/>
          <p:cNvSpPr/>
          <p:nvPr/>
        </p:nvSpPr>
        <p:spPr>
          <a:xfrm>
            <a:off x="1432408" y="3108960"/>
            <a:ext cx="2377440" cy="411480"/>
          </a:xfrm>
          <a:prstGeom prst="rect">
            <a:avLst/>
          </a:prstGeom>
          <a:noFill/>
          <a:ln/>
        </p:spPr>
        <p:txBody>
          <a:bodyPr wrap="square" rtlCol="0" anchor="ctr"/>
          <a:lstStyle/>
          <a:p>
            <a:pPr rtl="1" algn="ctr" indent="0" marL="0">
              <a:buNone/>
            </a:pPr>
            <a:r>
              <a:rPr lang="en-US" sz="1500" b="1" dirty="0">
                <a:solidFill>
                  <a:srgbClr val="005A66"/>
                </a:solidFill>
                <a:latin typeface="Cambria" pitchFamily="34" charset="0"/>
                <a:ea typeface="Cambria" pitchFamily="34" charset="-122"/>
                <a:cs typeface="Cambria" pitchFamily="34" charset="-120"/>
              </a:rPr>
              <a:t>عرض وتقييم</a:t>
            </a:r>
            <a:endParaRPr lang="en-US" sz="1500" dirty="0"/>
          </a:p>
        </p:txBody>
      </p:sp>
      <p:sp>
        <p:nvSpPr>
          <p:cNvPr id="14" name="Text 8"/>
          <p:cNvSpPr/>
          <p:nvPr/>
        </p:nvSpPr>
        <p:spPr>
          <a:xfrm>
            <a:off x="1432408" y="3566160"/>
            <a:ext cx="2377440" cy="365760"/>
          </a:xfrm>
          <a:prstGeom prst="rect">
            <a:avLst/>
          </a:prstGeom>
          <a:noFill/>
          <a:ln/>
        </p:spPr>
        <p:txBody>
          <a:bodyPr wrap="square" rtlCol="0" anchor="ctr"/>
          <a:lstStyle/>
          <a:p>
            <a:pPr algn="ctr" indent="0" marL="0">
              <a:buNone/>
            </a:pPr>
            <a:r>
              <a:rPr lang="en-US" sz="1050" i="1" dirty="0">
                <a:solidFill>
                  <a:srgbClr val="5A5F73"/>
                </a:solidFill>
                <a:latin typeface="Arial" pitchFamily="34" charset="0"/>
                <a:ea typeface="Arial" pitchFamily="34" charset="-122"/>
                <a:cs typeface="Arial" pitchFamily="34" charset="-120"/>
              </a:rPr>
              <a:t>Present &amp; Assess</a:t>
            </a:r>
            <a:endParaRPr lang="en-US" sz="1050" dirty="0"/>
          </a:p>
        </p:txBody>
      </p:sp>
      <p:sp>
        <p:nvSpPr>
          <p:cNvPr id="15" name="Shape 9"/>
          <p:cNvSpPr/>
          <p:nvPr/>
        </p:nvSpPr>
        <p:spPr>
          <a:xfrm>
            <a:off x="4056736" y="3296412"/>
            <a:ext cx="603504" cy="219456"/>
          </a:xfrm>
          <a:prstGeom prst="leftArrow">
            <a:avLst/>
          </a:prstGeom>
          <a:solidFill>
            <a:srgbClr val="802980"/>
          </a:solidFill>
          <a:ln/>
        </p:spPr>
      </p:sp>
      <p:sp>
        <p:nvSpPr>
          <p:cNvPr id="16" name="Shape 10"/>
          <p:cNvSpPr/>
          <p:nvPr/>
        </p:nvSpPr>
        <p:spPr>
          <a:xfrm>
            <a:off x="4769968" y="2606040"/>
            <a:ext cx="2651760" cy="1600200"/>
          </a:xfrm>
          <a:prstGeom prst="roundRect">
            <a:avLst>
              <a:gd name="adj" fmla="val 5714"/>
            </a:avLst>
          </a:prstGeom>
          <a:solidFill>
            <a:srgbClr val="007D8F"/>
          </a:solidFill>
          <a:ln/>
        </p:spPr>
      </p:sp>
      <p:sp>
        <p:nvSpPr>
          <p:cNvPr id="17" name="Text 11"/>
          <p:cNvSpPr/>
          <p:nvPr/>
        </p:nvSpPr>
        <p:spPr>
          <a:xfrm>
            <a:off x="4769968" y="2715768"/>
            <a:ext cx="2651760" cy="365760"/>
          </a:xfrm>
          <a:prstGeom prst="rect">
            <a:avLst/>
          </a:prstGeom>
          <a:noFill/>
          <a:ln/>
        </p:spPr>
        <p:txBody>
          <a:bodyPr wrap="square" rtlCol="0" anchor="ctr"/>
          <a:lstStyle/>
          <a:p>
            <a:pPr algn="ctr" indent="0" marL="0">
              <a:buNone/>
            </a:pPr>
            <a:r>
              <a:rPr lang="en-US" sz="1800" b="1" dirty="0">
                <a:solidFill>
                  <a:srgbClr val="BFE3E8"/>
                </a:solidFill>
                <a:latin typeface="Arial" pitchFamily="34" charset="0"/>
                <a:ea typeface="Arial" pitchFamily="34" charset="-122"/>
                <a:cs typeface="Arial" pitchFamily="34" charset="-120"/>
              </a:rPr>
              <a:t>2</a:t>
            </a:r>
            <a:endParaRPr lang="en-US" sz="1800" dirty="0"/>
          </a:p>
        </p:txBody>
      </p:sp>
      <p:sp>
        <p:nvSpPr>
          <p:cNvPr id="18" name="Text 12"/>
          <p:cNvSpPr/>
          <p:nvPr/>
        </p:nvSpPr>
        <p:spPr>
          <a:xfrm>
            <a:off x="4907128" y="3108960"/>
            <a:ext cx="2377440" cy="411480"/>
          </a:xfrm>
          <a:prstGeom prst="rect">
            <a:avLst/>
          </a:prstGeom>
          <a:noFill/>
          <a:ln/>
        </p:spPr>
        <p:txBody>
          <a:bodyPr wrap="square" rtlCol="0" anchor="ctr"/>
          <a:lstStyle/>
          <a:p>
            <a:pPr rtl="1" algn="ctr" indent="0" marL="0">
              <a:buNone/>
            </a:pPr>
            <a:r>
              <a:rPr lang="en-US" sz="1500" b="1" dirty="0">
                <a:solidFill>
                  <a:srgbClr val="FFFFFF"/>
                </a:solidFill>
                <a:latin typeface="Cambria" pitchFamily="34" charset="0"/>
                <a:ea typeface="Cambria" pitchFamily="34" charset="-122"/>
                <a:cs typeface="Cambria" pitchFamily="34" charset="-120"/>
              </a:rPr>
              <a:t>تطبيق عملي (مشروع)</a:t>
            </a:r>
            <a:endParaRPr lang="en-US" sz="1500" dirty="0"/>
          </a:p>
        </p:txBody>
      </p:sp>
      <p:sp>
        <p:nvSpPr>
          <p:cNvPr id="19" name="Text 13"/>
          <p:cNvSpPr/>
          <p:nvPr/>
        </p:nvSpPr>
        <p:spPr>
          <a:xfrm>
            <a:off x="4907128" y="3566160"/>
            <a:ext cx="2377440" cy="365760"/>
          </a:xfrm>
          <a:prstGeom prst="rect">
            <a:avLst/>
          </a:prstGeom>
          <a:noFill/>
          <a:ln/>
        </p:spPr>
        <p:txBody>
          <a:bodyPr wrap="square" rtlCol="0" anchor="ctr"/>
          <a:lstStyle/>
          <a:p>
            <a:pPr algn="ctr" indent="0" marL="0">
              <a:buNone/>
            </a:pPr>
            <a:r>
              <a:rPr lang="en-US" sz="1050" i="1" dirty="0">
                <a:solidFill>
                  <a:srgbClr val="BFE3E8"/>
                </a:solidFill>
                <a:latin typeface="Arial" pitchFamily="34" charset="0"/>
                <a:ea typeface="Arial" pitchFamily="34" charset="-122"/>
                <a:cs typeface="Arial" pitchFamily="34" charset="-120"/>
              </a:rPr>
              <a:t>Build</a:t>
            </a:r>
            <a:endParaRPr lang="en-US" sz="1050" dirty="0"/>
          </a:p>
        </p:txBody>
      </p:sp>
      <p:sp>
        <p:nvSpPr>
          <p:cNvPr id="20" name="Shape 14"/>
          <p:cNvSpPr/>
          <p:nvPr/>
        </p:nvSpPr>
        <p:spPr>
          <a:xfrm>
            <a:off x="7531456" y="3296412"/>
            <a:ext cx="603504" cy="219456"/>
          </a:xfrm>
          <a:prstGeom prst="leftArrow">
            <a:avLst/>
          </a:prstGeom>
          <a:solidFill>
            <a:srgbClr val="802980"/>
          </a:solidFill>
          <a:ln/>
        </p:spPr>
      </p:sp>
      <p:sp>
        <p:nvSpPr>
          <p:cNvPr id="21" name="Shape 15"/>
          <p:cNvSpPr/>
          <p:nvPr/>
        </p:nvSpPr>
        <p:spPr>
          <a:xfrm>
            <a:off x="8244688" y="2606040"/>
            <a:ext cx="2651760" cy="1600200"/>
          </a:xfrm>
          <a:prstGeom prst="roundRect">
            <a:avLst>
              <a:gd name="adj" fmla="val 5714"/>
            </a:avLst>
          </a:prstGeom>
          <a:solidFill>
            <a:srgbClr val="F2F7F8"/>
          </a:solidFill>
          <a:ln/>
        </p:spPr>
      </p:sp>
      <p:sp>
        <p:nvSpPr>
          <p:cNvPr id="22" name="Text 16"/>
          <p:cNvSpPr/>
          <p:nvPr/>
        </p:nvSpPr>
        <p:spPr>
          <a:xfrm>
            <a:off x="8244688" y="2715768"/>
            <a:ext cx="2651760" cy="365760"/>
          </a:xfrm>
          <a:prstGeom prst="rect">
            <a:avLst/>
          </a:prstGeom>
          <a:noFill/>
          <a:ln/>
        </p:spPr>
        <p:txBody>
          <a:bodyPr wrap="square" rtlCol="0" anchor="ctr"/>
          <a:lstStyle/>
          <a:p>
            <a:pPr algn="ctr" indent="0" marL="0">
              <a:buNone/>
            </a:pPr>
            <a:r>
              <a:rPr lang="en-US" sz="1800" b="1" dirty="0">
                <a:solidFill>
                  <a:srgbClr val="802980"/>
                </a:solidFill>
                <a:latin typeface="Arial" pitchFamily="34" charset="0"/>
                <a:ea typeface="Arial" pitchFamily="34" charset="-122"/>
                <a:cs typeface="Arial" pitchFamily="34" charset="-120"/>
              </a:rPr>
              <a:t>1</a:t>
            </a:r>
            <a:endParaRPr lang="en-US" sz="1800" dirty="0"/>
          </a:p>
        </p:txBody>
      </p:sp>
      <p:sp>
        <p:nvSpPr>
          <p:cNvPr id="23" name="Text 17"/>
          <p:cNvSpPr/>
          <p:nvPr/>
        </p:nvSpPr>
        <p:spPr>
          <a:xfrm>
            <a:off x="8381848" y="3108960"/>
            <a:ext cx="2377440" cy="411480"/>
          </a:xfrm>
          <a:prstGeom prst="rect">
            <a:avLst/>
          </a:prstGeom>
          <a:noFill/>
          <a:ln/>
        </p:spPr>
        <p:txBody>
          <a:bodyPr wrap="square" rtlCol="0" anchor="ctr"/>
          <a:lstStyle/>
          <a:p>
            <a:pPr rtl="1" algn="ctr" indent="0" marL="0">
              <a:buNone/>
            </a:pPr>
            <a:r>
              <a:rPr lang="en-US" sz="1500" b="1" dirty="0">
                <a:solidFill>
                  <a:srgbClr val="005A66"/>
                </a:solidFill>
                <a:latin typeface="Cambria" pitchFamily="34" charset="0"/>
                <a:ea typeface="Cambria" pitchFamily="34" charset="-122"/>
                <a:cs typeface="Cambria" pitchFamily="34" charset="-120"/>
              </a:rPr>
              <a:t>تعلّم المفهوم</a:t>
            </a:r>
            <a:endParaRPr lang="en-US" sz="1500" dirty="0"/>
          </a:p>
        </p:txBody>
      </p:sp>
      <p:sp>
        <p:nvSpPr>
          <p:cNvPr id="24" name="Text 18"/>
          <p:cNvSpPr/>
          <p:nvPr/>
        </p:nvSpPr>
        <p:spPr>
          <a:xfrm>
            <a:off x="8381848" y="3566160"/>
            <a:ext cx="2377440" cy="365760"/>
          </a:xfrm>
          <a:prstGeom prst="rect">
            <a:avLst/>
          </a:prstGeom>
          <a:noFill/>
          <a:ln/>
        </p:spPr>
        <p:txBody>
          <a:bodyPr wrap="square" rtlCol="0" anchor="ctr"/>
          <a:lstStyle/>
          <a:p>
            <a:pPr algn="ctr" indent="0" marL="0">
              <a:buNone/>
            </a:pPr>
            <a:r>
              <a:rPr lang="en-US" sz="1050" i="1" dirty="0">
                <a:solidFill>
                  <a:srgbClr val="5A5F73"/>
                </a:solidFill>
                <a:latin typeface="Arial" pitchFamily="34" charset="0"/>
                <a:ea typeface="Arial" pitchFamily="34" charset="-122"/>
                <a:cs typeface="Arial" pitchFamily="34" charset="-120"/>
              </a:rPr>
              <a:t>Learn</a:t>
            </a:r>
            <a:endParaRPr lang="en-US" sz="1050" dirty="0"/>
          </a:p>
        </p:txBody>
      </p:sp>
      <p:sp>
        <p:nvSpPr>
          <p:cNvPr id="25" name="Text 19"/>
          <p:cNvSpPr/>
          <p:nvPr/>
        </p:nvSpPr>
        <p:spPr>
          <a:xfrm>
            <a:off x="548640" y="4617720"/>
            <a:ext cx="11094415" cy="477317"/>
          </a:xfrm>
          <a:prstGeom prst="rect">
            <a:avLst/>
          </a:prstGeom>
          <a:noFill/>
          <a:ln/>
        </p:spPr>
        <p:txBody>
          <a:bodyPr wrap="square" rtlCol="0" anchor="t"/>
          <a:lstStyle/>
          <a:p>
            <a:pPr rtl="1" algn="r" indent="0" marL="0">
              <a:lnSpc>
                <a:spcPct val="115000"/>
              </a:lnSpc>
              <a:buNone/>
            </a:pPr>
            <a:r>
              <a:rPr lang="en-US" sz="1150" dirty="0">
                <a:solidFill>
                  <a:srgbClr val="1B1B2F"/>
                </a:solidFill>
                <a:latin typeface="Arial" pitchFamily="34" charset="0"/>
                <a:ea typeface="Arial" pitchFamily="34" charset="-122"/>
                <a:cs typeface="Arial" pitchFamily="34" charset="-120"/>
              </a:rPr>
              <a:t>منصة Qubits LMS تتيح للطالب كتابة الأكواد وتدريب النماذج وتنفيذها مباشرة داخل بيئة سحابية واحدة</a:t>
            </a:r>
            <a:endParaRPr lang="en-US" sz="1150" dirty="0"/>
          </a:p>
        </p:txBody>
      </p:sp>
      <p:sp>
        <p:nvSpPr>
          <p:cNvPr id="26" name="Text 20"/>
          <p:cNvSpPr/>
          <p:nvPr/>
        </p:nvSpPr>
        <p:spPr>
          <a:xfrm>
            <a:off x="548640" y="5095037"/>
            <a:ext cx="11094415" cy="345643"/>
          </a:xfrm>
          <a:prstGeom prst="rect">
            <a:avLst/>
          </a:prstGeom>
          <a:noFill/>
          <a:ln/>
        </p:spPr>
        <p:txBody>
          <a:bodyPr wrap="square" rtlCol="0" anchor="t"/>
          <a:lstStyle/>
          <a:p>
            <a:pPr algn="r" indent="0" marL="0">
              <a:lnSpc>
                <a:spcPct val="110000"/>
              </a:lnSpc>
              <a:buNone/>
            </a:pPr>
            <a:r>
              <a:rPr lang="en-US" sz="1000" i="1" dirty="0">
                <a:solidFill>
                  <a:srgbClr val="5A5F73"/>
                </a:solidFill>
                <a:latin typeface="Arial" pitchFamily="34" charset="0"/>
                <a:ea typeface="Arial" pitchFamily="34" charset="-122"/>
                <a:cs typeface="Arial" pitchFamily="34" charset="-120"/>
              </a:rPr>
              <a:t>Qubits LMS lets students write code, train models, and run them directly within a single cloud environment</a:t>
            </a:r>
            <a:endParaRPr lang="en-US" sz="1000" dirty="0"/>
          </a:p>
        </p:txBody>
      </p:sp>
      <p:sp>
        <p:nvSpPr>
          <p:cNvPr id="27" name="Text 21"/>
          <p:cNvSpPr/>
          <p:nvPr/>
        </p:nvSpPr>
        <p:spPr>
          <a:xfrm>
            <a:off x="11551615" y="6400800"/>
            <a:ext cx="365760" cy="274320"/>
          </a:xfrm>
          <a:prstGeom prst="rect">
            <a:avLst/>
          </a:prstGeom>
          <a:noFill/>
          <a:ln/>
        </p:spPr>
        <p:txBody>
          <a:bodyPr wrap="square" rtlCol="0" anchor="ctr"/>
          <a:lstStyle/>
          <a:p>
            <a:pPr algn="r" indent="0" marL="0">
              <a:buNone/>
            </a:pPr>
            <a:r>
              <a:rPr lang="en-US" sz="1000" dirty="0">
                <a:solidFill>
                  <a:srgbClr val="5A5F73"/>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92608"/>
            <a:ext cx="2824759" cy="501091"/>
          </a:xfrm>
          <a:prstGeom prst="roundRect">
            <a:avLst>
              <a:gd name="adj" fmla="val 10949"/>
            </a:avLst>
          </a:prstGeom>
          <a:solidFill>
            <a:srgbClr val="FFFFFF"/>
          </a:solidFill>
          <a:ln w="6350">
            <a:solidFill>
              <a:srgbClr val="E3E8EA"/>
            </a:solidFill>
            <a:prstDash val="solid"/>
          </a:ln>
          <a:effectLst>
            <a:outerShdw sx="100000" sy="100000" kx="0" ky="0" algn="bl" rotWithShape="0" blurRad="50800" dist="12700" dir="5400000">
              <a:srgbClr val="888888">
                <a:alpha val="25000"/>
              </a:srgbClr>
            </a:outerShdw>
          </a:effectLst>
        </p:spPr>
      </p:sp>
      <p:pic>
        <p:nvPicPr>
          <p:cNvPr id="3" name="Image 0" descr="/home/claude/qubits_pptx/logos/trim_dar_alforsan.png">    </p:cNvPr>
          <p:cNvPicPr>
            <a:picLocks noChangeAspect="1"/>
          </p:cNvPicPr>
          <p:nvPr/>
        </p:nvPicPr>
        <p:blipFill>
          <a:blip r:embed="rId1"/>
          <a:stretch>
            <a:fillRect/>
          </a:stretch>
        </p:blipFill>
        <p:spPr>
          <a:xfrm>
            <a:off x="484632" y="387706"/>
            <a:ext cx="270802" cy="310896"/>
          </a:xfrm>
          <a:prstGeom prst="rect">
            <a:avLst/>
          </a:prstGeom>
        </p:spPr>
      </p:pic>
      <p:pic>
        <p:nvPicPr>
          <p:cNvPr id="4" name="Image 1" descr="/home/claude/qubits_pptx/logos/trim_diploma_section.png">    </p:cNvPr>
          <p:cNvPicPr>
            <a:picLocks noChangeAspect="1"/>
          </p:cNvPicPr>
          <p:nvPr/>
        </p:nvPicPr>
        <p:blipFill>
          <a:blip r:embed="rId2"/>
          <a:stretch>
            <a:fillRect/>
          </a:stretch>
        </p:blipFill>
        <p:spPr>
          <a:xfrm>
            <a:off x="846874" y="387706"/>
            <a:ext cx="253851" cy="310896"/>
          </a:xfrm>
          <a:prstGeom prst="rect">
            <a:avLst/>
          </a:prstGeom>
        </p:spPr>
      </p:pic>
      <p:pic>
        <p:nvPicPr>
          <p:cNvPr id="5" name="Image 2" descr="/home/claude/qubits_pptx/logos/trim_qubits_v4.png">    </p:cNvPr>
          <p:cNvPicPr>
            <a:picLocks noChangeAspect="1"/>
          </p:cNvPicPr>
          <p:nvPr/>
        </p:nvPicPr>
        <p:blipFill>
          <a:blip r:embed="rId3"/>
          <a:stretch>
            <a:fillRect/>
          </a:stretch>
        </p:blipFill>
        <p:spPr>
          <a:xfrm>
            <a:off x="1192164" y="387706"/>
            <a:ext cx="981777" cy="310896"/>
          </a:xfrm>
          <a:prstGeom prst="rect">
            <a:avLst/>
          </a:prstGeom>
        </p:spPr>
      </p:pic>
      <p:pic>
        <p:nvPicPr>
          <p:cNvPr id="6" name="Image 3" descr="/home/claude/qubits_pptx/logos/trim_aiaasc.png">    </p:cNvPr>
          <p:cNvPicPr>
            <a:picLocks noChangeAspect="1"/>
          </p:cNvPicPr>
          <p:nvPr/>
        </p:nvPicPr>
        <p:blipFill>
          <a:blip r:embed="rId4"/>
          <a:stretch>
            <a:fillRect/>
          </a:stretch>
        </p:blipFill>
        <p:spPr>
          <a:xfrm>
            <a:off x="2265381" y="387706"/>
            <a:ext cx="806266" cy="310896"/>
          </a:xfrm>
          <a:prstGeom prst="rect">
            <a:avLst/>
          </a:prstGeom>
        </p:spPr>
      </p:pic>
      <p:sp>
        <p:nvSpPr>
          <p:cNvPr id="7" name="Text 1"/>
          <p:cNvSpPr/>
          <p:nvPr/>
        </p:nvSpPr>
        <p:spPr>
          <a:xfrm>
            <a:off x="548640" y="438912"/>
            <a:ext cx="11094415" cy="502920"/>
          </a:xfrm>
          <a:prstGeom prst="rect">
            <a:avLst/>
          </a:prstGeom>
          <a:noFill/>
          <a:ln/>
        </p:spPr>
        <p:txBody>
          <a:bodyPr wrap="square" lIns="0" tIns="0" rIns="0" bIns="0" rtlCol="0" anchor="ctr"/>
          <a:lstStyle/>
          <a:p>
            <a:pPr rtl="1" algn="r" indent="0" marL="0">
              <a:buNone/>
            </a:pPr>
            <a:r>
              <a:rPr lang="en-US" sz="2400" b="1" dirty="0">
                <a:solidFill>
                  <a:srgbClr val="007D8F"/>
                </a:solidFill>
                <a:latin typeface="Cambria" pitchFamily="34" charset="0"/>
                <a:ea typeface="Cambria" pitchFamily="34" charset="-122"/>
                <a:cs typeface="Cambria" pitchFamily="34" charset="-120"/>
              </a:rPr>
              <a:t>التدرج الأكاديمي والمسارات التعليمية</a:t>
            </a:r>
            <a:endParaRPr lang="en-US" sz="2400" dirty="0"/>
          </a:p>
        </p:txBody>
      </p:sp>
      <p:sp>
        <p:nvSpPr>
          <p:cNvPr id="8" name="Text 2"/>
          <p:cNvSpPr/>
          <p:nvPr/>
        </p:nvSpPr>
        <p:spPr>
          <a:xfrm>
            <a:off x="548640" y="914400"/>
            <a:ext cx="11094415" cy="320040"/>
          </a:xfrm>
          <a:prstGeom prst="rect">
            <a:avLst/>
          </a:prstGeom>
          <a:noFill/>
          <a:ln/>
        </p:spPr>
        <p:txBody>
          <a:bodyPr wrap="square" lIns="0" tIns="0" rIns="0" bIns="0" rtlCol="0" anchor="ctr"/>
          <a:lstStyle/>
          <a:p>
            <a:pPr algn="r" indent="0" marL="0">
              <a:buNone/>
            </a:pPr>
            <a:r>
              <a:rPr lang="en-US" sz="1200" i="1" dirty="0">
                <a:solidFill>
                  <a:srgbClr val="5A5F73"/>
                </a:solidFill>
                <a:latin typeface="Arial" pitchFamily="34" charset="0"/>
                <a:ea typeface="Arial" pitchFamily="34" charset="-122"/>
                <a:cs typeface="Arial" pitchFamily="34" charset="-120"/>
              </a:rPr>
              <a:t>K-12 Academic Progression &amp; Pathways</a:t>
            </a:r>
            <a:endParaRPr lang="en-US" sz="1200" dirty="0"/>
          </a:p>
        </p:txBody>
      </p:sp>
      <p:sp>
        <p:nvSpPr>
          <p:cNvPr id="9" name="Shape 3"/>
          <p:cNvSpPr/>
          <p:nvPr/>
        </p:nvSpPr>
        <p:spPr>
          <a:xfrm>
            <a:off x="540868" y="1600200"/>
            <a:ext cx="2606040" cy="4114800"/>
          </a:xfrm>
          <a:prstGeom prst="roundRect">
            <a:avLst>
              <a:gd name="adj" fmla="val 2807"/>
            </a:avLst>
          </a:prstGeom>
          <a:solidFill>
            <a:srgbClr val="F2F7F8"/>
          </a:solidFill>
          <a:ln/>
        </p:spPr>
      </p:sp>
      <p:sp>
        <p:nvSpPr>
          <p:cNvPr id="10" name="Shape 4"/>
          <p:cNvSpPr/>
          <p:nvPr/>
        </p:nvSpPr>
        <p:spPr>
          <a:xfrm>
            <a:off x="540868" y="1600200"/>
            <a:ext cx="2606040" cy="109728"/>
          </a:xfrm>
          <a:prstGeom prst="rect">
            <a:avLst/>
          </a:prstGeom>
          <a:solidFill>
            <a:srgbClr val="802980"/>
          </a:solidFill>
          <a:ln/>
        </p:spPr>
      </p:sp>
      <p:sp>
        <p:nvSpPr>
          <p:cNvPr id="11" name="Text 5"/>
          <p:cNvSpPr/>
          <p:nvPr/>
        </p:nvSpPr>
        <p:spPr>
          <a:xfrm>
            <a:off x="540868" y="1874520"/>
            <a:ext cx="2606040" cy="594360"/>
          </a:xfrm>
          <a:prstGeom prst="rect">
            <a:avLst/>
          </a:prstGeom>
          <a:noFill/>
          <a:ln/>
        </p:spPr>
        <p:txBody>
          <a:bodyPr wrap="square" rtlCol="0" anchor="ctr"/>
          <a:lstStyle/>
          <a:p>
            <a:pPr algn="ctr" indent="0" marL="0">
              <a:buNone/>
            </a:pPr>
            <a:r>
              <a:rPr lang="en-US" sz="2600" b="1" dirty="0">
                <a:solidFill>
                  <a:srgbClr val="802980"/>
                </a:solidFill>
                <a:latin typeface="Cambria" pitchFamily="34" charset="0"/>
                <a:ea typeface="Cambria" pitchFamily="34" charset="-122"/>
                <a:cs typeface="Cambria" pitchFamily="34" charset="-120"/>
              </a:rPr>
              <a:t>9-12</a:t>
            </a:r>
            <a:endParaRPr lang="en-US" sz="2600" dirty="0"/>
          </a:p>
        </p:txBody>
      </p:sp>
      <p:sp>
        <p:nvSpPr>
          <p:cNvPr id="12" name="Text 6"/>
          <p:cNvSpPr/>
          <p:nvPr/>
        </p:nvSpPr>
        <p:spPr>
          <a:xfrm>
            <a:off x="723748" y="2651760"/>
            <a:ext cx="2240280" cy="1644091"/>
          </a:xfrm>
          <a:prstGeom prst="rect">
            <a:avLst/>
          </a:prstGeom>
          <a:noFill/>
          <a:ln/>
        </p:spPr>
        <p:txBody>
          <a:bodyPr wrap="square" rtlCol="0" anchor="t"/>
          <a:lstStyle/>
          <a:p>
            <a:pPr rtl="1" algn="ctr" indent="0" marL="0">
              <a:lnSpc>
                <a:spcPct val="115000"/>
              </a:lnSpc>
              <a:buNone/>
            </a:pPr>
            <a:r>
              <a:rPr lang="en-US" sz="1150" dirty="0">
                <a:solidFill>
                  <a:srgbClr val="1B1B2F"/>
                </a:solidFill>
                <a:latin typeface="Arial" pitchFamily="34" charset="0"/>
                <a:ea typeface="Arial" pitchFamily="34" charset="-122"/>
                <a:cs typeface="Arial" pitchFamily="34" charset="-120"/>
              </a:rPr>
              <a:t>برمجة كائنية (OOP)، علوم بيانات، وشبكات عصبية عبر PyTorch</a:t>
            </a:r>
            <a:endParaRPr lang="en-US" sz="1150" dirty="0"/>
          </a:p>
        </p:txBody>
      </p:sp>
      <p:sp>
        <p:nvSpPr>
          <p:cNvPr id="13" name="Text 7"/>
          <p:cNvSpPr/>
          <p:nvPr/>
        </p:nvSpPr>
        <p:spPr>
          <a:xfrm>
            <a:off x="723748" y="4295851"/>
            <a:ext cx="2240280" cy="1190549"/>
          </a:xfrm>
          <a:prstGeom prst="rect">
            <a:avLst/>
          </a:prstGeom>
          <a:noFill/>
          <a:ln/>
        </p:spPr>
        <p:txBody>
          <a:bodyPr wrap="square" rtlCol="0" anchor="t"/>
          <a:lstStyle/>
          <a:p>
            <a:pPr algn="l" indent="0" marL="0">
              <a:lnSpc>
                <a:spcPct val="110000"/>
              </a:lnSpc>
              <a:buNone/>
            </a:pPr>
            <a:r>
              <a:rPr lang="en-US" sz="1000" i="1" dirty="0">
                <a:solidFill>
                  <a:srgbClr val="5A5F73"/>
                </a:solidFill>
                <a:latin typeface="Arial" pitchFamily="34" charset="0"/>
                <a:ea typeface="Arial" pitchFamily="34" charset="-122"/>
                <a:cs typeface="Arial" pitchFamily="34" charset="-120"/>
              </a:rPr>
              <a:t>Object-Oriented Programming (OOP), data science, and neural networks via PyTorch</a:t>
            </a:r>
            <a:endParaRPr lang="en-US" sz="1000" dirty="0"/>
          </a:p>
        </p:txBody>
      </p:sp>
      <p:sp>
        <p:nvSpPr>
          <p:cNvPr id="14" name="Shape 8"/>
          <p:cNvSpPr/>
          <p:nvPr/>
        </p:nvSpPr>
        <p:spPr>
          <a:xfrm>
            <a:off x="3165196" y="3566160"/>
            <a:ext cx="192024" cy="182880"/>
          </a:xfrm>
          <a:prstGeom prst="leftArrow">
            <a:avLst/>
          </a:prstGeom>
          <a:solidFill>
            <a:srgbClr val="5A5F73"/>
          </a:solidFill>
          <a:ln/>
        </p:spPr>
      </p:sp>
      <p:sp>
        <p:nvSpPr>
          <p:cNvPr id="15" name="Shape 9"/>
          <p:cNvSpPr/>
          <p:nvPr/>
        </p:nvSpPr>
        <p:spPr>
          <a:xfrm>
            <a:off x="3375508" y="1600200"/>
            <a:ext cx="2606040" cy="4114800"/>
          </a:xfrm>
          <a:prstGeom prst="roundRect">
            <a:avLst>
              <a:gd name="adj" fmla="val 2807"/>
            </a:avLst>
          </a:prstGeom>
          <a:solidFill>
            <a:srgbClr val="F2F7F8"/>
          </a:solidFill>
          <a:ln/>
        </p:spPr>
      </p:sp>
      <p:sp>
        <p:nvSpPr>
          <p:cNvPr id="16" name="Shape 10"/>
          <p:cNvSpPr/>
          <p:nvPr/>
        </p:nvSpPr>
        <p:spPr>
          <a:xfrm>
            <a:off x="3375508" y="1600200"/>
            <a:ext cx="2606040" cy="109728"/>
          </a:xfrm>
          <a:prstGeom prst="rect">
            <a:avLst/>
          </a:prstGeom>
          <a:solidFill>
            <a:srgbClr val="283373"/>
          </a:solidFill>
          <a:ln/>
        </p:spPr>
      </p:sp>
      <p:sp>
        <p:nvSpPr>
          <p:cNvPr id="17" name="Text 11"/>
          <p:cNvSpPr/>
          <p:nvPr/>
        </p:nvSpPr>
        <p:spPr>
          <a:xfrm>
            <a:off x="3375508" y="1874520"/>
            <a:ext cx="2606040" cy="594360"/>
          </a:xfrm>
          <a:prstGeom prst="rect">
            <a:avLst/>
          </a:prstGeom>
          <a:noFill/>
          <a:ln/>
        </p:spPr>
        <p:txBody>
          <a:bodyPr wrap="square" rtlCol="0" anchor="ctr"/>
          <a:lstStyle/>
          <a:p>
            <a:pPr algn="ctr" indent="0" marL="0">
              <a:buNone/>
            </a:pPr>
            <a:r>
              <a:rPr lang="en-US" sz="2600" b="1" dirty="0">
                <a:solidFill>
                  <a:srgbClr val="283373"/>
                </a:solidFill>
                <a:latin typeface="Cambria" pitchFamily="34" charset="0"/>
                <a:ea typeface="Cambria" pitchFamily="34" charset="-122"/>
                <a:cs typeface="Cambria" pitchFamily="34" charset="-120"/>
              </a:rPr>
              <a:t>6-8</a:t>
            </a:r>
            <a:endParaRPr lang="en-US" sz="2600" dirty="0"/>
          </a:p>
        </p:txBody>
      </p:sp>
      <p:sp>
        <p:nvSpPr>
          <p:cNvPr id="18" name="Text 12"/>
          <p:cNvSpPr/>
          <p:nvPr/>
        </p:nvSpPr>
        <p:spPr>
          <a:xfrm>
            <a:off x="3558388" y="2651760"/>
            <a:ext cx="2240280" cy="1644091"/>
          </a:xfrm>
          <a:prstGeom prst="rect">
            <a:avLst/>
          </a:prstGeom>
          <a:noFill/>
          <a:ln/>
        </p:spPr>
        <p:txBody>
          <a:bodyPr wrap="square" rtlCol="0" anchor="t"/>
          <a:lstStyle/>
          <a:p>
            <a:pPr rtl="1" algn="ctr" indent="0" marL="0">
              <a:lnSpc>
                <a:spcPct val="115000"/>
              </a:lnSpc>
              <a:buNone/>
            </a:pPr>
            <a:r>
              <a:rPr lang="en-US" sz="1150" dirty="0">
                <a:solidFill>
                  <a:srgbClr val="1B1B2F"/>
                </a:solidFill>
                <a:latin typeface="Arial" pitchFamily="34" charset="0"/>
                <a:ea typeface="Arial" pitchFamily="34" charset="-122"/>
                <a:cs typeface="Arial" pitchFamily="34" charset="-120"/>
              </a:rPr>
              <a:t>برمجة نصية بلغة Python، هياكل بيانات، ونماذج ذكاء اصطناعي أولية</a:t>
            </a:r>
            <a:endParaRPr lang="en-US" sz="1150" dirty="0"/>
          </a:p>
        </p:txBody>
      </p:sp>
      <p:sp>
        <p:nvSpPr>
          <p:cNvPr id="19" name="Text 13"/>
          <p:cNvSpPr/>
          <p:nvPr/>
        </p:nvSpPr>
        <p:spPr>
          <a:xfrm>
            <a:off x="3558388" y="4295851"/>
            <a:ext cx="2240280" cy="1190549"/>
          </a:xfrm>
          <a:prstGeom prst="rect">
            <a:avLst/>
          </a:prstGeom>
          <a:noFill/>
          <a:ln/>
        </p:spPr>
        <p:txBody>
          <a:bodyPr wrap="square" rtlCol="0" anchor="t"/>
          <a:lstStyle/>
          <a:p>
            <a:pPr algn="l" indent="0" marL="0">
              <a:lnSpc>
                <a:spcPct val="110000"/>
              </a:lnSpc>
              <a:buNone/>
            </a:pPr>
            <a:r>
              <a:rPr lang="en-US" sz="1000" i="1" dirty="0">
                <a:solidFill>
                  <a:srgbClr val="5A5F73"/>
                </a:solidFill>
                <a:latin typeface="Arial" pitchFamily="34" charset="0"/>
                <a:ea typeface="Arial" pitchFamily="34" charset="-122"/>
                <a:cs typeface="Arial" pitchFamily="34" charset="-120"/>
              </a:rPr>
              <a:t>Text-based Python programming, data structures, and introductory AI models</a:t>
            </a:r>
            <a:endParaRPr lang="en-US" sz="1000" dirty="0"/>
          </a:p>
        </p:txBody>
      </p:sp>
      <p:sp>
        <p:nvSpPr>
          <p:cNvPr id="20" name="Shape 14"/>
          <p:cNvSpPr/>
          <p:nvPr/>
        </p:nvSpPr>
        <p:spPr>
          <a:xfrm>
            <a:off x="5999836" y="3566160"/>
            <a:ext cx="192024" cy="182880"/>
          </a:xfrm>
          <a:prstGeom prst="leftArrow">
            <a:avLst/>
          </a:prstGeom>
          <a:solidFill>
            <a:srgbClr val="5A5F73"/>
          </a:solidFill>
          <a:ln/>
        </p:spPr>
      </p:sp>
      <p:sp>
        <p:nvSpPr>
          <p:cNvPr id="21" name="Shape 15"/>
          <p:cNvSpPr/>
          <p:nvPr/>
        </p:nvSpPr>
        <p:spPr>
          <a:xfrm>
            <a:off x="6210148" y="1600200"/>
            <a:ext cx="2606040" cy="4114800"/>
          </a:xfrm>
          <a:prstGeom prst="roundRect">
            <a:avLst>
              <a:gd name="adj" fmla="val 2807"/>
            </a:avLst>
          </a:prstGeom>
          <a:solidFill>
            <a:srgbClr val="F2F7F8"/>
          </a:solidFill>
          <a:ln/>
        </p:spPr>
      </p:sp>
      <p:sp>
        <p:nvSpPr>
          <p:cNvPr id="22" name="Shape 16"/>
          <p:cNvSpPr/>
          <p:nvPr/>
        </p:nvSpPr>
        <p:spPr>
          <a:xfrm>
            <a:off x="6210148" y="1600200"/>
            <a:ext cx="2606040" cy="109728"/>
          </a:xfrm>
          <a:prstGeom prst="rect">
            <a:avLst/>
          </a:prstGeom>
          <a:solidFill>
            <a:srgbClr val="007D8F"/>
          </a:solidFill>
          <a:ln/>
        </p:spPr>
      </p:sp>
      <p:sp>
        <p:nvSpPr>
          <p:cNvPr id="23" name="Text 17"/>
          <p:cNvSpPr/>
          <p:nvPr/>
        </p:nvSpPr>
        <p:spPr>
          <a:xfrm>
            <a:off x="6210148" y="1874520"/>
            <a:ext cx="2606040" cy="594360"/>
          </a:xfrm>
          <a:prstGeom prst="rect">
            <a:avLst/>
          </a:prstGeom>
          <a:noFill/>
          <a:ln/>
        </p:spPr>
        <p:txBody>
          <a:bodyPr wrap="square" rtlCol="0" anchor="ctr"/>
          <a:lstStyle/>
          <a:p>
            <a:pPr algn="ctr" indent="0" marL="0">
              <a:buNone/>
            </a:pPr>
            <a:r>
              <a:rPr lang="en-US" sz="2600" b="1" dirty="0">
                <a:solidFill>
                  <a:srgbClr val="007D8F"/>
                </a:solidFill>
                <a:latin typeface="Cambria" pitchFamily="34" charset="0"/>
                <a:ea typeface="Cambria" pitchFamily="34" charset="-122"/>
                <a:cs typeface="Cambria" pitchFamily="34" charset="-120"/>
              </a:rPr>
              <a:t>3-5</a:t>
            </a:r>
            <a:endParaRPr lang="en-US" sz="2600" dirty="0"/>
          </a:p>
        </p:txBody>
      </p:sp>
      <p:sp>
        <p:nvSpPr>
          <p:cNvPr id="24" name="Text 18"/>
          <p:cNvSpPr/>
          <p:nvPr/>
        </p:nvSpPr>
        <p:spPr>
          <a:xfrm>
            <a:off x="6393028" y="2651760"/>
            <a:ext cx="2240280" cy="1644091"/>
          </a:xfrm>
          <a:prstGeom prst="rect">
            <a:avLst/>
          </a:prstGeom>
          <a:noFill/>
          <a:ln/>
        </p:spPr>
        <p:txBody>
          <a:bodyPr wrap="square" rtlCol="0" anchor="t"/>
          <a:lstStyle/>
          <a:p>
            <a:pPr rtl="1" algn="ctr" indent="0" marL="0">
              <a:lnSpc>
                <a:spcPct val="115000"/>
              </a:lnSpc>
              <a:buNone/>
            </a:pPr>
            <a:r>
              <a:rPr lang="en-US" sz="1150" dirty="0">
                <a:solidFill>
                  <a:srgbClr val="1B1B2F"/>
                </a:solidFill>
                <a:latin typeface="Arial" pitchFamily="34" charset="0"/>
                <a:ea typeface="Arial" pitchFamily="34" charset="-122"/>
                <a:cs typeface="Arial" pitchFamily="34" charset="-120"/>
              </a:rPr>
              <a:t>تطوير تطبيقات وبرمجة متقدمة بالكتل، مع مقدمة في تصنيف البيانات</a:t>
            </a:r>
            <a:endParaRPr lang="en-US" sz="1150" dirty="0"/>
          </a:p>
        </p:txBody>
      </p:sp>
      <p:sp>
        <p:nvSpPr>
          <p:cNvPr id="25" name="Text 19"/>
          <p:cNvSpPr/>
          <p:nvPr/>
        </p:nvSpPr>
        <p:spPr>
          <a:xfrm>
            <a:off x="6393028" y="4295851"/>
            <a:ext cx="2240280" cy="1190549"/>
          </a:xfrm>
          <a:prstGeom prst="rect">
            <a:avLst/>
          </a:prstGeom>
          <a:noFill/>
          <a:ln/>
        </p:spPr>
        <p:txBody>
          <a:bodyPr wrap="square" rtlCol="0" anchor="t"/>
          <a:lstStyle/>
          <a:p>
            <a:pPr algn="l" indent="0" marL="0">
              <a:lnSpc>
                <a:spcPct val="110000"/>
              </a:lnSpc>
              <a:buNone/>
            </a:pPr>
            <a:r>
              <a:rPr lang="en-US" sz="1000" i="1" dirty="0">
                <a:solidFill>
                  <a:srgbClr val="5A5F73"/>
                </a:solidFill>
                <a:latin typeface="Arial" pitchFamily="34" charset="0"/>
                <a:ea typeface="Arial" pitchFamily="34" charset="-122"/>
                <a:cs typeface="Arial" pitchFamily="34" charset="-120"/>
              </a:rPr>
              <a:t>App development and advanced block-based programming, with an intro to data classification</a:t>
            </a:r>
            <a:endParaRPr lang="en-US" sz="1000" dirty="0"/>
          </a:p>
        </p:txBody>
      </p:sp>
      <p:sp>
        <p:nvSpPr>
          <p:cNvPr id="26" name="Shape 20"/>
          <p:cNvSpPr/>
          <p:nvPr/>
        </p:nvSpPr>
        <p:spPr>
          <a:xfrm>
            <a:off x="8834476" y="3566160"/>
            <a:ext cx="192024" cy="182880"/>
          </a:xfrm>
          <a:prstGeom prst="leftArrow">
            <a:avLst/>
          </a:prstGeom>
          <a:solidFill>
            <a:srgbClr val="5A5F73"/>
          </a:solidFill>
          <a:ln/>
        </p:spPr>
      </p:sp>
      <p:sp>
        <p:nvSpPr>
          <p:cNvPr id="27" name="Shape 21"/>
          <p:cNvSpPr/>
          <p:nvPr/>
        </p:nvSpPr>
        <p:spPr>
          <a:xfrm>
            <a:off x="9044788" y="1600200"/>
            <a:ext cx="2606040" cy="4114800"/>
          </a:xfrm>
          <a:prstGeom prst="roundRect">
            <a:avLst>
              <a:gd name="adj" fmla="val 2807"/>
            </a:avLst>
          </a:prstGeom>
          <a:solidFill>
            <a:srgbClr val="F2F7F8"/>
          </a:solidFill>
          <a:ln/>
        </p:spPr>
      </p:sp>
      <p:sp>
        <p:nvSpPr>
          <p:cNvPr id="28" name="Shape 22"/>
          <p:cNvSpPr/>
          <p:nvPr/>
        </p:nvSpPr>
        <p:spPr>
          <a:xfrm>
            <a:off x="9044788" y="1600200"/>
            <a:ext cx="2606040" cy="109728"/>
          </a:xfrm>
          <a:prstGeom prst="rect">
            <a:avLst/>
          </a:prstGeom>
          <a:solidFill>
            <a:srgbClr val="007D8F"/>
          </a:solidFill>
          <a:ln/>
        </p:spPr>
      </p:sp>
      <p:sp>
        <p:nvSpPr>
          <p:cNvPr id="29" name="Text 23"/>
          <p:cNvSpPr/>
          <p:nvPr/>
        </p:nvSpPr>
        <p:spPr>
          <a:xfrm>
            <a:off x="9044788" y="1874520"/>
            <a:ext cx="2606040" cy="594360"/>
          </a:xfrm>
          <a:prstGeom prst="rect">
            <a:avLst/>
          </a:prstGeom>
          <a:noFill/>
          <a:ln/>
        </p:spPr>
        <p:txBody>
          <a:bodyPr wrap="square" rtlCol="0" anchor="ctr"/>
          <a:lstStyle/>
          <a:p>
            <a:pPr algn="ctr" indent="0" marL="0">
              <a:buNone/>
            </a:pPr>
            <a:r>
              <a:rPr lang="en-US" sz="2600" b="1" dirty="0">
                <a:solidFill>
                  <a:srgbClr val="007D8F"/>
                </a:solidFill>
                <a:latin typeface="Cambria" pitchFamily="34" charset="0"/>
                <a:ea typeface="Cambria" pitchFamily="34" charset="-122"/>
                <a:cs typeface="Cambria" pitchFamily="34" charset="-120"/>
              </a:rPr>
              <a:t>K-2</a:t>
            </a:r>
            <a:endParaRPr lang="en-US" sz="2600" dirty="0"/>
          </a:p>
        </p:txBody>
      </p:sp>
      <p:sp>
        <p:nvSpPr>
          <p:cNvPr id="30" name="Text 24"/>
          <p:cNvSpPr/>
          <p:nvPr/>
        </p:nvSpPr>
        <p:spPr>
          <a:xfrm>
            <a:off x="9227668" y="2651760"/>
            <a:ext cx="2240280" cy="1644091"/>
          </a:xfrm>
          <a:prstGeom prst="rect">
            <a:avLst/>
          </a:prstGeom>
          <a:noFill/>
          <a:ln/>
        </p:spPr>
        <p:txBody>
          <a:bodyPr wrap="square" rtlCol="0" anchor="t"/>
          <a:lstStyle/>
          <a:p>
            <a:pPr rtl="1" algn="ctr" indent="0" marL="0">
              <a:lnSpc>
                <a:spcPct val="115000"/>
              </a:lnSpc>
              <a:buNone/>
            </a:pPr>
            <a:r>
              <a:rPr lang="en-US" sz="1150" dirty="0">
                <a:solidFill>
                  <a:srgbClr val="1B1B2F"/>
                </a:solidFill>
                <a:latin typeface="Arial" pitchFamily="34" charset="0"/>
                <a:ea typeface="Arial" pitchFamily="34" charset="-122"/>
                <a:cs typeface="Arial" pitchFamily="34" charset="-120"/>
              </a:rPr>
              <a:t>خوارزميات بسيطة وبرمجة بالكتل المرئية لتأسيس التفكير المنطقي</a:t>
            </a:r>
            <a:endParaRPr lang="en-US" sz="1150" dirty="0"/>
          </a:p>
        </p:txBody>
      </p:sp>
      <p:sp>
        <p:nvSpPr>
          <p:cNvPr id="31" name="Text 25"/>
          <p:cNvSpPr/>
          <p:nvPr/>
        </p:nvSpPr>
        <p:spPr>
          <a:xfrm>
            <a:off x="9227668" y="4295851"/>
            <a:ext cx="2240280" cy="1190549"/>
          </a:xfrm>
          <a:prstGeom prst="rect">
            <a:avLst/>
          </a:prstGeom>
          <a:noFill/>
          <a:ln/>
        </p:spPr>
        <p:txBody>
          <a:bodyPr wrap="square" rtlCol="0" anchor="t"/>
          <a:lstStyle/>
          <a:p>
            <a:pPr algn="l" indent="0" marL="0">
              <a:lnSpc>
                <a:spcPct val="110000"/>
              </a:lnSpc>
              <a:buNone/>
            </a:pPr>
            <a:r>
              <a:rPr lang="en-US" sz="1000" i="1" dirty="0">
                <a:solidFill>
                  <a:srgbClr val="5A5F73"/>
                </a:solidFill>
                <a:latin typeface="Arial" pitchFamily="34" charset="0"/>
                <a:ea typeface="Arial" pitchFamily="34" charset="-122"/>
                <a:cs typeface="Arial" pitchFamily="34" charset="-120"/>
              </a:rPr>
              <a:t>Simple algorithms and block-based programming to build logical thinking</a:t>
            </a:r>
            <a:endParaRPr lang="en-US" sz="1000" dirty="0"/>
          </a:p>
        </p:txBody>
      </p:sp>
      <p:sp>
        <p:nvSpPr>
          <p:cNvPr id="32" name="Text 26"/>
          <p:cNvSpPr/>
          <p:nvPr/>
        </p:nvSpPr>
        <p:spPr>
          <a:xfrm>
            <a:off x="11551615" y="6400800"/>
            <a:ext cx="365760" cy="274320"/>
          </a:xfrm>
          <a:prstGeom prst="rect">
            <a:avLst/>
          </a:prstGeom>
          <a:noFill/>
          <a:ln/>
        </p:spPr>
        <p:txBody>
          <a:bodyPr wrap="square" rtlCol="0" anchor="ctr"/>
          <a:lstStyle/>
          <a:p>
            <a:pPr algn="r" indent="0" marL="0">
              <a:buNone/>
            </a:pPr>
            <a:r>
              <a:rPr lang="en-US" sz="1000" dirty="0">
                <a:solidFill>
                  <a:srgbClr val="5A5F73"/>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92608"/>
            <a:ext cx="2824759" cy="501091"/>
          </a:xfrm>
          <a:prstGeom prst="roundRect">
            <a:avLst>
              <a:gd name="adj" fmla="val 10949"/>
            </a:avLst>
          </a:prstGeom>
          <a:solidFill>
            <a:srgbClr val="FFFFFF"/>
          </a:solidFill>
          <a:ln w="6350">
            <a:solidFill>
              <a:srgbClr val="E3E8EA"/>
            </a:solidFill>
            <a:prstDash val="solid"/>
          </a:ln>
          <a:effectLst>
            <a:outerShdw sx="100000" sy="100000" kx="0" ky="0" algn="bl" rotWithShape="0" blurRad="50800" dist="12700" dir="5400000">
              <a:srgbClr val="888888">
                <a:alpha val="25000"/>
              </a:srgbClr>
            </a:outerShdw>
          </a:effectLst>
        </p:spPr>
      </p:sp>
      <p:pic>
        <p:nvPicPr>
          <p:cNvPr id="3" name="Image 0" descr="/home/claude/qubits_pptx/logos/trim_dar_alforsan.png">    </p:cNvPr>
          <p:cNvPicPr>
            <a:picLocks noChangeAspect="1"/>
          </p:cNvPicPr>
          <p:nvPr/>
        </p:nvPicPr>
        <p:blipFill>
          <a:blip r:embed="rId1"/>
          <a:stretch>
            <a:fillRect/>
          </a:stretch>
        </p:blipFill>
        <p:spPr>
          <a:xfrm>
            <a:off x="484632" y="387706"/>
            <a:ext cx="270802" cy="310896"/>
          </a:xfrm>
          <a:prstGeom prst="rect">
            <a:avLst/>
          </a:prstGeom>
        </p:spPr>
      </p:pic>
      <p:pic>
        <p:nvPicPr>
          <p:cNvPr id="4" name="Image 1" descr="/home/claude/qubits_pptx/logos/trim_diploma_section.png">    </p:cNvPr>
          <p:cNvPicPr>
            <a:picLocks noChangeAspect="1"/>
          </p:cNvPicPr>
          <p:nvPr/>
        </p:nvPicPr>
        <p:blipFill>
          <a:blip r:embed="rId2"/>
          <a:stretch>
            <a:fillRect/>
          </a:stretch>
        </p:blipFill>
        <p:spPr>
          <a:xfrm>
            <a:off x="846874" y="387706"/>
            <a:ext cx="253851" cy="310896"/>
          </a:xfrm>
          <a:prstGeom prst="rect">
            <a:avLst/>
          </a:prstGeom>
        </p:spPr>
      </p:pic>
      <p:pic>
        <p:nvPicPr>
          <p:cNvPr id="5" name="Image 2" descr="/home/claude/qubits_pptx/logos/trim_qubits_v4.png">    </p:cNvPr>
          <p:cNvPicPr>
            <a:picLocks noChangeAspect="1"/>
          </p:cNvPicPr>
          <p:nvPr/>
        </p:nvPicPr>
        <p:blipFill>
          <a:blip r:embed="rId3"/>
          <a:stretch>
            <a:fillRect/>
          </a:stretch>
        </p:blipFill>
        <p:spPr>
          <a:xfrm>
            <a:off x="1192164" y="387706"/>
            <a:ext cx="981777" cy="310896"/>
          </a:xfrm>
          <a:prstGeom prst="rect">
            <a:avLst/>
          </a:prstGeom>
        </p:spPr>
      </p:pic>
      <p:pic>
        <p:nvPicPr>
          <p:cNvPr id="6" name="Image 3" descr="/home/claude/qubits_pptx/logos/trim_aiaasc.png">    </p:cNvPr>
          <p:cNvPicPr>
            <a:picLocks noChangeAspect="1"/>
          </p:cNvPicPr>
          <p:nvPr/>
        </p:nvPicPr>
        <p:blipFill>
          <a:blip r:embed="rId4"/>
          <a:stretch>
            <a:fillRect/>
          </a:stretch>
        </p:blipFill>
        <p:spPr>
          <a:xfrm>
            <a:off x="2265381" y="387706"/>
            <a:ext cx="806266" cy="310896"/>
          </a:xfrm>
          <a:prstGeom prst="rect">
            <a:avLst/>
          </a:prstGeom>
        </p:spPr>
      </p:pic>
      <p:sp>
        <p:nvSpPr>
          <p:cNvPr id="7" name="Text 1"/>
          <p:cNvSpPr/>
          <p:nvPr/>
        </p:nvSpPr>
        <p:spPr>
          <a:xfrm>
            <a:off x="548640" y="438912"/>
            <a:ext cx="11094415" cy="502920"/>
          </a:xfrm>
          <a:prstGeom prst="rect">
            <a:avLst/>
          </a:prstGeom>
          <a:noFill/>
          <a:ln/>
        </p:spPr>
        <p:txBody>
          <a:bodyPr wrap="square" lIns="0" tIns="0" rIns="0" bIns="0" rtlCol="0" anchor="ctr"/>
          <a:lstStyle/>
          <a:p>
            <a:pPr rtl="1" algn="r" indent="0" marL="0">
              <a:buNone/>
            </a:pPr>
            <a:r>
              <a:rPr lang="en-US" sz="2400" b="1" dirty="0">
                <a:solidFill>
                  <a:srgbClr val="007D8F"/>
                </a:solidFill>
                <a:latin typeface="Cambria" pitchFamily="34" charset="0"/>
                <a:ea typeface="Cambria" pitchFamily="34" charset="-122"/>
                <a:cs typeface="Cambria" pitchFamily="34" charset="-120"/>
              </a:rPr>
              <a:t>ستة مرتكزات لقياس التحوّل</a:t>
            </a:r>
            <a:endParaRPr lang="en-US" sz="2400" dirty="0"/>
          </a:p>
        </p:txBody>
      </p:sp>
      <p:sp>
        <p:nvSpPr>
          <p:cNvPr id="8" name="Text 2"/>
          <p:cNvSpPr/>
          <p:nvPr/>
        </p:nvSpPr>
        <p:spPr>
          <a:xfrm>
            <a:off x="548640" y="914400"/>
            <a:ext cx="11094415" cy="320040"/>
          </a:xfrm>
          <a:prstGeom prst="rect">
            <a:avLst/>
          </a:prstGeom>
          <a:noFill/>
          <a:ln/>
        </p:spPr>
        <p:txBody>
          <a:bodyPr wrap="square" lIns="0" tIns="0" rIns="0" bIns="0" rtlCol="0" anchor="ctr"/>
          <a:lstStyle/>
          <a:p>
            <a:pPr algn="r" indent="0" marL="0">
              <a:buNone/>
            </a:pPr>
            <a:r>
              <a:rPr lang="en-US" sz="1200" i="1" dirty="0">
                <a:solidFill>
                  <a:srgbClr val="5A5F73"/>
                </a:solidFill>
                <a:latin typeface="Arial" pitchFamily="34" charset="0"/>
                <a:ea typeface="Arial" pitchFamily="34" charset="-122"/>
                <a:cs typeface="Arial" pitchFamily="34" charset="-120"/>
              </a:rPr>
              <a:t>Six Core Pillars</a:t>
            </a:r>
            <a:endParaRPr lang="en-US" sz="1200" dirty="0"/>
          </a:p>
        </p:txBody>
      </p:sp>
      <p:sp>
        <p:nvSpPr>
          <p:cNvPr id="9" name="Shape 3"/>
          <p:cNvSpPr/>
          <p:nvPr/>
        </p:nvSpPr>
        <p:spPr>
          <a:xfrm>
            <a:off x="380848" y="1691640"/>
            <a:ext cx="1783080" cy="3337560"/>
          </a:xfrm>
          <a:prstGeom prst="roundRect">
            <a:avLst>
              <a:gd name="adj" fmla="val 4615"/>
            </a:avLst>
          </a:prstGeom>
          <a:solidFill>
            <a:srgbClr val="F2F7F8"/>
          </a:solidFill>
          <a:ln/>
        </p:spPr>
      </p:sp>
      <p:sp>
        <p:nvSpPr>
          <p:cNvPr id="10" name="Shape 4"/>
          <p:cNvSpPr/>
          <p:nvPr/>
        </p:nvSpPr>
        <p:spPr>
          <a:xfrm>
            <a:off x="961492" y="1947672"/>
            <a:ext cx="621792" cy="621792"/>
          </a:xfrm>
          <a:prstGeom prst="ellipse">
            <a:avLst/>
          </a:prstGeom>
          <a:solidFill>
            <a:srgbClr val="802980"/>
          </a:solidFill>
          <a:ln/>
        </p:spPr>
      </p:sp>
      <p:sp>
        <p:nvSpPr>
          <p:cNvPr id="11" name="Text 5"/>
          <p:cNvSpPr/>
          <p:nvPr/>
        </p:nvSpPr>
        <p:spPr>
          <a:xfrm>
            <a:off x="961492" y="1947672"/>
            <a:ext cx="621792" cy="621792"/>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6</a:t>
            </a:r>
            <a:endParaRPr lang="en-US" sz="2000" dirty="0"/>
          </a:p>
        </p:txBody>
      </p:sp>
      <p:sp>
        <p:nvSpPr>
          <p:cNvPr id="12" name="Text 6"/>
          <p:cNvSpPr/>
          <p:nvPr/>
        </p:nvSpPr>
        <p:spPr>
          <a:xfrm>
            <a:off x="454000" y="2743200"/>
            <a:ext cx="1636776" cy="914400"/>
          </a:xfrm>
          <a:prstGeom prst="rect">
            <a:avLst/>
          </a:prstGeom>
          <a:noFill/>
          <a:ln/>
        </p:spPr>
        <p:txBody>
          <a:bodyPr wrap="square" rtlCol="0" anchor="t"/>
          <a:lstStyle/>
          <a:p>
            <a:pPr rtl="1" algn="ctr" indent="0" marL="0">
              <a:buNone/>
            </a:pPr>
            <a:r>
              <a:rPr lang="en-US" sz="1250" b="1" dirty="0">
                <a:solidFill>
                  <a:srgbClr val="005A66"/>
                </a:solidFill>
                <a:latin typeface="Cambria" pitchFamily="34" charset="0"/>
                <a:ea typeface="Cambria" pitchFamily="34" charset="-122"/>
                <a:cs typeface="Cambria" pitchFamily="34" charset="-120"/>
              </a:rPr>
              <a:t>الفن الرقمي التكاملي</a:t>
            </a:r>
            <a:endParaRPr lang="en-US" sz="1250" dirty="0"/>
          </a:p>
        </p:txBody>
      </p:sp>
      <p:sp>
        <p:nvSpPr>
          <p:cNvPr id="13" name="Text 7"/>
          <p:cNvSpPr/>
          <p:nvPr/>
        </p:nvSpPr>
        <p:spPr>
          <a:xfrm>
            <a:off x="454000" y="4480560"/>
            <a:ext cx="1636776" cy="457200"/>
          </a:xfrm>
          <a:prstGeom prst="rect">
            <a:avLst/>
          </a:prstGeom>
          <a:noFill/>
          <a:ln/>
        </p:spPr>
        <p:txBody>
          <a:bodyPr wrap="square" rtlCol="0" anchor="t"/>
          <a:lstStyle/>
          <a:p>
            <a:pPr algn="ctr" indent="0" marL="0">
              <a:buNone/>
            </a:pPr>
            <a:r>
              <a:rPr lang="en-US" sz="900" i="1" dirty="0">
                <a:solidFill>
                  <a:srgbClr val="5A5F73"/>
                </a:solidFill>
                <a:latin typeface="Arial" pitchFamily="34" charset="0"/>
                <a:ea typeface="Arial" pitchFamily="34" charset="-122"/>
                <a:cs typeface="Arial" pitchFamily="34" charset="-120"/>
              </a:rPr>
              <a:t>Integrative Digital Art</a:t>
            </a:r>
            <a:endParaRPr lang="en-US" sz="900" dirty="0"/>
          </a:p>
        </p:txBody>
      </p:sp>
      <p:sp>
        <p:nvSpPr>
          <p:cNvPr id="14" name="Shape 8"/>
          <p:cNvSpPr/>
          <p:nvPr/>
        </p:nvSpPr>
        <p:spPr>
          <a:xfrm>
            <a:off x="2310232" y="1691640"/>
            <a:ext cx="1783080" cy="3337560"/>
          </a:xfrm>
          <a:prstGeom prst="roundRect">
            <a:avLst>
              <a:gd name="adj" fmla="val 4615"/>
            </a:avLst>
          </a:prstGeom>
          <a:solidFill>
            <a:srgbClr val="F2F7F8"/>
          </a:solidFill>
          <a:ln/>
        </p:spPr>
      </p:sp>
      <p:sp>
        <p:nvSpPr>
          <p:cNvPr id="15" name="Shape 9"/>
          <p:cNvSpPr/>
          <p:nvPr/>
        </p:nvSpPr>
        <p:spPr>
          <a:xfrm>
            <a:off x="2890876" y="1947672"/>
            <a:ext cx="621792" cy="621792"/>
          </a:xfrm>
          <a:prstGeom prst="ellipse">
            <a:avLst/>
          </a:prstGeom>
          <a:solidFill>
            <a:srgbClr val="007D8F"/>
          </a:solidFill>
          <a:ln/>
        </p:spPr>
      </p:sp>
      <p:sp>
        <p:nvSpPr>
          <p:cNvPr id="16" name="Text 10"/>
          <p:cNvSpPr/>
          <p:nvPr/>
        </p:nvSpPr>
        <p:spPr>
          <a:xfrm>
            <a:off x="2890876" y="1947672"/>
            <a:ext cx="621792" cy="621792"/>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5</a:t>
            </a:r>
            <a:endParaRPr lang="en-US" sz="2000" dirty="0"/>
          </a:p>
        </p:txBody>
      </p:sp>
      <p:sp>
        <p:nvSpPr>
          <p:cNvPr id="17" name="Text 11"/>
          <p:cNvSpPr/>
          <p:nvPr/>
        </p:nvSpPr>
        <p:spPr>
          <a:xfrm>
            <a:off x="2383384" y="2743200"/>
            <a:ext cx="1636776" cy="914400"/>
          </a:xfrm>
          <a:prstGeom prst="rect">
            <a:avLst/>
          </a:prstGeom>
          <a:noFill/>
          <a:ln/>
        </p:spPr>
        <p:txBody>
          <a:bodyPr wrap="square" rtlCol="0" anchor="t"/>
          <a:lstStyle/>
          <a:p>
            <a:pPr rtl="1" algn="ctr" indent="0" marL="0">
              <a:buNone/>
            </a:pPr>
            <a:r>
              <a:rPr lang="en-US" sz="1250" b="1" dirty="0">
                <a:solidFill>
                  <a:srgbClr val="005A66"/>
                </a:solidFill>
                <a:latin typeface="Cambria" pitchFamily="34" charset="0"/>
                <a:ea typeface="Cambria" pitchFamily="34" charset="-122"/>
                <a:cs typeface="Cambria" pitchFamily="34" charset="-120"/>
              </a:rPr>
              <a:t>الأمن السيبراني</a:t>
            </a:r>
            <a:endParaRPr lang="en-US" sz="1250" dirty="0"/>
          </a:p>
        </p:txBody>
      </p:sp>
      <p:sp>
        <p:nvSpPr>
          <p:cNvPr id="18" name="Text 12"/>
          <p:cNvSpPr/>
          <p:nvPr/>
        </p:nvSpPr>
        <p:spPr>
          <a:xfrm>
            <a:off x="2383384" y="4480560"/>
            <a:ext cx="1636776" cy="457200"/>
          </a:xfrm>
          <a:prstGeom prst="rect">
            <a:avLst/>
          </a:prstGeom>
          <a:noFill/>
          <a:ln/>
        </p:spPr>
        <p:txBody>
          <a:bodyPr wrap="square" rtlCol="0" anchor="t"/>
          <a:lstStyle/>
          <a:p>
            <a:pPr algn="ctr" indent="0" marL="0">
              <a:buNone/>
            </a:pPr>
            <a:r>
              <a:rPr lang="en-US" sz="900" i="1" dirty="0">
                <a:solidFill>
                  <a:srgbClr val="5A5F73"/>
                </a:solidFill>
                <a:latin typeface="Arial" pitchFamily="34" charset="0"/>
                <a:ea typeface="Arial" pitchFamily="34" charset="-122"/>
                <a:cs typeface="Arial" pitchFamily="34" charset="-120"/>
              </a:rPr>
              <a:t>Cybersecurity</a:t>
            </a:r>
            <a:endParaRPr lang="en-US" sz="900" dirty="0"/>
          </a:p>
        </p:txBody>
      </p:sp>
      <p:sp>
        <p:nvSpPr>
          <p:cNvPr id="19" name="Shape 13"/>
          <p:cNvSpPr/>
          <p:nvPr/>
        </p:nvSpPr>
        <p:spPr>
          <a:xfrm>
            <a:off x="4239616" y="1691640"/>
            <a:ext cx="1783080" cy="3337560"/>
          </a:xfrm>
          <a:prstGeom prst="roundRect">
            <a:avLst>
              <a:gd name="adj" fmla="val 4615"/>
            </a:avLst>
          </a:prstGeom>
          <a:solidFill>
            <a:srgbClr val="F2F7F8"/>
          </a:solidFill>
          <a:ln/>
        </p:spPr>
      </p:sp>
      <p:sp>
        <p:nvSpPr>
          <p:cNvPr id="20" name="Shape 14"/>
          <p:cNvSpPr/>
          <p:nvPr/>
        </p:nvSpPr>
        <p:spPr>
          <a:xfrm>
            <a:off x="4820260" y="1947672"/>
            <a:ext cx="621792" cy="621792"/>
          </a:xfrm>
          <a:prstGeom prst="ellipse">
            <a:avLst/>
          </a:prstGeom>
          <a:solidFill>
            <a:srgbClr val="007D8F"/>
          </a:solidFill>
          <a:ln/>
        </p:spPr>
      </p:sp>
      <p:sp>
        <p:nvSpPr>
          <p:cNvPr id="21" name="Text 15"/>
          <p:cNvSpPr/>
          <p:nvPr/>
        </p:nvSpPr>
        <p:spPr>
          <a:xfrm>
            <a:off x="4820260" y="1947672"/>
            <a:ext cx="621792" cy="621792"/>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2" name="Text 16"/>
          <p:cNvSpPr/>
          <p:nvPr/>
        </p:nvSpPr>
        <p:spPr>
          <a:xfrm>
            <a:off x="4312768" y="2743200"/>
            <a:ext cx="1636776" cy="914400"/>
          </a:xfrm>
          <a:prstGeom prst="rect">
            <a:avLst/>
          </a:prstGeom>
          <a:noFill/>
          <a:ln/>
        </p:spPr>
        <p:txBody>
          <a:bodyPr wrap="square" rtlCol="0" anchor="t"/>
          <a:lstStyle/>
          <a:p>
            <a:pPr rtl="1" algn="ctr" indent="0" marL="0">
              <a:buNone/>
            </a:pPr>
            <a:r>
              <a:rPr lang="en-US" sz="1250" b="1" dirty="0">
                <a:solidFill>
                  <a:srgbClr val="005A66"/>
                </a:solidFill>
                <a:latin typeface="Cambria" pitchFamily="34" charset="0"/>
                <a:ea typeface="Cambria" pitchFamily="34" charset="-122"/>
                <a:cs typeface="Cambria" pitchFamily="34" charset="-120"/>
              </a:rPr>
              <a:t>تطوير الألعاب</a:t>
            </a:r>
            <a:endParaRPr lang="en-US" sz="1250" dirty="0"/>
          </a:p>
        </p:txBody>
      </p:sp>
      <p:sp>
        <p:nvSpPr>
          <p:cNvPr id="23" name="Text 17"/>
          <p:cNvSpPr/>
          <p:nvPr/>
        </p:nvSpPr>
        <p:spPr>
          <a:xfrm>
            <a:off x="4312768" y="4480560"/>
            <a:ext cx="1636776" cy="457200"/>
          </a:xfrm>
          <a:prstGeom prst="rect">
            <a:avLst/>
          </a:prstGeom>
          <a:noFill/>
          <a:ln/>
        </p:spPr>
        <p:txBody>
          <a:bodyPr wrap="square" rtlCol="0" anchor="t"/>
          <a:lstStyle/>
          <a:p>
            <a:pPr algn="ctr" indent="0" marL="0">
              <a:buNone/>
            </a:pPr>
            <a:r>
              <a:rPr lang="en-US" sz="900" i="1" dirty="0">
                <a:solidFill>
                  <a:srgbClr val="5A5F73"/>
                </a:solidFill>
                <a:latin typeface="Arial" pitchFamily="34" charset="0"/>
                <a:ea typeface="Arial" pitchFamily="34" charset="-122"/>
                <a:cs typeface="Arial" pitchFamily="34" charset="-120"/>
              </a:rPr>
              <a:t>Game Development</a:t>
            </a:r>
            <a:endParaRPr lang="en-US" sz="900" dirty="0"/>
          </a:p>
        </p:txBody>
      </p:sp>
      <p:sp>
        <p:nvSpPr>
          <p:cNvPr id="24" name="Shape 18"/>
          <p:cNvSpPr/>
          <p:nvPr/>
        </p:nvSpPr>
        <p:spPr>
          <a:xfrm>
            <a:off x="6169000" y="1691640"/>
            <a:ext cx="1783080" cy="3337560"/>
          </a:xfrm>
          <a:prstGeom prst="roundRect">
            <a:avLst>
              <a:gd name="adj" fmla="val 4615"/>
            </a:avLst>
          </a:prstGeom>
          <a:solidFill>
            <a:srgbClr val="F2F7F8"/>
          </a:solidFill>
          <a:ln/>
        </p:spPr>
      </p:sp>
      <p:sp>
        <p:nvSpPr>
          <p:cNvPr id="25" name="Shape 19"/>
          <p:cNvSpPr/>
          <p:nvPr/>
        </p:nvSpPr>
        <p:spPr>
          <a:xfrm>
            <a:off x="6749644" y="1947672"/>
            <a:ext cx="621792" cy="621792"/>
          </a:xfrm>
          <a:prstGeom prst="ellipse">
            <a:avLst/>
          </a:prstGeom>
          <a:solidFill>
            <a:srgbClr val="283373"/>
          </a:solidFill>
          <a:ln/>
        </p:spPr>
      </p:sp>
      <p:sp>
        <p:nvSpPr>
          <p:cNvPr id="26" name="Text 20"/>
          <p:cNvSpPr/>
          <p:nvPr/>
        </p:nvSpPr>
        <p:spPr>
          <a:xfrm>
            <a:off x="6749644" y="1947672"/>
            <a:ext cx="621792" cy="621792"/>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27" name="Text 21"/>
          <p:cNvSpPr/>
          <p:nvPr/>
        </p:nvSpPr>
        <p:spPr>
          <a:xfrm>
            <a:off x="6242152" y="2743200"/>
            <a:ext cx="1636776" cy="914400"/>
          </a:xfrm>
          <a:prstGeom prst="rect">
            <a:avLst/>
          </a:prstGeom>
          <a:noFill/>
          <a:ln/>
        </p:spPr>
        <p:txBody>
          <a:bodyPr wrap="square" rtlCol="0" anchor="t"/>
          <a:lstStyle/>
          <a:p>
            <a:pPr rtl="1" algn="ctr" indent="0" marL="0">
              <a:buNone/>
            </a:pPr>
            <a:r>
              <a:rPr lang="en-US" sz="1250" b="1" dirty="0">
                <a:solidFill>
                  <a:srgbClr val="005A66"/>
                </a:solidFill>
                <a:latin typeface="Cambria" pitchFamily="34" charset="0"/>
                <a:ea typeface="Cambria" pitchFamily="34" charset="-122"/>
                <a:cs typeface="Cambria" pitchFamily="34" charset="-120"/>
              </a:rPr>
              <a:t>الذكاء الاصطناعي المسؤول</a:t>
            </a:r>
            <a:endParaRPr lang="en-US" sz="1250" dirty="0"/>
          </a:p>
        </p:txBody>
      </p:sp>
      <p:sp>
        <p:nvSpPr>
          <p:cNvPr id="28" name="Text 22"/>
          <p:cNvSpPr/>
          <p:nvPr/>
        </p:nvSpPr>
        <p:spPr>
          <a:xfrm>
            <a:off x="6242152" y="4480560"/>
            <a:ext cx="1636776" cy="457200"/>
          </a:xfrm>
          <a:prstGeom prst="rect">
            <a:avLst/>
          </a:prstGeom>
          <a:noFill/>
          <a:ln/>
        </p:spPr>
        <p:txBody>
          <a:bodyPr wrap="square" rtlCol="0" anchor="t"/>
          <a:lstStyle/>
          <a:p>
            <a:pPr algn="ctr" indent="0" marL="0">
              <a:buNone/>
            </a:pPr>
            <a:r>
              <a:rPr lang="en-US" sz="900" i="1" dirty="0">
                <a:solidFill>
                  <a:srgbClr val="5A5F73"/>
                </a:solidFill>
                <a:latin typeface="Arial" pitchFamily="34" charset="0"/>
                <a:ea typeface="Arial" pitchFamily="34" charset="-122"/>
                <a:cs typeface="Arial" pitchFamily="34" charset="-120"/>
              </a:rPr>
              <a:t>Responsible AI / ML / CV</a:t>
            </a:r>
            <a:endParaRPr lang="en-US" sz="900" dirty="0"/>
          </a:p>
        </p:txBody>
      </p:sp>
      <p:sp>
        <p:nvSpPr>
          <p:cNvPr id="29" name="Shape 23"/>
          <p:cNvSpPr/>
          <p:nvPr/>
        </p:nvSpPr>
        <p:spPr>
          <a:xfrm>
            <a:off x="8098384" y="1691640"/>
            <a:ext cx="1783080" cy="3337560"/>
          </a:xfrm>
          <a:prstGeom prst="roundRect">
            <a:avLst>
              <a:gd name="adj" fmla="val 4615"/>
            </a:avLst>
          </a:prstGeom>
          <a:solidFill>
            <a:srgbClr val="F2F7F8"/>
          </a:solidFill>
          <a:ln/>
        </p:spPr>
      </p:sp>
      <p:sp>
        <p:nvSpPr>
          <p:cNvPr id="30" name="Shape 24"/>
          <p:cNvSpPr/>
          <p:nvPr/>
        </p:nvSpPr>
        <p:spPr>
          <a:xfrm>
            <a:off x="8679028" y="1947672"/>
            <a:ext cx="621792" cy="621792"/>
          </a:xfrm>
          <a:prstGeom prst="ellipse">
            <a:avLst/>
          </a:prstGeom>
          <a:solidFill>
            <a:srgbClr val="007D8F"/>
          </a:solidFill>
          <a:ln/>
        </p:spPr>
      </p:sp>
      <p:sp>
        <p:nvSpPr>
          <p:cNvPr id="31" name="Text 25"/>
          <p:cNvSpPr/>
          <p:nvPr/>
        </p:nvSpPr>
        <p:spPr>
          <a:xfrm>
            <a:off x="8679028" y="1947672"/>
            <a:ext cx="621792" cy="621792"/>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32" name="Text 26"/>
          <p:cNvSpPr/>
          <p:nvPr/>
        </p:nvSpPr>
        <p:spPr>
          <a:xfrm>
            <a:off x="8171536" y="2743200"/>
            <a:ext cx="1636776" cy="914400"/>
          </a:xfrm>
          <a:prstGeom prst="rect">
            <a:avLst/>
          </a:prstGeom>
          <a:noFill/>
          <a:ln/>
        </p:spPr>
        <p:txBody>
          <a:bodyPr wrap="square" rtlCol="0" anchor="t"/>
          <a:lstStyle/>
          <a:p>
            <a:pPr rtl="1" algn="ctr" indent="0" marL="0">
              <a:buNone/>
            </a:pPr>
            <a:r>
              <a:rPr lang="en-US" sz="1250" b="1" dirty="0">
                <a:solidFill>
                  <a:srgbClr val="005A66"/>
                </a:solidFill>
                <a:latin typeface="Cambria" pitchFamily="34" charset="0"/>
                <a:ea typeface="Cambria" pitchFamily="34" charset="-122"/>
                <a:cs typeface="Cambria" pitchFamily="34" charset="-120"/>
              </a:rPr>
              <a:t>الروبوتكس والميكاترونيكس</a:t>
            </a:r>
            <a:endParaRPr lang="en-US" sz="1250" dirty="0"/>
          </a:p>
        </p:txBody>
      </p:sp>
      <p:sp>
        <p:nvSpPr>
          <p:cNvPr id="33" name="Text 27"/>
          <p:cNvSpPr/>
          <p:nvPr/>
        </p:nvSpPr>
        <p:spPr>
          <a:xfrm>
            <a:off x="8171536" y="4480560"/>
            <a:ext cx="1636776" cy="457200"/>
          </a:xfrm>
          <a:prstGeom prst="rect">
            <a:avLst/>
          </a:prstGeom>
          <a:noFill/>
          <a:ln/>
        </p:spPr>
        <p:txBody>
          <a:bodyPr wrap="square" rtlCol="0" anchor="t"/>
          <a:lstStyle/>
          <a:p>
            <a:pPr algn="ctr" indent="0" marL="0">
              <a:buNone/>
            </a:pPr>
            <a:r>
              <a:rPr lang="en-US" sz="900" i="1" dirty="0">
                <a:solidFill>
                  <a:srgbClr val="5A5F73"/>
                </a:solidFill>
                <a:latin typeface="Arial" pitchFamily="34" charset="0"/>
                <a:ea typeface="Arial" pitchFamily="34" charset="-122"/>
                <a:cs typeface="Arial" pitchFamily="34" charset="-120"/>
              </a:rPr>
              <a:t>Robotics &amp; IoT</a:t>
            </a:r>
            <a:endParaRPr lang="en-US" sz="900" dirty="0"/>
          </a:p>
        </p:txBody>
      </p:sp>
      <p:sp>
        <p:nvSpPr>
          <p:cNvPr id="34" name="Shape 28"/>
          <p:cNvSpPr/>
          <p:nvPr/>
        </p:nvSpPr>
        <p:spPr>
          <a:xfrm>
            <a:off x="10027768" y="1691640"/>
            <a:ext cx="1783080" cy="3337560"/>
          </a:xfrm>
          <a:prstGeom prst="roundRect">
            <a:avLst>
              <a:gd name="adj" fmla="val 4615"/>
            </a:avLst>
          </a:prstGeom>
          <a:solidFill>
            <a:srgbClr val="F2F7F8"/>
          </a:solidFill>
          <a:ln/>
        </p:spPr>
      </p:sp>
      <p:sp>
        <p:nvSpPr>
          <p:cNvPr id="35" name="Shape 29"/>
          <p:cNvSpPr/>
          <p:nvPr/>
        </p:nvSpPr>
        <p:spPr>
          <a:xfrm>
            <a:off x="10608412" y="1947672"/>
            <a:ext cx="621792" cy="621792"/>
          </a:xfrm>
          <a:prstGeom prst="ellipse">
            <a:avLst/>
          </a:prstGeom>
          <a:solidFill>
            <a:srgbClr val="007D8F"/>
          </a:solidFill>
          <a:ln/>
        </p:spPr>
      </p:sp>
      <p:sp>
        <p:nvSpPr>
          <p:cNvPr id="36" name="Text 30"/>
          <p:cNvSpPr/>
          <p:nvPr/>
        </p:nvSpPr>
        <p:spPr>
          <a:xfrm>
            <a:off x="10608412" y="1947672"/>
            <a:ext cx="621792" cy="621792"/>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37" name="Text 31"/>
          <p:cNvSpPr/>
          <p:nvPr/>
        </p:nvSpPr>
        <p:spPr>
          <a:xfrm>
            <a:off x="10100920" y="2743200"/>
            <a:ext cx="1636776" cy="914400"/>
          </a:xfrm>
          <a:prstGeom prst="rect">
            <a:avLst/>
          </a:prstGeom>
          <a:noFill/>
          <a:ln/>
        </p:spPr>
        <p:txBody>
          <a:bodyPr wrap="square" rtlCol="0" anchor="t"/>
          <a:lstStyle/>
          <a:p>
            <a:pPr rtl="1" algn="ctr" indent="0" marL="0">
              <a:buNone/>
            </a:pPr>
            <a:r>
              <a:rPr lang="en-US" sz="1250" b="1" dirty="0">
                <a:solidFill>
                  <a:srgbClr val="005A66"/>
                </a:solidFill>
                <a:latin typeface="Cambria" pitchFamily="34" charset="0"/>
                <a:ea typeface="Cambria" pitchFamily="34" charset="-122"/>
                <a:cs typeface="Cambria" pitchFamily="34" charset="-120"/>
              </a:rPr>
              <a:t>علوم الحاسوب</a:t>
            </a:r>
            <a:endParaRPr lang="en-US" sz="1250" dirty="0"/>
          </a:p>
        </p:txBody>
      </p:sp>
      <p:sp>
        <p:nvSpPr>
          <p:cNvPr id="38" name="Text 32"/>
          <p:cNvSpPr/>
          <p:nvPr/>
        </p:nvSpPr>
        <p:spPr>
          <a:xfrm>
            <a:off x="10100920" y="4480560"/>
            <a:ext cx="1636776" cy="457200"/>
          </a:xfrm>
          <a:prstGeom prst="rect">
            <a:avLst/>
          </a:prstGeom>
          <a:noFill/>
          <a:ln/>
        </p:spPr>
        <p:txBody>
          <a:bodyPr wrap="square" rtlCol="0" anchor="t"/>
          <a:lstStyle/>
          <a:p>
            <a:pPr algn="ctr" indent="0" marL="0">
              <a:buNone/>
            </a:pPr>
            <a:r>
              <a:rPr lang="en-US" sz="900" i="1" dirty="0">
                <a:solidFill>
                  <a:srgbClr val="5A5F73"/>
                </a:solidFill>
                <a:latin typeface="Arial" pitchFamily="34" charset="0"/>
                <a:ea typeface="Arial" pitchFamily="34" charset="-122"/>
                <a:cs typeface="Arial" pitchFamily="34" charset="-120"/>
              </a:rPr>
              <a:t>CS / ICT</a:t>
            </a:r>
            <a:endParaRPr lang="en-US" sz="900" dirty="0"/>
          </a:p>
        </p:txBody>
      </p:sp>
      <p:sp>
        <p:nvSpPr>
          <p:cNvPr id="39" name="Text 33"/>
          <p:cNvSpPr/>
          <p:nvPr/>
        </p:nvSpPr>
        <p:spPr>
          <a:xfrm>
            <a:off x="11551615" y="6400800"/>
            <a:ext cx="365760" cy="274320"/>
          </a:xfrm>
          <a:prstGeom prst="rect">
            <a:avLst/>
          </a:prstGeom>
          <a:noFill/>
          <a:ln/>
        </p:spPr>
        <p:txBody>
          <a:bodyPr wrap="square" rtlCol="0" anchor="ctr"/>
          <a:lstStyle/>
          <a:p>
            <a:pPr algn="r" indent="0" marL="0">
              <a:buNone/>
            </a:pPr>
            <a:r>
              <a:rPr lang="en-US" sz="1000" dirty="0">
                <a:solidFill>
                  <a:srgbClr val="5A5F73"/>
                </a:solidFill>
                <a:latin typeface="Arial" pitchFamily="34" charset="0"/>
                <a:ea typeface="Arial" pitchFamily="34" charset="-122"/>
                <a:cs typeface="Arial"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92608"/>
            <a:ext cx="2824759" cy="501091"/>
          </a:xfrm>
          <a:prstGeom prst="roundRect">
            <a:avLst>
              <a:gd name="adj" fmla="val 10949"/>
            </a:avLst>
          </a:prstGeom>
          <a:solidFill>
            <a:srgbClr val="FFFFFF"/>
          </a:solidFill>
          <a:ln w="6350">
            <a:solidFill>
              <a:srgbClr val="E3E8EA"/>
            </a:solidFill>
            <a:prstDash val="solid"/>
          </a:ln>
          <a:effectLst>
            <a:outerShdw sx="100000" sy="100000" kx="0" ky="0" algn="bl" rotWithShape="0" blurRad="50800" dist="12700" dir="5400000">
              <a:srgbClr val="888888">
                <a:alpha val="25000"/>
              </a:srgbClr>
            </a:outerShdw>
          </a:effectLst>
        </p:spPr>
      </p:sp>
      <p:pic>
        <p:nvPicPr>
          <p:cNvPr id="3" name="Image 0" descr="/home/claude/qubits_pptx/logos/trim_dar_alforsan.png">    </p:cNvPr>
          <p:cNvPicPr>
            <a:picLocks noChangeAspect="1"/>
          </p:cNvPicPr>
          <p:nvPr/>
        </p:nvPicPr>
        <p:blipFill>
          <a:blip r:embed="rId1"/>
          <a:stretch>
            <a:fillRect/>
          </a:stretch>
        </p:blipFill>
        <p:spPr>
          <a:xfrm>
            <a:off x="484632" y="387706"/>
            <a:ext cx="270802" cy="310896"/>
          </a:xfrm>
          <a:prstGeom prst="rect">
            <a:avLst/>
          </a:prstGeom>
        </p:spPr>
      </p:pic>
      <p:pic>
        <p:nvPicPr>
          <p:cNvPr id="4" name="Image 1" descr="/home/claude/qubits_pptx/logos/trim_diploma_section.png">    </p:cNvPr>
          <p:cNvPicPr>
            <a:picLocks noChangeAspect="1"/>
          </p:cNvPicPr>
          <p:nvPr/>
        </p:nvPicPr>
        <p:blipFill>
          <a:blip r:embed="rId2"/>
          <a:stretch>
            <a:fillRect/>
          </a:stretch>
        </p:blipFill>
        <p:spPr>
          <a:xfrm>
            <a:off x="846874" y="387706"/>
            <a:ext cx="253851" cy="310896"/>
          </a:xfrm>
          <a:prstGeom prst="rect">
            <a:avLst/>
          </a:prstGeom>
        </p:spPr>
      </p:pic>
      <p:pic>
        <p:nvPicPr>
          <p:cNvPr id="5" name="Image 2" descr="/home/claude/qubits_pptx/logos/trim_qubits_v4.png">    </p:cNvPr>
          <p:cNvPicPr>
            <a:picLocks noChangeAspect="1"/>
          </p:cNvPicPr>
          <p:nvPr/>
        </p:nvPicPr>
        <p:blipFill>
          <a:blip r:embed="rId3"/>
          <a:stretch>
            <a:fillRect/>
          </a:stretch>
        </p:blipFill>
        <p:spPr>
          <a:xfrm>
            <a:off x="1192164" y="387706"/>
            <a:ext cx="981777" cy="310896"/>
          </a:xfrm>
          <a:prstGeom prst="rect">
            <a:avLst/>
          </a:prstGeom>
        </p:spPr>
      </p:pic>
      <p:pic>
        <p:nvPicPr>
          <p:cNvPr id="6" name="Image 3" descr="/home/claude/qubits_pptx/logos/trim_aiaasc.png">    </p:cNvPr>
          <p:cNvPicPr>
            <a:picLocks noChangeAspect="1"/>
          </p:cNvPicPr>
          <p:nvPr/>
        </p:nvPicPr>
        <p:blipFill>
          <a:blip r:embed="rId4"/>
          <a:stretch>
            <a:fillRect/>
          </a:stretch>
        </p:blipFill>
        <p:spPr>
          <a:xfrm>
            <a:off x="2265381" y="387706"/>
            <a:ext cx="806266" cy="310896"/>
          </a:xfrm>
          <a:prstGeom prst="rect">
            <a:avLst/>
          </a:prstGeom>
        </p:spPr>
      </p:pic>
      <p:sp>
        <p:nvSpPr>
          <p:cNvPr id="7" name="Text 1"/>
          <p:cNvSpPr/>
          <p:nvPr/>
        </p:nvSpPr>
        <p:spPr>
          <a:xfrm>
            <a:off x="548640" y="438912"/>
            <a:ext cx="11094415" cy="502920"/>
          </a:xfrm>
          <a:prstGeom prst="rect">
            <a:avLst/>
          </a:prstGeom>
          <a:noFill/>
          <a:ln/>
        </p:spPr>
        <p:txBody>
          <a:bodyPr wrap="square" lIns="0" tIns="0" rIns="0" bIns="0" rtlCol="0" anchor="ctr"/>
          <a:lstStyle/>
          <a:p>
            <a:pPr rtl="1" algn="r" indent="0" marL="0">
              <a:buNone/>
            </a:pPr>
            <a:r>
              <a:rPr lang="en-US" sz="2400" b="1" dirty="0">
                <a:solidFill>
                  <a:srgbClr val="007D8F"/>
                </a:solidFill>
                <a:latin typeface="Cambria" pitchFamily="34" charset="0"/>
                <a:ea typeface="Cambria" pitchFamily="34" charset="-122"/>
                <a:cs typeface="Cambria" pitchFamily="34" charset="-120"/>
              </a:rPr>
              <a:t>مخرجات قابلة للقياس  (1 - 3)</a:t>
            </a:r>
            <a:endParaRPr lang="en-US" sz="2400" dirty="0"/>
          </a:p>
        </p:txBody>
      </p:sp>
      <p:sp>
        <p:nvSpPr>
          <p:cNvPr id="8" name="Text 2"/>
          <p:cNvSpPr/>
          <p:nvPr/>
        </p:nvSpPr>
        <p:spPr>
          <a:xfrm>
            <a:off x="548640" y="914400"/>
            <a:ext cx="11094415" cy="320040"/>
          </a:xfrm>
          <a:prstGeom prst="rect">
            <a:avLst/>
          </a:prstGeom>
          <a:noFill/>
          <a:ln/>
        </p:spPr>
        <p:txBody>
          <a:bodyPr wrap="square" lIns="0" tIns="0" rIns="0" bIns="0" rtlCol="0" anchor="ctr"/>
          <a:lstStyle/>
          <a:p>
            <a:pPr algn="r" indent="0" marL="0">
              <a:buNone/>
            </a:pPr>
            <a:r>
              <a:rPr lang="en-US" sz="1200" i="1" dirty="0">
                <a:solidFill>
                  <a:srgbClr val="5A5F73"/>
                </a:solidFill>
                <a:latin typeface="Arial" pitchFamily="34" charset="0"/>
                <a:ea typeface="Arial" pitchFamily="34" charset="-122"/>
                <a:cs typeface="Arial" pitchFamily="34" charset="-120"/>
              </a:rPr>
              <a:t>Measurable Learning Outcomes (1-3)</a:t>
            </a:r>
            <a:endParaRPr lang="en-US" sz="1200" dirty="0"/>
          </a:p>
        </p:txBody>
      </p:sp>
      <p:sp>
        <p:nvSpPr>
          <p:cNvPr id="9" name="Shape 3"/>
          <p:cNvSpPr/>
          <p:nvPr/>
        </p:nvSpPr>
        <p:spPr>
          <a:xfrm>
            <a:off x="548640" y="1417320"/>
            <a:ext cx="11094415" cy="1533144"/>
          </a:xfrm>
          <a:prstGeom prst="roundRect">
            <a:avLst>
              <a:gd name="adj" fmla="val 4175"/>
            </a:avLst>
          </a:prstGeom>
          <a:solidFill>
            <a:srgbClr val="F2F7F8"/>
          </a:solidFill>
          <a:ln/>
        </p:spPr>
      </p:sp>
      <p:sp>
        <p:nvSpPr>
          <p:cNvPr id="10" name="Shape 4"/>
          <p:cNvSpPr/>
          <p:nvPr/>
        </p:nvSpPr>
        <p:spPr>
          <a:xfrm>
            <a:off x="11231575" y="1946148"/>
            <a:ext cx="475488" cy="475488"/>
          </a:xfrm>
          <a:prstGeom prst="ellipse">
            <a:avLst/>
          </a:prstGeom>
          <a:solidFill>
            <a:srgbClr val="007D8F"/>
          </a:solidFill>
          <a:ln/>
        </p:spPr>
      </p:sp>
      <p:sp>
        <p:nvSpPr>
          <p:cNvPr id="11" name="Text 5"/>
          <p:cNvSpPr/>
          <p:nvPr/>
        </p:nvSpPr>
        <p:spPr>
          <a:xfrm>
            <a:off x="11231575" y="194614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6"/>
          <p:cNvSpPr/>
          <p:nvPr/>
        </p:nvSpPr>
        <p:spPr>
          <a:xfrm>
            <a:off x="4206240" y="1490472"/>
            <a:ext cx="7253935" cy="292608"/>
          </a:xfrm>
          <a:prstGeom prst="rect">
            <a:avLst/>
          </a:prstGeom>
          <a:noFill/>
          <a:ln/>
        </p:spPr>
        <p:txBody>
          <a:bodyPr wrap="square" lIns="0" tIns="0" rIns="0" bIns="0" rtlCol="0" anchor="ctr"/>
          <a:lstStyle/>
          <a:p>
            <a:pPr rtl="1" algn="r" indent="0" marL="0">
              <a:buNone/>
            </a:pPr>
            <a:r>
              <a:rPr lang="en-US" sz="1250" b="1" dirty="0">
                <a:solidFill>
                  <a:srgbClr val="005A66"/>
                </a:solidFill>
                <a:latin typeface="Cambria" pitchFamily="34" charset="0"/>
                <a:ea typeface="Cambria" pitchFamily="34" charset="-122"/>
                <a:cs typeface="Cambria" pitchFamily="34" charset="-120"/>
              </a:rPr>
              <a:t>علوم الحاسوب  (Computer Science / ICT)</a:t>
            </a:r>
            <a:endParaRPr lang="en-US" sz="1250" dirty="0"/>
          </a:p>
        </p:txBody>
      </p:sp>
      <p:sp>
        <p:nvSpPr>
          <p:cNvPr id="13" name="Text 7"/>
          <p:cNvSpPr/>
          <p:nvPr/>
        </p:nvSpPr>
        <p:spPr>
          <a:xfrm>
            <a:off x="777240" y="1801368"/>
            <a:ext cx="7071055" cy="624048"/>
          </a:xfrm>
          <a:prstGeom prst="rect">
            <a:avLst/>
          </a:prstGeom>
          <a:noFill/>
          <a:ln/>
        </p:spPr>
        <p:txBody>
          <a:bodyPr wrap="square" rtlCol="0" anchor="t"/>
          <a:lstStyle/>
          <a:p>
            <a:pPr rtl="1" algn="r" indent="0" marL="0">
              <a:lnSpc>
                <a:spcPct val="115000"/>
              </a:lnSpc>
              <a:buNone/>
            </a:pPr>
            <a:r>
              <a:rPr lang="en-US" sz="1000" dirty="0">
                <a:solidFill>
                  <a:srgbClr val="1B1B2F"/>
                </a:solidFill>
                <a:latin typeface="Arial" pitchFamily="34" charset="0"/>
                <a:ea typeface="Arial" pitchFamily="34" charset="-122"/>
                <a:cs typeface="Arial" pitchFamily="34" charset="-120"/>
              </a:rPr>
              <a:t>مخرج قابل للقياس: الطالب يصمم وينفّذ مشروعاً برمجياً كاملاً بلغة مناسبة لمرحلته (Block-based ← Python)، ويعرضه أمام زملائه</a:t>
            </a:r>
            <a:endParaRPr lang="en-US" sz="1000" dirty="0"/>
          </a:p>
        </p:txBody>
      </p:sp>
      <p:sp>
        <p:nvSpPr>
          <p:cNvPr id="14" name="Text 8"/>
          <p:cNvSpPr/>
          <p:nvPr/>
        </p:nvSpPr>
        <p:spPr>
          <a:xfrm>
            <a:off x="777240" y="2425416"/>
            <a:ext cx="7071055" cy="451896"/>
          </a:xfrm>
          <a:prstGeom prst="rect">
            <a:avLst/>
          </a:prstGeom>
          <a:noFill/>
          <a:ln/>
        </p:spPr>
        <p:txBody>
          <a:bodyPr wrap="square" rtlCol="0" anchor="t"/>
          <a:lstStyle/>
          <a:p>
            <a:pPr algn="r" indent="0" marL="0">
              <a:lnSpc>
                <a:spcPct val="110000"/>
              </a:lnSpc>
              <a:buNone/>
            </a:pPr>
            <a:r>
              <a:rPr lang="en-US" sz="850" i="1" dirty="0">
                <a:solidFill>
                  <a:srgbClr val="5A5F73"/>
                </a:solidFill>
                <a:latin typeface="Arial" pitchFamily="34" charset="0"/>
                <a:ea typeface="Arial" pitchFamily="34" charset="-122"/>
                <a:cs typeface="Arial" pitchFamily="34" charset="-120"/>
              </a:rPr>
              <a:t>Measurable outcome: the student designs and implements a complete software project in a stage-appropriate language (Block-based → Python), presented to peers</a:t>
            </a:r>
            <a:endParaRPr lang="en-US" sz="850" dirty="0"/>
          </a:p>
        </p:txBody>
      </p:sp>
      <p:sp>
        <p:nvSpPr>
          <p:cNvPr id="15" name="Shape 9"/>
          <p:cNvSpPr/>
          <p:nvPr/>
        </p:nvSpPr>
        <p:spPr>
          <a:xfrm>
            <a:off x="548640" y="3078480"/>
            <a:ext cx="11094415" cy="1533144"/>
          </a:xfrm>
          <a:prstGeom prst="roundRect">
            <a:avLst>
              <a:gd name="adj" fmla="val 4175"/>
            </a:avLst>
          </a:prstGeom>
          <a:solidFill>
            <a:srgbClr val="F2F7F8"/>
          </a:solidFill>
          <a:ln/>
        </p:spPr>
      </p:sp>
      <p:sp>
        <p:nvSpPr>
          <p:cNvPr id="16" name="Shape 10"/>
          <p:cNvSpPr/>
          <p:nvPr/>
        </p:nvSpPr>
        <p:spPr>
          <a:xfrm>
            <a:off x="11231575" y="3607308"/>
            <a:ext cx="475488" cy="475488"/>
          </a:xfrm>
          <a:prstGeom prst="ellipse">
            <a:avLst/>
          </a:prstGeom>
          <a:solidFill>
            <a:srgbClr val="007D8F"/>
          </a:solidFill>
          <a:ln/>
        </p:spPr>
      </p:sp>
      <p:sp>
        <p:nvSpPr>
          <p:cNvPr id="17" name="Text 11"/>
          <p:cNvSpPr/>
          <p:nvPr/>
        </p:nvSpPr>
        <p:spPr>
          <a:xfrm>
            <a:off x="11231575" y="360730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8" name="Text 12"/>
          <p:cNvSpPr/>
          <p:nvPr/>
        </p:nvSpPr>
        <p:spPr>
          <a:xfrm>
            <a:off x="4206240" y="3151632"/>
            <a:ext cx="7253935" cy="292608"/>
          </a:xfrm>
          <a:prstGeom prst="rect">
            <a:avLst/>
          </a:prstGeom>
          <a:noFill/>
          <a:ln/>
        </p:spPr>
        <p:txBody>
          <a:bodyPr wrap="square" lIns="0" tIns="0" rIns="0" bIns="0" rtlCol="0" anchor="ctr"/>
          <a:lstStyle/>
          <a:p>
            <a:pPr rtl="1" algn="r" indent="0" marL="0">
              <a:buNone/>
            </a:pPr>
            <a:r>
              <a:rPr lang="en-US" sz="1250" b="1" dirty="0">
                <a:solidFill>
                  <a:srgbClr val="005A66"/>
                </a:solidFill>
                <a:latin typeface="Cambria" pitchFamily="34" charset="0"/>
                <a:ea typeface="Cambria" pitchFamily="34" charset="-122"/>
                <a:cs typeface="Cambria" pitchFamily="34" charset="-120"/>
              </a:rPr>
              <a:t>الروبوتكس والميكاترونيكس ضمن إنترنت الأشياء  (Robotics &amp; Mechatronics / IoT)</a:t>
            </a:r>
            <a:endParaRPr lang="en-US" sz="1250" dirty="0"/>
          </a:p>
        </p:txBody>
      </p:sp>
      <p:sp>
        <p:nvSpPr>
          <p:cNvPr id="19" name="Text 13"/>
          <p:cNvSpPr/>
          <p:nvPr/>
        </p:nvSpPr>
        <p:spPr>
          <a:xfrm>
            <a:off x="777240" y="3462528"/>
            <a:ext cx="7071055" cy="624048"/>
          </a:xfrm>
          <a:prstGeom prst="rect">
            <a:avLst/>
          </a:prstGeom>
          <a:noFill/>
          <a:ln/>
        </p:spPr>
        <p:txBody>
          <a:bodyPr wrap="square" rtlCol="0" anchor="t"/>
          <a:lstStyle/>
          <a:p>
            <a:pPr rtl="1" algn="r" indent="0" marL="0">
              <a:lnSpc>
                <a:spcPct val="115000"/>
              </a:lnSpc>
              <a:buNone/>
            </a:pPr>
            <a:r>
              <a:rPr lang="en-US" sz="1000" dirty="0">
                <a:solidFill>
                  <a:srgbClr val="1B1B2F"/>
                </a:solidFill>
                <a:latin typeface="Arial" pitchFamily="34" charset="0"/>
                <a:ea typeface="Arial" pitchFamily="34" charset="-122"/>
                <a:cs typeface="Arial" pitchFamily="34" charset="-120"/>
              </a:rPr>
              <a:t>مخرج قابل للقياس: الطالب يربط خوارزمية مُدرَّبة على المنصة بجهاز مادي متصل، وينفّذ مهمة استشعار وتحكم عن بُعد</a:t>
            </a:r>
            <a:endParaRPr lang="en-US" sz="1000" dirty="0"/>
          </a:p>
        </p:txBody>
      </p:sp>
      <p:sp>
        <p:nvSpPr>
          <p:cNvPr id="20" name="Text 14"/>
          <p:cNvSpPr/>
          <p:nvPr/>
        </p:nvSpPr>
        <p:spPr>
          <a:xfrm>
            <a:off x="777240" y="4086576"/>
            <a:ext cx="7071055" cy="451896"/>
          </a:xfrm>
          <a:prstGeom prst="rect">
            <a:avLst/>
          </a:prstGeom>
          <a:noFill/>
          <a:ln/>
        </p:spPr>
        <p:txBody>
          <a:bodyPr wrap="square" rtlCol="0" anchor="t"/>
          <a:lstStyle/>
          <a:p>
            <a:pPr algn="r" indent="0" marL="0">
              <a:lnSpc>
                <a:spcPct val="110000"/>
              </a:lnSpc>
              <a:buNone/>
            </a:pPr>
            <a:r>
              <a:rPr lang="en-US" sz="850" i="1" dirty="0">
                <a:solidFill>
                  <a:srgbClr val="5A5F73"/>
                </a:solidFill>
                <a:latin typeface="Arial" pitchFamily="34" charset="0"/>
                <a:ea typeface="Arial" pitchFamily="34" charset="-122"/>
                <a:cs typeface="Arial" pitchFamily="34" charset="-120"/>
              </a:rPr>
              <a:t>Measurable outcome: the student connects a platform-trained algorithm to a connected physical device and carries out a sensing and remote-control task</a:t>
            </a:r>
            <a:endParaRPr lang="en-US" sz="850" dirty="0"/>
          </a:p>
        </p:txBody>
      </p:sp>
      <p:sp>
        <p:nvSpPr>
          <p:cNvPr id="21" name="Shape 15"/>
          <p:cNvSpPr/>
          <p:nvPr/>
        </p:nvSpPr>
        <p:spPr>
          <a:xfrm>
            <a:off x="548640" y="4739640"/>
            <a:ext cx="11094415" cy="1533144"/>
          </a:xfrm>
          <a:prstGeom prst="roundRect">
            <a:avLst>
              <a:gd name="adj" fmla="val 4175"/>
            </a:avLst>
          </a:prstGeom>
          <a:solidFill>
            <a:srgbClr val="F2F7F8"/>
          </a:solidFill>
          <a:ln/>
        </p:spPr>
      </p:sp>
      <p:sp>
        <p:nvSpPr>
          <p:cNvPr id="22" name="Shape 16"/>
          <p:cNvSpPr/>
          <p:nvPr/>
        </p:nvSpPr>
        <p:spPr>
          <a:xfrm>
            <a:off x="11231575" y="5268468"/>
            <a:ext cx="475488" cy="475488"/>
          </a:xfrm>
          <a:prstGeom prst="ellipse">
            <a:avLst/>
          </a:prstGeom>
          <a:solidFill>
            <a:srgbClr val="283373"/>
          </a:solidFill>
          <a:ln/>
        </p:spPr>
      </p:sp>
      <p:sp>
        <p:nvSpPr>
          <p:cNvPr id="23" name="Text 17"/>
          <p:cNvSpPr/>
          <p:nvPr/>
        </p:nvSpPr>
        <p:spPr>
          <a:xfrm>
            <a:off x="11231575" y="526846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4" name="Text 18"/>
          <p:cNvSpPr/>
          <p:nvPr/>
        </p:nvSpPr>
        <p:spPr>
          <a:xfrm>
            <a:off x="4206240" y="4812792"/>
            <a:ext cx="7253935" cy="292608"/>
          </a:xfrm>
          <a:prstGeom prst="rect">
            <a:avLst/>
          </a:prstGeom>
          <a:noFill/>
          <a:ln/>
        </p:spPr>
        <p:txBody>
          <a:bodyPr wrap="square" lIns="0" tIns="0" rIns="0" bIns="0" rtlCol="0" anchor="ctr"/>
          <a:lstStyle/>
          <a:p>
            <a:pPr rtl="1" algn="r" indent="0" marL="0">
              <a:buNone/>
            </a:pPr>
            <a:r>
              <a:rPr lang="en-US" sz="1250" b="1" dirty="0">
                <a:solidFill>
                  <a:srgbClr val="005A66"/>
                </a:solidFill>
                <a:latin typeface="Cambria" pitchFamily="34" charset="0"/>
                <a:ea typeface="Cambria" pitchFamily="34" charset="-122"/>
                <a:cs typeface="Cambria" pitchFamily="34" charset="-120"/>
              </a:rPr>
              <a:t>الذكاء الاصطناعي المسؤول  (Responsible AI, ML &amp; Computer Vision)</a:t>
            </a:r>
            <a:endParaRPr lang="en-US" sz="1250" dirty="0"/>
          </a:p>
        </p:txBody>
      </p:sp>
      <p:sp>
        <p:nvSpPr>
          <p:cNvPr id="25" name="Text 19"/>
          <p:cNvSpPr/>
          <p:nvPr/>
        </p:nvSpPr>
        <p:spPr>
          <a:xfrm>
            <a:off x="777240" y="5123688"/>
            <a:ext cx="7071055" cy="624048"/>
          </a:xfrm>
          <a:prstGeom prst="rect">
            <a:avLst/>
          </a:prstGeom>
          <a:noFill/>
          <a:ln/>
        </p:spPr>
        <p:txBody>
          <a:bodyPr wrap="square" rtlCol="0" anchor="t"/>
          <a:lstStyle/>
          <a:p>
            <a:pPr rtl="1" algn="r" indent="0" marL="0">
              <a:lnSpc>
                <a:spcPct val="115000"/>
              </a:lnSpc>
              <a:buNone/>
            </a:pPr>
            <a:r>
              <a:rPr lang="en-US" sz="1000" dirty="0">
                <a:solidFill>
                  <a:srgbClr val="1B1B2F"/>
                </a:solidFill>
                <a:latin typeface="Arial" pitchFamily="34" charset="0"/>
                <a:ea typeface="Arial" pitchFamily="34" charset="-122"/>
                <a:cs typeface="Arial" pitchFamily="34" charset="-120"/>
              </a:rPr>
              <a:t>مخرج قابل للقياس: الطالب يجمع بيانات، يدرّب نموذج تصنيف أو تنبؤ، ويناقش قضايا التحيز والإنصاف والشفافية — استناداً إلى مبادئ سدايا لأخلاقيات الذكاء الاصطناعي</a:t>
            </a:r>
            <a:endParaRPr lang="en-US" sz="1000" dirty="0"/>
          </a:p>
        </p:txBody>
      </p:sp>
      <p:sp>
        <p:nvSpPr>
          <p:cNvPr id="26" name="Text 20"/>
          <p:cNvSpPr/>
          <p:nvPr/>
        </p:nvSpPr>
        <p:spPr>
          <a:xfrm>
            <a:off x="777240" y="5747736"/>
            <a:ext cx="7071055" cy="451896"/>
          </a:xfrm>
          <a:prstGeom prst="rect">
            <a:avLst/>
          </a:prstGeom>
          <a:noFill/>
          <a:ln/>
        </p:spPr>
        <p:txBody>
          <a:bodyPr wrap="square" rtlCol="0" anchor="t"/>
          <a:lstStyle/>
          <a:p>
            <a:pPr algn="r" indent="0" marL="0">
              <a:lnSpc>
                <a:spcPct val="110000"/>
              </a:lnSpc>
              <a:buNone/>
            </a:pPr>
            <a:r>
              <a:rPr lang="en-US" sz="850" i="1" dirty="0">
                <a:solidFill>
                  <a:srgbClr val="5A5F73"/>
                </a:solidFill>
                <a:latin typeface="Arial" pitchFamily="34" charset="0"/>
                <a:ea typeface="Arial" pitchFamily="34" charset="-122"/>
                <a:cs typeface="Arial" pitchFamily="34" charset="-120"/>
              </a:rPr>
              <a:t>Measurable outcome: the student collects data, trains a classification or prediction model, and discusses bias, fairness and transparency — grounded in SDAIA's AI Ethics Principles</a:t>
            </a:r>
            <a:endParaRPr lang="en-US" sz="850" dirty="0"/>
          </a:p>
        </p:txBody>
      </p:sp>
      <p:sp>
        <p:nvSpPr>
          <p:cNvPr id="27" name="Text 21"/>
          <p:cNvSpPr/>
          <p:nvPr/>
        </p:nvSpPr>
        <p:spPr>
          <a:xfrm>
            <a:off x="11551615" y="6400800"/>
            <a:ext cx="365760" cy="274320"/>
          </a:xfrm>
          <a:prstGeom prst="rect">
            <a:avLst/>
          </a:prstGeom>
          <a:noFill/>
          <a:ln/>
        </p:spPr>
        <p:txBody>
          <a:bodyPr wrap="square" rtlCol="0" anchor="ctr"/>
          <a:lstStyle/>
          <a:p>
            <a:pPr algn="r" indent="0" marL="0">
              <a:buNone/>
            </a:pPr>
            <a:r>
              <a:rPr lang="en-US" sz="1000" dirty="0">
                <a:solidFill>
                  <a:srgbClr val="5A5F73"/>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92608"/>
            <a:ext cx="2824759" cy="501091"/>
          </a:xfrm>
          <a:prstGeom prst="roundRect">
            <a:avLst>
              <a:gd name="adj" fmla="val 10949"/>
            </a:avLst>
          </a:prstGeom>
          <a:solidFill>
            <a:srgbClr val="FFFFFF"/>
          </a:solidFill>
          <a:ln w="6350">
            <a:solidFill>
              <a:srgbClr val="E3E8EA"/>
            </a:solidFill>
            <a:prstDash val="solid"/>
          </a:ln>
          <a:effectLst>
            <a:outerShdw sx="100000" sy="100000" kx="0" ky="0" algn="bl" rotWithShape="0" blurRad="50800" dist="12700" dir="5400000">
              <a:srgbClr val="888888">
                <a:alpha val="25000"/>
              </a:srgbClr>
            </a:outerShdw>
          </a:effectLst>
        </p:spPr>
      </p:sp>
      <p:pic>
        <p:nvPicPr>
          <p:cNvPr id="3" name="Image 0" descr="/home/claude/qubits_pptx/logos/trim_dar_alforsan.png">    </p:cNvPr>
          <p:cNvPicPr>
            <a:picLocks noChangeAspect="1"/>
          </p:cNvPicPr>
          <p:nvPr/>
        </p:nvPicPr>
        <p:blipFill>
          <a:blip r:embed="rId1"/>
          <a:stretch>
            <a:fillRect/>
          </a:stretch>
        </p:blipFill>
        <p:spPr>
          <a:xfrm>
            <a:off x="484632" y="387706"/>
            <a:ext cx="270802" cy="310896"/>
          </a:xfrm>
          <a:prstGeom prst="rect">
            <a:avLst/>
          </a:prstGeom>
        </p:spPr>
      </p:pic>
      <p:pic>
        <p:nvPicPr>
          <p:cNvPr id="4" name="Image 1" descr="/home/claude/qubits_pptx/logos/trim_diploma_section.png">    </p:cNvPr>
          <p:cNvPicPr>
            <a:picLocks noChangeAspect="1"/>
          </p:cNvPicPr>
          <p:nvPr/>
        </p:nvPicPr>
        <p:blipFill>
          <a:blip r:embed="rId2"/>
          <a:stretch>
            <a:fillRect/>
          </a:stretch>
        </p:blipFill>
        <p:spPr>
          <a:xfrm>
            <a:off x="846874" y="387706"/>
            <a:ext cx="253851" cy="310896"/>
          </a:xfrm>
          <a:prstGeom prst="rect">
            <a:avLst/>
          </a:prstGeom>
        </p:spPr>
      </p:pic>
      <p:pic>
        <p:nvPicPr>
          <p:cNvPr id="5" name="Image 2" descr="/home/claude/qubits_pptx/logos/trim_qubits_v4.png">    </p:cNvPr>
          <p:cNvPicPr>
            <a:picLocks noChangeAspect="1"/>
          </p:cNvPicPr>
          <p:nvPr/>
        </p:nvPicPr>
        <p:blipFill>
          <a:blip r:embed="rId3"/>
          <a:stretch>
            <a:fillRect/>
          </a:stretch>
        </p:blipFill>
        <p:spPr>
          <a:xfrm>
            <a:off x="1192164" y="387706"/>
            <a:ext cx="981777" cy="310896"/>
          </a:xfrm>
          <a:prstGeom prst="rect">
            <a:avLst/>
          </a:prstGeom>
        </p:spPr>
      </p:pic>
      <p:pic>
        <p:nvPicPr>
          <p:cNvPr id="6" name="Image 3" descr="/home/claude/qubits_pptx/logos/trim_aiaasc.png">    </p:cNvPr>
          <p:cNvPicPr>
            <a:picLocks noChangeAspect="1"/>
          </p:cNvPicPr>
          <p:nvPr/>
        </p:nvPicPr>
        <p:blipFill>
          <a:blip r:embed="rId4"/>
          <a:stretch>
            <a:fillRect/>
          </a:stretch>
        </p:blipFill>
        <p:spPr>
          <a:xfrm>
            <a:off x="2265381" y="387706"/>
            <a:ext cx="806266" cy="310896"/>
          </a:xfrm>
          <a:prstGeom prst="rect">
            <a:avLst/>
          </a:prstGeom>
        </p:spPr>
      </p:pic>
      <p:sp>
        <p:nvSpPr>
          <p:cNvPr id="7" name="Text 1"/>
          <p:cNvSpPr/>
          <p:nvPr/>
        </p:nvSpPr>
        <p:spPr>
          <a:xfrm>
            <a:off x="548640" y="438912"/>
            <a:ext cx="11094415" cy="502920"/>
          </a:xfrm>
          <a:prstGeom prst="rect">
            <a:avLst/>
          </a:prstGeom>
          <a:noFill/>
          <a:ln/>
        </p:spPr>
        <p:txBody>
          <a:bodyPr wrap="square" lIns="0" tIns="0" rIns="0" bIns="0" rtlCol="0" anchor="ctr"/>
          <a:lstStyle/>
          <a:p>
            <a:pPr rtl="1" algn="r" indent="0" marL="0">
              <a:buNone/>
            </a:pPr>
            <a:r>
              <a:rPr lang="en-US" sz="2400" b="1" dirty="0">
                <a:solidFill>
                  <a:srgbClr val="007D8F"/>
                </a:solidFill>
                <a:latin typeface="Cambria" pitchFamily="34" charset="0"/>
                <a:ea typeface="Cambria" pitchFamily="34" charset="-122"/>
                <a:cs typeface="Cambria" pitchFamily="34" charset="-120"/>
              </a:rPr>
              <a:t>مخرجات قابلة للقياس  (4 - 6)</a:t>
            </a:r>
            <a:endParaRPr lang="en-US" sz="2400" dirty="0"/>
          </a:p>
        </p:txBody>
      </p:sp>
      <p:sp>
        <p:nvSpPr>
          <p:cNvPr id="8" name="Text 2"/>
          <p:cNvSpPr/>
          <p:nvPr/>
        </p:nvSpPr>
        <p:spPr>
          <a:xfrm>
            <a:off x="548640" y="914400"/>
            <a:ext cx="11094415" cy="320040"/>
          </a:xfrm>
          <a:prstGeom prst="rect">
            <a:avLst/>
          </a:prstGeom>
          <a:noFill/>
          <a:ln/>
        </p:spPr>
        <p:txBody>
          <a:bodyPr wrap="square" lIns="0" tIns="0" rIns="0" bIns="0" rtlCol="0" anchor="ctr"/>
          <a:lstStyle/>
          <a:p>
            <a:pPr algn="r" indent="0" marL="0">
              <a:buNone/>
            </a:pPr>
            <a:r>
              <a:rPr lang="en-US" sz="1200" i="1" dirty="0">
                <a:solidFill>
                  <a:srgbClr val="5A5F73"/>
                </a:solidFill>
                <a:latin typeface="Arial" pitchFamily="34" charset="0"/>
                <a:ea typeface="Arial" pitchFamily="34" charset="-122"/>
                <a:cs typeface="Arial" pitchFamily="34" charset="-120"/>
              </a:rPr>
              <a:t>Measurable Learning Outcomes (4-6)</a:t>
            </a:r>
            <a:endParaRPr lang="en-US" sz="1200" dirty="0"/>
          </a:p>
        </p:txBody>
      </p:sp>
      <p:sp>
        <p:nvSpPr>
          <p:cNvPr id="9" name="Shape 3"/>
          <p:cNvSpPr/>
          <p:nvPr/>
        </p:nvSpPr>
        <p:spPr>
          <a:xfrm>
            <a:off x="548640" y="1417320"/>
            <a:ext cx="11094415" cy="1533144"/>
          </a:xfrm>
          <a:prstGeom prst="roundRect">
            <a:avLst>
              <a:gd name="adj" fmla="val 4175"/>
            </a:avLst>
          </a:prstGeom>
          <a:solidFill>
            <a:srgbClr val="F2F7F8"/>
          </a:solidFill>
          <a:ln/>
        </p:spPr>
      </p:sp>
      <p:sp>
        <p:nvSpPr>
          <p:cNvPr id="10" name="Shape 4"/>
          <p:cNvSpPr/>
          <p:nvPr/>
        </p:nvSpPr>
        <p:spPr>
          <a:xfrm>
            <a:off x="11231575" y="1946148"/>
            <a:ext cx="475488" cy="475488"/>
          </a:xfrm>
          <a:prstGeom prst="ellipse">
            <a:avLst/>
          </a:prstGeom>
          <a:solidFill>
            <a:srgbClr val="007D8F"/>
          </a:solidFill>
          <a:ln/>
        </p:spPr>
      </p:sp>
      <p:sp>
        <p:nvSpPr>
          <p:cNvPr id="11" name="Text 5"/>
          <p:cNvSpPr/>
          <p:nvPr/>
        </p:nvSpPr>
        <p:spPr>
          <a:xfrm>
            <a:off x="11231575" y="194614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2" name="Text 6"/>
          <p:cNvSpPr/>
          <p:nvPr/>
        </p:nvSpPr>
        <p:spPr>
          <a:xfrm>
            <a:off x="4206240" y="1490472"/>
            <a:ext cx="7253935" cy="292608"/>
          </a:xfrm>
          <a:prstGeom prst="rect">
            <a:avLst/>
          </a:prstGeom>
          <a:noFill/>
          <a:ln/>
        </p:spPr>
        <p:txBody>
          <a:bodyPr wrap="square" lIns="0" tIns="0" rIns="0" bIns="0" rtlCol="0" anchor="ctr"/>
          <a:lstStyle/>
          <a:p>
            <a:pPr rtl="1" algn="r" indent="0" marL="0">
              <a:buNone/>
            </a:pPr>
            <a:r>
              <a:rPr lang="en-US" sz="1250" b="1" dirty="0">
                <a:solidFill>
                  <a:srgbClr val="005A66"/>
                </a:solidFill>
                <a:latin typeface="Cambria" pitchFamily="34" charset="0"/>
                <a:ea typeface="Cambria" pitchFamily="34" charset="-122"/>
                <a:cs typeface="Cambria" pitchFamily="34" charset="-120"/>
              </a:rPr>
              <a:t>دعم مسار تطوير الألعاب  (Game Development Pathway)</a:t>
            </a:r>
            <a:endParaRPr lang="en-US" sz="1250" dirty="0"/>
          </a:p>
        </p:txBody>
      </p:sp>
      <p:sp>
        <p:nvSpPr>
          <p:cNvPr id="13" name="Text 7"/>
          <p:cNvSpPr/>
          <p:nvPr/>
        </p:nvSpPr>
        <p:spPr>
          <a:xfrm>
            <a:off x="777240" y="1801368"/>
            <a:ext cx="7071055" cy="624048"/>
          </a:xfrm>
          <a:prstGeom prst="rect">
            <a:avLst/>
          </a:prstGeom>
          <a:noFill/>
          <a:ln/>
        </p:spPr>
        <p:txBody>
          <a:bodyPr wrap="square" rtlCol="0" anchor="t"/>
          <a:lstStyle/>
          <a:p>
            <a:pPr rtl="1" algn="r" indent="0" marL="0">
              <a:lnSpc>
                <a:spcPct val="115000"/>
              </a:lnSpc>
              <a:buNone/>
            </a:pPr>
            <a:r>
              <a:rPr lang="en-US" sz="1000" dirty="0">
                <a:solidFill>
                  <a:srgbClr val="1B1B2F"/>
                </a:solidFill>
                <a:latin typeface="Arial" pitchFamily="34" charset="0"/>
                <a:ea typeface="Arial" pitchFamily="34" charset="-122"/>
                <a:cs typeface="Arial" pitchFamily="34" charset="-120"/>
              </a:rPr>
              <a:t>مخرج قابل للقياس: الطالب يصمم لعبة تحتوي عنصر ذكاء اصطناعي واحداً على الأقل، مثل شخصية (NPC) تتعلم من سلوك اللاعب</a:t>
            </a:r>
            <a:endParaRPr lang="en-US" sz="1000" dirty="0"/>
          </a:p>
        </p:txBody>
      </p:sp>
      <p:sp>
        <p:nvSpPr>
          <p:cNvPr id="14" name="Text 8"/>
          <p:cNvSpPr/>
          <p:nvPr/>
        </p:nvSpPr>
        <p:spPr>
          <a:xfrm>
            <a:off x="777240" y="2425416"/>
            <a:ext cx="7071055" cy="451896"/>
          </a:xfrm>
          <a:prstGeom prst="rect">
            <a:avLst/>
          </a:prstGeom>
          <a:noFill/>
          <a:ln/>
        </p:spPr>
        <p:txBody>
          <a:bodyPr wrap="square" rtlCol="0" anchor="t"/>
          <a:lstStyle/>
          <a:p>
            <a:pPr algn="r" indent="0" marL="0">
              <a:lnSpc>
                <a:spcPct val="110000"/>
              </a:lnSpc>
              <a:buNone/>
            </a:pPr>
            <a:r>
              <a:rPr lang="en-US" sz="850" i="1" dirty="0">
                <a:solidFill>
                  <a:srgbClr val="5A5F73"/>
                </a:solidFill>
                <a:latin typeface="Arial" pitchFamily="34" charset="0"/>
                <a:ea typeface="Arial" pitchFamily="34" charset="-122"/>
                <a:cs typeface="Arial" pitchFamily="34" charset="-120"/>
              </a:rPr>
              <a:t>Measurable outcome: the student designs a game with at least one AI element, such as an NPC that learns from player behavior</a:t>
            </a:r>
            <a:endParaRPr lang="en-US" sz="850" dirty="0"/>
          </a:p>
        </p:txBody>
      </p:sp>
      <p:sp>
        <p:nvSpPr>
          <p:cNvPr id="15" name="Shape 9"/>
          <p:cNvSpPr/>
          <p:nvPr/>
        </p:nvSpPr>
        <p:spPr>
          <a:xfrm>
            <a:off x="548640" y="3078480"/>
            <a:ext cx="11094415" cy="1533144"/>
          </a:xfrm>
          <a:prstGeom prst="roundRect">
            <a:avLst>
              <a:gd name="adj" fmla="val 4175"/>
            </a:avLst>
          </a:prstGeom>
          <a:solidFill>
            <a:srgbClr val="F2F7F8"/>
          </a:solidFill>
          <a:ln/>
        </p:spPr>
      </p:sp>
      <p:sp>
        <p:nvSpPr>
          <p:cNvPr id="16" name="Shape 10"/>
          <p:cNvSpPr/>
          <p:nvPr/>
        </p:nvSpPr>
        <p:spPr>
          <a:xfrm>
            <a:off x="11231575" y="3607308"/>
            <a:ext cx="475488" cy="475488"/>
          </a:xfrm>
          <a:prstGeom prst="ellipse">
            <a:avLst/>
          </a:prstGeom>
          <a:solidFill>
            <a:srgbClr val="007D8F"/>
          </a:solidFill>
          <a:ln/>
        </p:spPr>
      </p:sp>
      <p:sp>
        <p:nvSpPr>
          <p:cNvPr id="17" name="Text 11"/>
          <p:cNvSpPr/>
          <p:nvPr/>
        </p:nvSpPr>
        <p:spPr>
          <a:xfrm>
            <a:off x="11231575" y="360730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18" name="Text 12"/>
          <p:cNvSpPr/>
          <p:nvPr/>
        </p:nvSpPr>
        <p:spPr>
          <a:xfrm>
            <a:off x="4206240" y="3151632"/>
            <a:ext cx="7253935" cy="292608"/>
          </a:xfrm>
          <a:prstGeom prst="rect">
            <a:avLst/>
          </a:prstGeom>
          <a:noFill/>
          <a:ln/>
        </p:spPr>
        <p:txBody>
          <a:bodyPr wrap="square" lIns="0" tIns="0" rIns="0" bIns="0" rtlCol="0" anchor="ctr"/>
          <a:lstStyle/>
          <a:p>
            <a:pPr rtl="1" algn="r" indent="0" marL="0">
              <a:buNone/>
            </a:pPr>
            <a:r>
              <a:rPr lang="en-US" sz="1250" b="1" dirty="0">
                <a:solidFill>
                  <a:srgbClr val="005A66"/>
                </a:solidFill>
                <a:latin typeface="Cambria" pitchFamily="34" charset="0"/>
                <a:ea typeface="Cambria" pitchFamily="34" charset="-122"/>
                <a:cs typeface="Cambria" pitchFamily="34" charset="-120"/>
              </a:rPr>
              <a:t>الأمن السيبراني  (Cybersecurity)</a:t>
            </a:r>
            <a:endParaRPr lang="en-US" sz="1250" dirty="0"/>
          </a:p>
        </p:txBody>
      </p:sp>
      <p:sp>
        <p:nvSpPr>
          <p:cNvPr id="19" name="Text 13"/>
          <p:cNvSpPr/>
          <p:nvPr/>
        </p:nvSpPr>
        <p:spPr>
          <a:xfrm>
            <a:off x="777240" y="3462528"/>
            <a:ext cx="7071055" cy="624048"/>
          </a:xfrm>
          <a:prstGeom prst="rect">
            <a:avLst/>
          </a:prstGeom>
          <a:noFill/>
          <a:ln/>
        </p:spPr>
        <p:txBody>
          <a:bodyPr wrap="square" rtlCol="0" anchor="t"/>
          <a:lstStyle/>
          <a:p>
            <a:pPr rtl="1" algn="r" indent="0" marL="0">
              <a:lnSpc>
                <a:spcPct val="115000"/>
              </a:lnSpc>
              <a:buNone/>
            </a:pPr>
            <a:r>
              <a:rPr lang="en-US" sz="1000" dirty="0">
                <a:solidFill>
                  <a:srgbClr val="1B1B2F"/>
                </a:solidFill>
                <a:latin typeface="Arial" pitchFamily="34" charset="0"/>
                <a:ea typeface="Arial" pitchFamily="34" charset="-122"/>
                <a:cs typeface="Arial" pitchFamily="34" charset="-120"/>
              </a:rPr>
              <a:t>مخرج قابل للقياس: الطالب يميّز الممارسات الآمنة من غير الآمنة، ويطبّق أساسيات حماية الخصوصية والهوية الرقمية — استناداً إلى الضوابط الأساسية للأمن السيبراني (ECC) الصادرة عن الهيئة الوطنية للأمن السيبراني</a:t>
            </a:r>
            <a:endParaRPr lang="en-US" sz="1000" dirty="0"/>
          </a:p>
        </p:txBody>
      </p:sp>
      <p:sp>
        <p:nvSpPr>
          <p:cNvPr id="20" name="Text 14"/>
          <p:cNvSpPr/>
          <p:nvPr/>
        </p:nvSpPr>
        <p:spPr>
          <a:xfrm>
            <a:off x="777240" y="4086576"/>
            <a:ext cx="7071055" cy="451896"/>
          </a:xfrm>
          <a:prstGeom prst="rect">
            <a:avLst/>
          </a:prstGeom>
          <a:noFill/>
          <a:ln/>
        </p:spPr>
        <p:txBody>
          <a:bodyPr wrap="square" rtlCol="0" anchor="t"/>
          <a:lstStyle/>
          <a:p>
            <a:pPr algn="r" indent="0" marL="0">
              <a:lnSpc>
                <a:spcPct val="110000"/>
              </a:lnSpc>
              <a:buNone/>
            </a:pPr>
            <a:r>
              <a:rPr lang="en-US" sz="850" i="1" dirty="0">
                <a:solidFill>
                  <a:srgbClr val="5A5F73"/>
                </a:solidFill>
                <a:latin typeface="Arial" pitchFamily="34" charset="0"/>
                <a:ea typeface="Arial" pitchFamily="34" charset="-122"/>
                <a:cs typeface="Arial" pitchFamily="34" charset="-120"/>
              </a:rPr>
              <a:t>Measurable outcome: the student distinguishes safe from unsafe online practices and applies basic privacy and digital-identity protection — grounded in the Essential Cybersecurity Controls (ECC) issued by the National Cybersecurity Authority (NCA)</a:t>
            </a:r>
            <a:endParaRPr lang="en-US" sz="850" dirty="0"/>
          </a:p>
        </p:txBody>
      </p:sp>
      <p:sp>
        <p:nvSpPr>
          <p:cNvPr id="21" name="Shape 15"/>
          <p:cNvSpPr/>
          <p:nvPr/>
        </p:nvSpPr>
        <p:spPr>
          <a:xfrm>
            <a:off x="548640" y="4739640"/>
            <a:ext cx="11094415" cy="1533144"/>
          </a:xfrm>
          <a:prstGeom prst="roundRect">
            <a:avLst>
              <a:gd name="adj" fmla="val 4175"/>
            </a:avLst>
          </a:prstGeom>
          <a:solidFill>
            <a:srgbClr val="F2F7F8"/>
          </a:solidFill>
          <a:ln/>
        </p:spPr>
      </p:sp>
      <p:sp>
        <p:nvSpPr>
          <p:cNvPr id="22" name="Shape 16"/>
          <p:cNvSpPr/>
          <p:nvPr/>
        </p:nvSpPr>
        <p:spPr>
          <a:xfrm>
            <a:off x="11231575" y="5268468"/>
            <a:ext cx="475488" cy="475488"/>
          </a:xfrm>
          <a:prstGeom prst="ellipse">
            <a:avLst/>
          </a:prstGeom>
          <a:solidFill>
            <a:srgbClr val="802980"/>
          </a:solidFill>
          <a:ln/>
        </p:spPr>
      </p:sp>
      <p:sp>
        <p:nvSpPr>
          <p:cNvPr id="23" name="Text 17"/>
          <p:cNvSpPr/>
          <p:nvPr/>
        </p:nvSpPr>
        <p:spPr>
          <a:xfrm>
            <a:off x="11231575" y="526846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4" name="Text 18"/>
          <p:cNvSpPr/>
          <p:nvPr/>
        </p:nvSpPr>
        <p:spPr>
          <a:xfrm>
            <a:off x="4206240" y="4812792"/>
            <a:ext cx="7253935" cy="292608"/>
          </a:xfrm>
          <a:prstGeom prst="rect">
            <a:avLst/>
          </a:prstGeom>
          <a:noFill/>
          <a:ln/>
        </p:spPr>
        <p:txBody>
          <a:bodyPr wrap="square" lIns="0" tIns="0" rIns="0" bIns="0" rtlCol="0" anchor="ctr"/>
          <a:lstStyle/>
          <a:p>
            <a:pPr rtl="1" algn="r" indent="0" marL="0">
              <a:buNone/>
            </a:pPr>
            <a:r>
              <a:rPr lang="en-US" sz="1250" b="1" dirty="0">
                <a:solidFill>
                  <a:srgbClr val="005A66"/>
                </a:solidFill>
                <a:latin typeface="Cambria" pitchFamily="34" charset="0"/>
                <a:ea typeface="Cambria" pitchFamily="34" charset="-122"/>
                <a:cs typeface="Cambria" pitchFamily="34" charset="-120"/>
              </a:rPr>
              <a:t>الفن الرقمي التكاملي  (Integrative Digital Art)</a:t>
            </a:r>
            <a:endParaRPr lang="en-US" sz="1250" dirty="0"/>
          </a:p>
        </p:txBody>
      </p:sp>
      <p:sp>
        <p:nvSpPr>
          <p:cNvPr id="25" name="Text 19"/>
          <p:cNvSpPr/>
          <p:nvPr/>
        </p:nvSpPr>
        <p:spPr>
          <a:xfrm>
            <a:off x="777240" y="5123688"/>
            <a:ext cx="7071055" cy="624048"/>
          </a:xfrm>
          <a:prstGeom prst="rect">
            <a:avLst/>
          </a:prstGeom>
          <a:noFill/>
          <a:ln/>
        </p:spPr>
        <p:txBody>
          <a:bodyPr wrap="square" rtlCol="0" anchor="t"/>
          <a:lstStyle/>
          <a:p>
            <a:pPr rtl="1" algn="r" indent="0" marL="0">
              <a:lnSpc>
                <a:spcPct val="115000"/>
              </a:lnSpc>
              <a:buNone/>
            </a:pPr>
            <a:r>
              <a:rPr lang="en-US" sz="1000" dirty="0">
                <a:solidFill>
                  <a:srgbClr val="1B1B2F"/>
                </a:solidFill>
                <a:latin typeface="Arial" pitchFamily="34" charset="0"/>
                <a:ea typeface="Arial" pitchFamily="34" charset="-122"/>
                <a:cs typeface="Arial" pitchFamily="34" charset="-120"/>
              </a:rPr>
              <a:t>مخرج قابل للقياس: الطالب ينتج ملف أعمال رقمي يضم عملاً توليدياً، وعنصر هوية بصرية، ونموذج ثلاثي الأبعاد، ويعرضه في معرض طلابي</a:t>
            </a:r>
            <a:endParaRPr lang="en-US" sz="1000" dirty="0"/>
          </a:p>
        </p:txBody>
      </p:sp>
      <p:sp>
        <p:nvSpPr>
          <p:cNvPr id="26" name="Text 20"/>
          <p:cNvSpPr/>
          <p:nvPr/>
        </p:nvSpPr>
        <p:spPr>
          <a:xfrm>
            <a:off x="777240" y="5747736"/>
            <a:ext cx="7071055" cy="451896"/>
          </a:xfrm>
          <a:prstGeom prst="rect">
            <a:avLst/>
          </a:prstGeom>
          <a:noFill/>
          <a:ln/>
        </p:spPr>
        <p:txBody>
          <a:bodyPr wrap="square" rtlCol="0" anchor="t"/>
          <a:lstStyle/>
          <a:p>
            <a:pPr algn="r" indent="0" marL="0">
              <a:lnSpc>
                <a:spcPct val="110000"/>
              </a:lnSpc>
              <a:buNone/>
            </a:pPr>
            <a:r>
              <a:rPr lang="en-US" sz="850" i="1" dirty="0">
                <a:solidFill>
                  <a:srgbClr val="5A5F73"/>
                </a:solidFill>
                <a:latin typeface="Arial" pitchFamily="34" charset="0"/>
                <a:ea typeface="Arial" pitchFamily="34" charset="-122"/>
                <a:cs typeface="Arial" pitchFamily="34" charset="-120"/>
              </a:rPr>
              <a:t>Measurable outcome: the student produces a digital portfolio featuring a generative work, a visual-identity element, and a 3D model, showcased at a student exhibition</a:t>
            </a:r>
            <a:endParaRPr lang="en-US" sz="850" dirty="0"/>
          </a:p>
        </p:txBody>
      </p:sp>
      <p:sp>
        <p:nvSpPr>
          <p:cNvPr id="27" name="Text 21"/>
          <p:cNvSpPr/>
          <p:nvPr/>
        </p:nvSpPr>
        <p:spPr>
          <a:xfrm>
            <a:off x="11551615" y="6400800"/>
            <a:ext cx="365760" cy="274320"/>
          </a:xfrm>
          <a:prstGeom prst="rect">
            <a:avLst/>
          </a:prstGeom>
          <a:noFill/>
          <a:ln/>
        </p:spPr>
        <p:txBody>
          <a:bodyPr wrap="square" rtlCol="0" anchor="ctr"/>
          <a:lstStyle/>
          <a:p>
            <a:pPr algn="r" indent="0" marL="0">
              <a:buNone/>
            </a:pPr>
            <a:r>
              <a:rPr lang="en-US" sz="1000" dirty="0">
                <a:solidFill>
                  <a:srgbClr val="5A5F73"/>
                </a:solidFill>
                <a:latin typeface="Arial" pitchFamily="34" charset="0"/>
                <a:ea typeface="Arial" pitchFamily="34" charset="-122"/>
                <a:cs typeface="Arial"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92608"/>
            <a:ext cx="2824759" cy="501091"/>
          </a:xfrm>
          <a:prstGeom prst="roundRect">
            <a:avLst>
              <a:gd name="adj" fmla="val 10949"/>
            </a:avLst>
          </a:prstGeom>
          <a:solidFill>
            <a:srgbClr val="FFFFFF"/>
          </a:solidFill>
          <a:ln w="6350">
            <a:solidFill>
              <a:srgbClr val="E3E8EA"/>
            </a:solidFill>
            <a:prstDash val="solid"/>
          </a:ln>
          <a:effectLst>
            <a:outerShdw sx="100000" sy="100000" kx="0" ky="0" algn="bl" rotWithShape="0" blurRad="50800" dist="12700" dir="5400000">
              <a:srgbClr val="888888">
                <a:alpha val="25000"/>
              </a:srgbClr>
            </a:outerShdw>
          </a:effectLst>
        </p:spPr>
      </p:sp>
      <p:pic>
        <p:nvPicPr>
          <p:cNvPr id="3" name="Image 0" descr="/home/claude/qubits_pptx/logos/trim_dar_alforsan.png">    </p:cNvPr>
          <p:cNvPicPr>
            <a:picLocks noChangeAspect="1"/>
          </p:cNvPicPr>
          <p:nvPr/>
        </p:nvPicPr>
        <p:blipFill>
          <a:blip r:embed="rId1"/>
          <a:stretch>
            <a:fillRect/>
          </a:stretch>
        </p:blipFill>
        <p:spPr>
          <a:xfrm>
            <a:off x="484632" y="387706"/>
            <a:ext cx="270802" cy="310896"/>
          </a:xfrm>
          <a:prstGeom prst="rect">
            <a:avLst/>
          </a:prstGeom>
        </p:spPr>
      </p:pic>
      <p:pic>
        <p:nvPicPr>
          <p:cNvPr id="4" name="Image 1" descr="/home/claude/qubits_pptx/logos/trim_diploma_section.png">    </p:cNvPr>
          <p:cNvPicPr>
            <a:picLocks noChangeAspect="1"/>
          </p:cNvPicPr>
          <p:nvPr/>
        </p:nvPicPr>
        <p:blipFill>
          <a:blip r:embed="rId2"/>
          <a:stretch>
            <a:fillRect/>
          </a:stretch>
        </p:blipFill>
        <p:spPr>
          <a:xfrm>
            <a:off x="846874" y="387706"/>
            <a:ext cx="253851" cy="310896"/>
          </a:xfrm>
          <a:prstGeom prst="rect">
            <a:avLst/>
          </a:prstGeom>
        </p:spPr>
      </p:pic>
      <p:pic>
        <p:nvPicPr>
          <p:cNvPr id="5" name="Image 2" descr="/home/claude/qubits_pptx/logos/trim_qubits_v4.png">    </p:cNvPr>
          <p:cNvPicPr>
            <a:picLocks noChangeAspect="1"/>
          </p:cNvPicPr>
          <p:nvPr/>
        </p:nvPicPr>
        <p:blipFill>
          <a:blip r:embed="rId3"/>
          <a:stretch>
            <a:fillRect/>
          </a:stretch>
        </p:blipFill>
        <p:spPr>
          <a:xfrm>
            <a:off x="1192164" y="387706"/>
            <a:ext cx="981777" cy="310896"/>
          </a:xfrm>
          <a:prstGeom prst="rect">
            <a:avLst/>
          </a:prstGeom>
        </p:spPr>
      </p:pic>
      <p:pic>
        <p:nvPicPr>
          <p:cNvPr id="6" name="Image 3" descr="/home/claude/qubits_pptx/logos/trim_aiaasc.png">    </p:cNvPr>
          <p:cNvPicPr>
            <a:picLocks noChangeAspect="1"/>
          </p:cNvPicPr>
          <p:nvPr/>
        </p:nvPicPr>
        <p:blipFill>
          <a:blip r:embed="rId4"/>
          <a:stretch>
            <a:fillRect/>
          </a:stretch>
        </p:blipFill>
        <p:spPr>
          <a:xfrm>
            <a:off x="2265381" y="387706"/>
            <a:ext cx="806266" cy="310896"/>
          </a:xfrm>
          <a:prstGeom prst="rect">
            <a:avLst/>
          </a:prstGeom>
        </p:spPr>
      </p:pic>
      <p:sp>
        <p:nvSpPr>
          <p:cNvPr id="7" name="Text 1"/>
          <p:cNvSpPr/>
          <p:nvPr/>
        </p:nvSpPr>
        <p:spPr>
          <a:xfrm>
            <a:off x="548640" y="438912"/>
            <a:ext cx="11094415" cy="502920"/>
          </a:xfrm>
          <a:prstGeom prst="rect">
            <a:avLst/>
          </a:prstGeom>
          <a:noFill/>
          <a:ln/>
        </p:spPr>
        <p:txBody>
          <a:bodyPr wrap="square" lIns="0" tIns="0" rIns="0" bIns="0" rtlCol="0" anchor="ctr"/>
          <a:lstStyle/>
          <a:p>
            <a:pPr rtl="1" algn="r" indent="0" marL="0">
              <a:buNone/>
            </a:pPr>
            <a:r>
              <a:rPr lang="en-US" sz="2400" b="1" dirty="0">
                <a:solidFill>
                  <a:srgbClr val="802980"/>
                </a:solidFill>
                <a:latin typeface="Cambria" pitchFamily="34" charset="0"/>
                <a:ea typeface="Cambria" pitchFamily="34" charset="-122"/>
                <a:cs typeface="Cambria" pitchFamily="34" charset="-120"/>
              </a:rPr>
              <a:t>المرتكز السادس بالتفصيل: الفن الرقمي التكاملي</a:t>
            </a:r>
            <a:endParaRPr lang="en-US" sz="2400" dirty="0"/>
          </a:p>
        </p:txBody>
      </p:sp>
      <p:sp>
        <p:nvSpPr>
          <p:cNvPr id="8" name="Text 2"/>
          <p:cNvSpPr/>
          <p:nvPr/>
        </p:nvSpPr>
        <p:spPr>
          <a:xfrm>
            <a:off x="548640" y="914400"/>
            <a:ext cx="11094415" cy="320040"/>
          </a:xfrm>
          <a:prstGeom prst="rect">
            <a:avLst/>
          </a:prstGeom>
          <a:noFill/>
          <a:ln/>
        </p:spPr>
        <p:txBody>
          <a:bodyPr wrap="square" lIns="0" tIns="0" rIns="0" bIns="0" rtlCol="0" anchor="ctr"/>
          <a:lstStyle/>
          <a:p>
            <a:pPr algn="r" indent="0" marL="0">
              <a:buNone/>
            </a:pPr>
            <a:r>
              <a:rPr lang="en-US" sz="1200" i="1" dirty="0">
                <a:solidFill>
                  <a:srgbClr val="5A5F73"/>
                </a:solidFill>
                <a:latin typeface="Arial" pitchFamily="34" charset="0"/>
                <a:ea typeface="Arial" pitchFamily="34" charset="-122"/>
                <a:cs typeface="Arial" pitchFamily="34" charset="-120"/>
              </a:rPr>
              <a:t>Pillar 6 in Detail: Integrative Digital Art</a:t>
            </a:r>
            <a:endParaRPr lang="en-US" sz="1200" dirty="0"/>
          </a:p>
        </p:txBody>
      </p:sp>
      <p:sp>
        <p:nvSpPr>
          <p:cNvPr id="9" name="Shape 3"/>
          <p:cNvSpPr/>
          <p:nvPr/>
        </p:nvSpPr>
        <p:spPr>
          <a:xfrm>
            <a:off x="591160" y="1508760"/>
            <a:ext cx="2084832" cy="1920240"/>
          </a:xfrm>
          <a:prstGeom prst="roundRect">
            <a:avLst>
              <a:gd name="adj" fmla="val 3810"/>
            </a:avLst>
          </a:prstGeom>
          <a:solidFill>
            <a:srgbClr val="F2F7F8"/>
          </a:solidFill>
          <a:ln/>
        </p:spPr>
      </p:sp>
      <p:sp>
        <p:nvSpPr>
          <p:cNvPr id="10" name="Shape 4"/>
          <p:cNvSpPr/>
          <p:nvPr/>
        </p:nvSpPr>
        <p:spPr>
          <a:xfrm>
            <a:off x="1386688" y="1691640"/>
            <a:ext cx="493776" cy="493776"/>
          </a:xfrm>
          <a:prstGeom prst="ellipse">
            <a:avLst/>
          </a:prstGeom>
          <a:solidFill>
            <a:srgbClr val="802980"/>
          </a:solidFill>
          <a:ln/>
        </p:spPr>
      </p:sp>
      <p:sp>
        <p:nvSpPr>
          <p:cNvPr id="11" name="Text 5"/>
          <p:cNvSpPr/>
          <p:nvPr/>
        </p:nvSpPr>
        <p:spPr>
          <a:xfrm>
            <a:off x="1386688" y="1691640"/>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12" name="Text 6"/>
          <p:cNvSpPr/>
          <p:nvPr/>
        </p:nvSpPr>
        <p:spPr>
          <a:xfrm>
            <a:off x="682600" y="2286000"/>
            <a:ext cx="1901952" cy="594360"/>
          </a:xfrm>
          <a:prstGeom prst="rect">
            <a:avLst/>
          </a:prstGeom>
          <a:noFill/>
          <a:ln/>
        </p:spPr>
        <p:txBody>
          <a:bodyPr wrap="square" rtlCol="0" anchor="t"/>
          <a:lstStyle/>
          <a:p>
            <a:pPr rtl="1" algn="ctr" indent="0" marL="0">
              <a:buNone/>
            </a:pPr>
            <a:r>
              <a:rPr lang="en-US" sz="1150" b="1" dirty="0">
                <a:solidFill>
                  <a:srgbClr val="005A66"/>
                </a:solidFill>
                <a:latin typeface="Cambria" pitchFamily="34" charset="0"/>
                <a:ea typeface="Cambria" pitchFamily="34" charset="-122"/>
                <a:cs typeface="Cambria" pitchFamily="34" charset="-120"/>
              </a:rPr>
              <a:t>إدارة الحضور الرقمي</a:t>
            </a:r>
            <a:endParaRPr lang="en-US" sz="1150" dirty="0"/>
          </a:p>
        </p:txBody>
      </p:sp>
      <p:sp>
        <p:nvSpPr>
          <p:cNvPr id="13" name="Text 7"/>
          <p:cNvSpPr/>
          <p:nvPr/>
        </p:nvSpPr>
        <p:spPr>
          <a:xfrm>
            <a:off x="682600" y="2990088"/>
            <a:ext cx="1901952" cy="411480"/>
          </a:xfrm>
          <a:prstGeom prst="rect">
            <a:avLst/>
          </a:prstGeom>
          <a:noFill/>
          <a:ln/>
        </p:spPr>
        <p:txBody>
          <a:bodyPr wrap="square" rtlCol="0" anchor="t"/>
          <a:lstStyle/>
          <a:p>
            <a:pPr algn="ctr" indent="0" marL="0">
              <a:buNone/>
            </a:pPr>
            <a:r>
              <a:rPr lang="en-US" sz="850" i="1" dirty="0">
                <a:solidFill>
                  <a:srgbClr val="5A5F73"/>
                </a:solidFill>
                <a:latin typeface="Arial" pitchFamily="34" charset="0"/>
                <a:ea typeface="Arial" pitchFamily="34" charset="-122"/>
                <a:cs typeface="Arial" pitchFamily="34" charset="-120"/>
              </a:rPr>
              <a:t>Digital Identity &amp; Portfolio</a:t>
            </a:r>
            <a:endParaRPr lang="en-US" sz="850" dirty="0"/>
          </a:p>
        </p:txBody>
      </p:sp>
      <p:sp>
        <p:nvSpPr>
          <p:cNvPr id="14" name="Shape 8"/>
          <p:cNvSpPr/>
          <p:nvPr/>
        </p:nvSpPr>
        <p:spPr>
          <a:xfrm>
            <a:off x="2822296" y="1508760"/>
            <a:ext cx="2084832" cy="1920240"/>
          </a:xfrm>
          <a:prstGeom prst="roundRect">
            <a:avLst>
              <a:gd name="adj" fmla="val 3810"/>
            </a:avLst>
          </a:prstGeom>
          <a:solidFill>
            <a:srgbClr val="F2F7F8"/>
          </a:solidFill>
          <a:ln/>
        </p:spPr>
      </p:sp>
      <p:sp>
        <p:nvSpPr>
          <p:cNvPr id="15" name="Shape 9"/>
          <p:cNvSpPr/>
          <p:nvPr/>
        </p:nvSpPr>
        <p:spPr>
          <a:xfrm>
            <a:off x="3617824" y="1691640"/>
            <a:ext cx="493776" cy="493776"/>
          </a:xfrm>
          <a:prstGeom prst="ellipse">
            <a:avLst/>
          </a:prstGeom>
          <a:solidFill>
            <a:srgbClr val="802980"/>
          </a:solidFill>
          <a:ln/>
        </p:spPr>
      </p:sp>
      <p:sp>
        <p:nvSpPr>
          <p:cNvPr id="16" name="Text 10"/>
          <p:cNvSpPr/>
          <p:nvPr/>
        </p:nvSpPr>
        <p:spPr>
          <a:xfrm>
            <a:off x="3617824" y="1691640"/>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7" name="Text 11"/>
          <p:cNvSpPr/>
          <p:nvPr/>
        </p:nvSpPr>
        <p:spPr>
          <a:xfrm>
            <a:off x="2913736" y="2286000"/>
            <a:ext cx="1901952" cy="594360"/>
          </a:xfrm>
          <a:prstGeom prst="rect">
            <a:avLst/>
          </a:prstGeom>
          <a:noFill/>
          <a:ln/>
        </p:spPr>
        <p:txBody>
          <a:bodyPr wrap="square" rtlCol="0" anchor="t"/>
          <a:lstStyle/>
          <a:p>
            <a:pPr rtl="1" algn="ctr" indent="0" marL="0">
              <a:buNone/>
            </a:pPr>
            <a:r>
              <a:rPr lang="en-US" sz="1150" b="1" dirty="0">
                <a:solidFill>
                  <a:srgbClr val="005A66"/>
                </a:solidFill>
                <a:latin typeface="Cambria" pitchFamily="34" charset="0"/>
                <a:ea typeface="Cambria" pitchFamily="34" charset="-122"/>
                <a:cs typeface="Cambria" pitchFamily="34" charset="-120"/>
              </a:rPr>
              <a:t>النمذجة ثلاثية الأبعاد</a:t>
            </a:r>
            <a:endParaRPr lang="en-US" sz="1150" dirty="0"/>
          </a:p>
        </p:txBody>
      </p:sp>
      <p:sp>
        <p:nvSpPr>
          <p:cNvPr id="18" name="Text 12"/>
          <p:cNvSpPr/>
          <p:nvPr/>
        </p:nvSpPr>
        <p:spPr>
          <a:xfrm>
            <a:off x="2913736" y="2990088"/>
            <a:ext cx="1901952" cy="411480"/>
          </a:xfrm>
          <a:prstGeom prst="rect">
            <a:avLst/>
          </a:prstGeom>
          <a:noFill/>
          <a:ln/>
        </p:spPr>
        <p:txBody>
          <a:bodyPr wrap="square" rtlCol="0" anchor="t"/>
          <a:lstStyle/>
          <a:p>
            <a:pPr algn="ctr" indent="0" marL="0">
              <a:buNone/>
            </a:pPr>
            <a:r>
              <a:rPr lang="en-US" sz="850" i="1" dirty="0">
                <a:solidFill>
                  <a:srgbClr val="5A5F73"/>
                </a:solidFill>
                <a:latin typeface="Arial" pitchFamily="34" charset="0"/>
                <a:ea typeface="Arial" pitchFamily="34" charset="-122"/>
                <a:cs typeface="Arial" pitchFamily="34" charset="-120"/>
              </a:rPr>
              <a:t>3D Modeling (Tinkercad)</a:t>
            </a:r>
            <a:endParaRPr lang="en-US" sz="850" dirty="0"/>
          </a:p>
        </p:txBody>
      </p:sp>
      <p:sp>
        <p:nvSpPr>
          <p:cNvPr id="19" name="Shape 13"/>
          <p:cNvSpPr/>
          <p:nvPr/>
        </p:nvSpPr>
        <p:spPr>
          <a:xfrm>
            <a:off x="5053432" y="1508760"/>
            <a:ext cx="2084832" cy="1920240"/>
          </a:xfrm>
          <a:prstGeom prst="roundRect">
            <a:avLst>
              <a:gd name="adj" fmla="val 3810"/>
            </a:avLst>
          </a:prstGeom>
          <a:solidFill>
            <a:srgbClr val="F2F7F8"/>
          </a:solidFill>
          <a:ln/>
        </p:spPr>
      </p:sp>
      <p:sp>
        <p:nvSpPr>
          <p:cNvPr id="20" name="Shape 14"/>
          <p:cNvSpPr/>
          <p:nvPr/>
        </p:nvSpPr>
        <p:spPr>
          <a:xfrm>
            <a:off x="5848960" y="1691640"/>
            <a:ext cx="493776" cy="493776"/>
          </a:xfrm>
          <a:prstGeom prst="ellipse">
            <a:avLst/>
          </a:prstGeom>
          <a:solidFill>
            <a:srgbClr val="802980"/>
          </a:solidFill>
          <a:ln/>
        </p:spPr>
      </p:sp>
      <p:sp>
        <p:nvSpPr>
          <p:cNvPr id="21" name="Text 15"/>
          <p:cNvSpPr/>
          <p:nvPr/>
        </p:nvSpPr>
        <p:spPr>
          <a:xfrm>
            <a:off x="5848960" y="1691640"/>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22" name="Text 16"/>
          <p:cNvSpPr/>
          <p:nvPr/>
        </p:nvSpPr>
        <p:spPr>
          <a:xfrm>
            <a:off x="5144872" y="2286000"/>
            <a:ext cx="1901952" cy="594360"/>
          </a:xfrm>
          <a:prstGeom prst="rect">
            <a:avLst/>
          </a:prstGeom>
          <a:noFill/>
          <a:ln/>
        </p:spPr>
        <p:txBody>
          <a:bodyPr wrap="square" rtlCol="0" anchor="t"/>
          <a:lstStyle/>
          <a:p>
            <a:pPr rtl="1" algn="ctr" indent="0" marL="0">
              <a:buNone/>
            </a:pPr>
            <a:r>
              <a:rPr lang="en-US" sz="1150" b="1" dirty="0">
                <a:solidFill>
                  <a:srgbClr val="005A66"/>
                </a:solidFill>
                <a:latin typeface="Cambria" pitchFamily="34" charset="0"/>
                <a:ea typeface="Cambria" pitchFamily="34" charset="-122"/>
                <a:cs typeface="Cambria" pitchFamily="34" charset="-120"/>
              </a:rPr>
              <a:t>التصميم النقطي ومعالجة الصور</a:t>
            </a:r>
            <a:endParaRPr lang="en-US" sz="1150" dirty="0"/>
          </a:p>
        </p:txBody>
      </p:sp>
      <p:sp>
        <p:nvSpPr>
          <p:cNvPr id="23" name="Text 17"/>
          <p:cNvSpPr/>
          <p:nvPr/>
        </p:nvSpPr>
        <p:spPr>
          <a:xfrm>
            <a:off x="5144872" y="2990088"/>
            <a:ext cx="1901952" cy="411480"/>
          </a:xfrm>
          <a:prstGeom prst="rect">
            <a:avLst/>
          </a:prstGeom>
          <a:noFill/>
          <a:ln/>
        </p:spPr>
        <p:txBody>
          <a:bodyPr wrap="square" rtlCol="0" anchor="t"/>
          <a:lstStyle/>
          <a:p>
            <a:pPr algn="ctr" indent="0" marL="0">
              <a:buNone/>
            </a:pPr>
            <a:r>
              <a:rPr lang="en-US" sz="850" i="1" dirty="0">
                <a:solidFill>
                  <a:srgbClr val="5A5F73"/>
                </a:solidFill>
                <a:latin typeface="Arial" pitchFamily="34" charset="0"/>
                <a:ea typeface="Arial" pitchFamily="34" charset="-122"/>
                <a:cs typeface="Arial" pitchFamily="34" charset="-120"/>
              </a:rPr>
              <a:t>Raster Design (Photoshop)</a:t>
            </a:r>
            <a:endParaRPr lang="en-US" sz="850" dirty="0"/>
          </a:p>
        </p:txBody>
      </p:sp>
      <p:sp>
        <p:nvSpPr>
          <p:cNvPr id="24" name="Shape 18"/>
          <p:cNvSpPr/>
          <p:nvPr/>
        </p:nvSpPr>
        <p:spPr>
          <a:xfrm>
            <a:off x="7284568" y="1508760"/>
            <a:ext cx="2084832" cy="1920240"/>
          </a:xfrm>
          <a:prstGeom prst="roundRect">
            <a:avLst>
              <a:gd name="adj" fmla="val 3810"/>
            </a:avLst>
          </a:prstGeom>
          <a:solidFill>
            <a:srgbClr val="F2F7F8"/>
          </a:solidFill>
          <a:ln/>
        </p:spPr>
      </p:sp>
      <p:sp>
        <p:nvSpPr>
          <p:cNvPr id="25" name="Shape 19"/>
          <p:cNvSpPr/>
          <p:nvPr/>
        </p:nvSpPr>
        <p:spPr>
          <a:xfrm>
            <a:off x="8080096" y="1691640"/>
            <a:ext cx="493776" cy="493776"/>
          </a:xfrm>
          <a:prstGeom prst="ellipse">
            <a:avLst/>
          </a:prstGeom>
          <a:solidFill>
            <a:srgbClr val="802980"/>
          </a:solidFill>
          <a:ln/>
        </p:spPr>
      </p:sp>
      <p:sp>
        <p:nvSpPr>
          <p:cNvPr id="26" name="Text 20"/>
          <p:cNvSpPr/>
          <p:nvPr/>
        </p:nvSpPr>
        <p:spPr>
          <a:xfrm>
            <a:off x="8080096" y="1691640"/>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27" name="Text 21"/>
          <p:cNvSpPr/>
          <p:nvPr/>
        </p:nvSpPr>
        <p:spPr>
          <a:xfrm>
            <a:off x="7376008" y="2286000"/>
            <a:ext cx="1901952" cy="594360"/>
          </a:xfrm>
          <a:prstGeom prst="rect">
            <a:avLst/>
          </a:prstGeom>
          <a:noFill/>
          <a:ln/>
        </p:spPr>
        <p:txBody>
          <a:bodyPr wrap="square" rtlCol="0" anchor="t"/>
          <a:lstStyle/>
          <a:p>
            <a:pPr rtl="1" algn="ctr" indent="0" marL="0">
              <a:buNone/>
            </a:pPr>
            <a:r>
              <a:rPr lang="en-US" sz="1150" b="1" dirty="0">
                <a:solidFill>
                  <a:srgbClr val="005A66"/>
                </a:solidFill>
                <a:latin typeface="Cambria" pitchFamily="34" charset="0"/>
                <a:ea typeface="Cambria" pitchFamily="34" charset="-122"/>
                <a:cs typeface="Cambria" pitchFamily="34" charset="-120"/>
              </a:rPr>
              <a:t>تصميم الهوية البصرية</a:t>
            </a:r>
            <a:endParaRPr lang="en-US" sz="1150" dirty="0"/>
          </a:p>
        </p:txBody>
      </p:sp>
      <p:sp>
        <p:nvSpPr>
          <p:cNvPr id="28" name="Text 22"/>
          <p:cNvSpPr/>
          <p:nvPr/>
        </p:nvSpPr>
        <p:spPr>
          <a:xfrm>
            <a:off x="7376008" y="2990088"/>
            <a:ext cx="1901952" cy="411480"/>
          </a:xfrm>
          <a:prstGeom prst="rect">
            <a:avLst/>
          </a:prstGeom>
          <a:noFill/>
          <a:ln/>
        </p:spPr>
        <p:txBody>
          <a:bodyPr wrap="square" rtlCol="0" anchor="t"/>
          <a:lstStyle/>
          <a:p>
            <a:pPr algn="ctr" indent="0" marL="0">
              <a:buNone/>
            </a:pPr>
            <a:r>
              <a:rPr lang="en-US" sz="850" i="1" dirty="0">
                <a:solidFill>
                  <a:srgbClr val="5A5F73"/>
                </a:solidFill>
                <a:latin typeface="Arial" pitchFamily="34" charset="0"/>
                <a:ea typeface="Arial" pitchFamily="34" charset="-122"/>
                <a:cs typeface="Arial" pitchFamily="34" charset="-120"/>
              </a:rPr>
              <a:t>Vector Identity Design (Illustrator)</a:t>
            </a:r>
            <a:endParaRPr lang="en-US" sz="850" dirty="0"/>
          </a:p>
        </p:txBody>
      </p:sp>
      <p:sp>
        <p:nvSpPr>
          <p:cNvPr id="29" name="Shape 23"/>
          <p:cNvSpPr/>
          <p:nvPr/>
        </p:nvSpPr>
        <p:spPr>
          <a:xfrm>
            <a:off x="9515704" y="1508760"/>
            <a:ext cx="2084832" cy="1920240"/>
          </a:xfrm>
          <a:prstGeom prst="roundRect">
            <a:avLst>
              <a:gd name="adj" fmla="val 3810"/>
            </a:avLst>
          </a:prstGeom>
          <a:solidFill>
            <a:srgbClr val="F2F7F8"/>
          </a:solidFill>
          <a:ln/>
        </p:spPr>
      </p:sp>
      <p:sp>
        <p:nvSpPr>
          <p:cNvPr id="30" name="Shape 24"/>
          <p:cNvSpPr/>
          <p:nvPr/>
        </p:nvSpPr>
        <p:spPr>
          <a:xfrm>
            <a:off x="10311232" y="1691640"/>
            <a:ext cx="493776" cy="493776"/>
          </a:xfrm>
          <a:prstGeom prst="ellipse">
            <a:avLst/>
          </a:prstGeom>
          <a:solidFill>
            <a:srgbClr val="802980"/>
          </a:solidFill>
          <a:ln/>
        </p:spPr>
      </p:sp>
      <p:sp>
        <p:nvSpPr>
          <p:cNvPr id="31" name="Text 25"/>
          <p:cNvSpPr/>
          <p:nvPr/>
        </p:nvSpPr>
        <p:spPr>
          <a:xfrm>
            <a:off x="10311232" y="1691640"/>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32" name="Text 26"/>
          <p:cNvSpPr/>
          <p:nvPr/>
        </p:nvSpPr>
        <p:spPr>
          <a:xfrm>
            <a:off x="9607144" y="2286000"/>
            <a:ext cx="1901952" cy="594360"/>
          </a:xfrm>
          <a:prstGeom prst="rect">
            <a:avLst/>
          </a:prstGeom>
          <a:noFill/>
          <a:ln/>
        </p:spPr>
        <p:txBody>
          <a:bodyPr wrap="square" rtlCol="0" anchor="t"/>
          <a:lstStyle/>
          <a:p>
            <a:pPr rtl="1" algn="ctr" indent="0" marL="0">
              <a:buNone/>
            </a:pPr>
            <a:r>
              <a:rPr lang="en-US" sz="1150" b="1" dirty="0">
                <a:solidFill>
                  <a:srgbClr val="005A66"/>
                </a:solidFill>
                <a:latin typeface="Cambria" pitchFamily="34" charset="0"/>
                <a:ea typeface="Cambria" pitchFamily="34" charset="-122"/>
                <a:cs typeface="Cambria" pitchFamily="34" charset="-120"/>
              </a:rPr>
              <a:t>فن حوسبي توليدي</a:t>
            </a:r>
            <a:endParaRPr lang="en-US" sz="1150" dirty="0"/>
          </a:p>
        </p:txBody>
      </p:sp>
      <p:sp>
        <p:nvSpPr>
          <p:cNvPr id="33" name="Text 27"/>
          <p:cNvSpPr/>
          <p:nvPr/>
        </p:nvSpPr>
        <p:spPr>
          <a:xfrm>
            <a:off x="9607144" y="2990088"/>
            <a:ext cx="1901952" cy="411480"/>
          </a:xfrm>
          <a:prstGeom prst="rect">
            <a:avLst/>
          </a:prstGeom>
          <a:noFill/>
          <a:ln/>
        </p:spPr>
        <p:txBody>
          <a:bodyPr wrap="square" rtlCol="0" anchor="t"/>
          <a:lstStyle/>
          <a:p>
            <a:pPr algn="ctr" indent="0" marL="0">
              <a:buNone/>
            </a:pPr>
            <a:r>
              <a:rPr lang="en-US" sz="850" i="1" dirty="0">
                <a:solidFill>
                  <a:srgbClr val="5A5F73"/>
                </a:solidFill>
                <a:latin typeface="Arial" pitchFamily="34" charset="0"/>
                <a:ea typeface="Arial" pitchFamily="34" charset="-122"/>
                <a:cs typeface="Arial" pitchFamily="34" charset="-120"/>
              </a:rPr>
              <a:t>Generative / Computational Art</a:t>
            </a:r>
            <a:endParaRPr lang="en-US" sz="850" dirty="0"/>
          </a:p>
        </p:txBody>
      </p:sp>
      <p:sp>
        <p:nvSpPr>
          <p:cNvPr id="34" name="Shape 28"/>
          <p:cNvSpPr/>
          <p:nvPr/>
        </p:nvSpPr>
        <p:spPr>
          <a:xfrm>
            <a:off x="548640" y="3749040"/>
            <a:ext cx="11094415" cy="1051560"/>
          </a:xfrm>
          <a:prstGeom prst="roundRect">
            <a:avLst>
              <a:gd name="adj" fmla="val 6957"/>
            </a:avLst>
          </a:prstGeom>
          <a:solidFill>
            <a:srgbClr val="F3ECF6"/>
          </a:solidFill>
          <a:ln w="9525">
            <a:solidFill>
              <a:srgbClr val="802980"/>
            </a:solidFill>
            <a:prstDash val="solid"/>
          </a:ln>
        </p:spPr>
      </p:sp>
      <p:sp>
        <p:nvSpPr>
          <p:cNvPr id="35" name="Text 29"/>
          <p:cNvSpPr/>
          <p:nvPr/>
        </p:nvSpPr>
        <p:spPr>
          <a:xfrm>
            <a:off x="777240" y="3840480"/>
            <a:ext cx="10637215" cy="274320"/>
          </a:xfrm>
          <a:prstGeom prst="rect">
            <a:avLst/>
          </a:prstGeom>
          <a:noFill/>
          <a:ln/>
        </p:spPr>
        <p:txBody>
          <a:bodyPr wrap="square" rtlCol="0" anchor="ctr"/>
          <a:lstStyle/>
          <a:p>
            <a:pPr rtl="1" algn="r" indent="0" marL="0">
              <a:buNone/>
            </a:pPr>
            <a:r>
              <a:rPr lang="en-US" sz="1250" b="1" dirty="0">
                <a:solidFill>
                  <a:srgbClr val="802980"/>
                </a:solidFill>
                <a:latin typeface="Cambria" pitchFamily="34" charset="0"/>
                <a:ea typeface="Cambria" pitchFamily="34" charset="-122"/>
                <a:cs typeface="Cambria" pitchFamily="34" charset="-120"/>
              </a:rPr>
              <a:t>الرابط الاستراتيجي: التوجه نحو الاعتماد الدولي</a:t>
            </a:r>
            <a:endParaRPr lang="en-US" sz="1250" dirty="0"/>
          </a:p>
        </p:txBody>
      </p:sp>
      <p:sp>
        <p:nvSpPr>
          <p:cNvPr id="36" name="Text 30"/>
          <p:cNvSpPr/>
          <p:nvPr/>
        </p:nvSpPr>
        <p:spPr>
          <a:xfrm>
            <a:off x="777240" y="4133088"/>
            <a:ext cx="10637215" cy="320040"/>
          </a:xfrm>
          <a:prstGeom prst="rect">
            <a:avLst/>
          </a:prstGeom>
          <a:noFill/>
          <a:ln/>
        </p:spPr>
        <p:txBody>
          <a:bodyPr wrap="square" rtlCol="0" anchor="ctr"/>
          <a:lstStyle/>
          <a:p>
            <a:pPr rtl="1" algn="r" indent="0" marL="0">
              <a:buNone/>
            </a:pPr>
            <a:r>
              <a:rPr lang="en-US" sz="950" dirty="0">
                <a:solidFill>
                  <a:srgbClr val="1B1B2F"/>
                </a:solidFill>
                <a:latin typeface="Arial" pitchFamily="34" charset="0"/>
                <a:ea typeface="Arial" pitchFamily="34" charset="-122"/>
                <a:cs typeface="Arial" pitchFamily="34" charset="-120"/>
              </a:rPr>
              <a:t>هذا النهج يدعم توجه المدرسة الاستراتيجي نحو التحول للاعتماد الدولي، مثل اعتماد Cognia، عبر بناء سجل حي من الأدلة والمعارض الطلابية بدل الاكتفاء بالمحتوى النظري</a:t>
            </a:r>
            <a:endParaRPr lang="en-US" sz="950" dirty="0"/>
          </a:p>
        </p:txBody>
      </p:sp>
      <p:sp>
        <p:nvSpPr>
          <p:cNvPr id="37" name="Text 31"/>
          <p:cNvSpPr/>
          <p:nvPr/>
        </p:nvSpPr>
        <p:spPr>
          <a:xfrm>
            <a:off x="777240" y="4453128"/>
            <a:ext cx="10637215" cy="274320"/>
          </a:xfrm>
          <a:prstGeom prst="rect">
            <a:avLst/>
          </a:prstGeom>
          <a:noFill/>
          <a:ln/>
        </p:spPr>
        <p:txBody>
          <a:bodyPr wrap="square" rtlCol="0" anchor="ctr"/>
          <a:lstStyle/>
          <a:p>
            <a:pPr algn="r" indent="0" marL="0">
              <a:buNone/>
            </a:pPr>
            <a:r>
              <a:rPr lang="en-US" sz="850" i="1" dirty="0">
                <a:solidFill>
                  <a:srgbClr val="5A5F73"/>
                </a:solidFill>
                <a:latin typeface="Arial" pitchFamily="34" charset="0"/>
                <a:ea typeface="Arial" pitchFamily="34" charset="-122"/>
                <a:cs typeface="Arial" pitchFamily="34" charset="-120"/>
              </a:rPr>
              <a:t>This approach supports the school's strategic direction toward international accreditation, such as Cognia, by building a living record of evidence and student exhibitions rather than theoretical content alone</a:t>
            </a:r>
            <a:endParaRPr lang="en-US" sz="850" dirty="0"/>
          </a:p>
        </p:txBody>
      </p:sp>
      <p:sp>
        <p:nvSpPr>
          <p:cNvPr id="38" name="Shape 32"/>
          <p:cNvSpPr/>
          <p:nvPr/>
        </p:nvSpPr>
        <p:spPr>
          <a:xfrm>
            <a:off x="6233008" y="5074920"/>
            <a:ext cx="5410048" cy="1051560"/>
          </a:xfrm>
          <a:prstGeom prst="roundRect">
            <a:avLst>
              <a:gd name="adj" fmla="val 5217"/>
            </a:avLst>
          </a:prstGeom>
          <a:solidFill>
            <a:srgbClr val="F2F7F8"/>
          </a:solidFill>
          <a:ln w="9525">
            <a:solidFill>
              <a:srgbClr val="283373"/>
            </a:solidFill>
            <a:prstDash val="solid"/>
          </a:ln>
        </p:spPr>
      </p:sp>
      <p:sp>
        <p:nvSpPr>
          <p:cNvPr id="39" name="Text 33"/>
          <p:cNvSpPr/>
          <p:nvPr/>
        </p:nvSpPr>
        <p:spPr>
          <a:xfrm>
            <a:off x="6415888" y="5166360"/>
            <a:ext cx="5044288" cy="502920"/>
          </a:xfrm>
          <a:prstGeom prst="rect">
            <a:avLst/>
          </a:prstGeom>
          <a:noFill/>
          <a:ln/>
        </p:spPr>
        <p:txBody>
          <a:bodyPr wrap="square" rtlCol="0" anchor="t"/>
          <a:lstStyle/>
          <a:p>
            <a:pPr rtl="1" algn="r" indent="0" marL="0">
              <a:buNone/>
            </a:pPr>
            <a:r>
              <a:rPr lang="en-US" sz="1000" b="1" dirty="0">
                <a:solidFill>
                  <a:srgbClr val="283373"/>
                </a:solidFill>
                <a:latin typeface="Cambria" pitchFamily="34" charset="0"/>
                <a:ea typeface="Cambria" pitchFamily="34" charset="-122"/>
                <a:cs typeface="Cambria" pitchFamily="34" charset="-120"/>
              </a:rPr>
              <a:t>الذكاء الاصطناعي المسؤول: مبادئ سدايا (الهيئة السعودية للبيانات والذكاء الاصطناعي)</a:t>
            </a:r>
            <a:endParaRPr lang="en-US" sz="1000" dirty="0"/>
          </a:p>
        </p:txBody>
      </p:sp>
      <p:sp>
        <p:nvSpPr>
          <p:cNvPr id="40" name="Text 34"/>
          <p:cNvSpPr/>
          <p:nvPr/>
        </p:nvSpPr>
        <p:spPr>
          <a:xfrm>
            <a:off x="6415888" y="5696712"/>
            <a:ext cx="5044288" cy="365760"/>
          </a:xfrm>
          <a:prstGeom prst="rect">
            <a:avLst/>
          </a:prstGeom>
          <a:noFill/>
          <a:ln/>
        </p:spPr>
        <p:txBody>
          <a:bodyPr wrap="square" rtlCol="0" anchor="t"/>
          <a:lstStyle/>
          <a:p>
            <a:pPr algn="r" indent="0" marL="0">
              <a:buNone/>
            </a:pPr>
            <a:r>
              <a:rPr lang="en-US" sz="850" i="1" dirty="0">
                <a:solidFill>
                  <a:srgbClr val="5A5F73"/>
                </a:solidFill>
                <a:latin typeface="Arial" pitchFamily="34" charset="0"/>
                <a:ea typeface="Arial" pitchFamily="34" charset="-122"/>
                <a:cs typeface="Arial" pitchFamily="34" charset="-120"/>
              </a:rPr>
              <a:t>Responsible AI: SDAIA (Saudi Data &amp; AI Authority) AI Ethics Principles</a:t>
            </a:r>
            <a:endParaRPr lang="en-US" sz="850" dirty="0"/>
          </a:p>
        </p:txBody>
      </p:sp>
      <p:sp>
        <p:nvSpPr>
          <p:cNvPr id="41" name="Shape 35"/>
          <p:cNvSpPr/>
          <p:nvPr/>
        </p:nvSpPr>
        <p:spPr>
          <a:xfrm>
            <a:off x="548640" y="5074920"/>
            <a:ext cx="5410048" cy="1051560"/>
          </a:xfrm>
          <a:prstGeom prst="roundRect">
            <a:avLst>
              <a:gd name="adj" fmla="val 5217"/>
            </a:avLst>
          </a:prstGeom>
          <a:solidFill>
            <a:srgbClr val="F2F7F8"/>
          </a:solidFill>
          <a:ln w="9525">
            <a:solidFill>
              <a:srgbClr val="007D8F"/>
            </a:solidFill>
            <a:prstDash val="solid"/>
          </a:ln>
        </p:spPr>
      </p:sp>
      <p:sp>
        <p:nvSpPr>
          <p:cNvPr id="42" name="Text 36"/>
          <p:cNvSpPr/>
          <p:nvPr/>
        </p:nvSpPr>
        <p:spPr>
          <a:xfrm>
            <a:off x="731520" y="5166360"/>
            <a:ext cx="5044288" cy="502920"/>
          </a:xfrm>
          <a:prstGeom prst="rect">
            <a:avLst/>
          </a:prstGeom>
          <a:noFill/>
          <a:ln/>
        </p:spPr>
        <p:txBody>
          <a:bodyPr wrap="square" rtlCol="0" anchor="t"/>
          <a:lstStyle/>
          <a:p>
            <a:pPr rtl="1" algn="r" indent="0" marL="0">
              <a:buNone/>
            </a:pPr>
            <a:r>
              <a:rPr lang="en-US" sz="1000" b="1" dirty="0">
                <a:solidFill>
                  <a:srgbClr val="007D8F"/>
                </a:solidFill>
                <a:latin typeface="Cambria" pitchFamily="34" charset="0"/>
                <a:ea typeface="Cambria" pitchFamily="34" charset="-122"/>
                <a:cs typeface="Cambria" pitchFamily="34" charset="-120"/>
              </a:rPr>
              <a:t>الأمن السيبراني: ضوابط الهيئة الوطنية (NCA ECC)</a:t>
            </a:r>
            <a:endParaRPr lang="en-US" sz="1000" dirty="0"/>
          </a:p>
        </p:txBody>
      </p:sp>
      <p:sp>
        <p:nvSpPr>
          <p:cNvPr id="43" name="Text 37"/>
          <p:cNvSpPr/>
          <p:nvPr/>
        </p:nvSpPr>
        <p:spPr>
          <a:xfrm>
            <a:off x="731520" y="5696712"/>
            <a:ext cx="5044288" cy="365760"/>
          </a:xfrm>
          <a:prstGeom prst="rect">
            <a:avLst/>
          </a:prstGeom>
          <a:noFill/>
          <a:ln/>
        </p:spPr>
        <p:txBody>
          <a:bodyPr wrap="square" rtlCol="0" anchor="t"/>
          <a:lstStyle/>
          <a:p>
            <a:pPr algn="r" indent="0" marL="0">
              <a:buNone/>
            </a:pPr>
            <a:r>
              <a:rPr lang="en-US" sz="850" i="1" dirty="0">
                <a:solidFill>
                  <a:srgbClr val="5A5F73"/>
                </a:solidFill>
                <a:latin typeface="Arial" pitchFamily="34" charset="0"/>
                <a:ea typeface="Arial" pitchFamily="34" charset="-122"/>
                <a:cs typeface="Arial" pitchFamily="34" charset="-120"/>
              </a:rPr>
              <a:t>Cybersecurity: NCA Essential Controls (ECC)</a:t>
            </a:r>
            <a:endParaRPr lang="en-US" sz="850" dirty="0"/>
          </a:p>
        </p:txBody>
      </p:sp>
      <p:sp>
        <p:nvSpPr>
          <p:cNvPr id="44" name="Text 38"/>
          <p:cNvSpPr/>
          <p:nvPr/>
        </p:nvSpPr>
        <p:spPr>
          <a:xfrm>
            <a:off x="11551615" y="6400800"/>
            <a:ext cx="365760" cy="274320"/>
          </a:xfrm>
          <a:prstGeom prst="rect">
            <a:avLst/>
          </a:prstGeom>
          <a:noFill/>
          <a:ln/>
        </p:spPr>
        <p:txBody>
          <a:bodyPr wrap="square" rtlCol="0" anchor="ctr"/>
          <a:lstStyle/>
          <a:p>
            <a:pPr algn="r" indent="0" marL="0">
              <a:buNone/>
            </a:pPr>
            <a:r>
              <a:rPr lang="en-US" sz="1000" dirty="0">
                <a:solidFill>
                  <a:srgbClr val="5A5F73"/>
                </a:solidFill>
                <a:latin typeface="Arial" pitchFamily="34" charset="0"/>
                <a:ea typeface="Arial" pitchFamily="34" charset="-122"/>
                <a:cs typeface="Arial"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92608"/>
            <a:ext cx="2824759" cy="501091"/>
          </a:xfrm>
          <a:prstGeom prst="roundRect">
            <a:avLst>
              <a:gd name="adj" fmla="val 10949"/>
            </a:avLst>
          </a:prstGeom>
          <a:solidFill>
            <a:srgbClr val="FFFFFF"/>
          </a:solidFill>
          <a:ln w="6350">
            <a:solidFill>
              <a:srgbClr val="E3E8EA"/>
            </a:solidFill>
            <a:prstDash val="solid"/>
          </a:ln>
          <a:effectLst>
            <a:outerShdw sx="100000" sy="100000" kx="0" ky="0" algn="bl" rotWithShape="0" blurRad="50800" dist="12700" dir="5400000">
              <a:srgbClr val="888888">
                <a:alpha val="25000"/>
              </a:srgbClr>
            </a:outerShdw>
          </a:effectLst>
        </p:spPr>
      </p:sp>
      <p:pic>
        <p:nvPicPr>
          <p:cNvPr id="3" name="Image 0" descr="/home/claude/qubits_pptx/logos/trim_dar_alforsan.png">    </p:cNvPr>
          <p:cNvPicPr>
            <a:picLocks noChangeAspect="1"/>
          </p:cNvPicPr>
          <p:nvPr/>
        </p:nvPicPr>
        <p:blipFill>
          <a:blip r:embed="rId1"/>
          <a:stretch>
            <a:fillRect/>
          </a:stretch>
        </p:blipFill>
        <p:spPr>
          <a:xfrm>
            <a:off x="484632" y="387706"/>
            <a:ext cx="270802" cy="310896"/>
          </a:xfrm>
          <a:prstGeom prst="rect">
            <a:avLst/>
          </a:prstGeom>
        </p:spPr>
      </p:pic>
      <p:pic>
        <p:nvPicPr>
          <p:cNvPr id="4" name="Image 1" descr="/home/claude/qubits_pptx/logos/trim_diploma_section.png">    </p:cNvPr>
          <p:cNvPicPr>
            <a:picLocks noChangeAspect="1"/>
          </p:cNvPicPr>
          <p:nvPr/>
        </p:nvPicPr>
        <p:blipFill>
          <a:blip r:embed="rId2"/>
          <a:stretch>
            <a:fillRect/>
          </a:stretch>
        </p:blipFill>
        <p:spPr>
          <a:xfrm>
            <a:off x="846874" y="387706"/>
            <a:ext cx="253851" cy="310896"/>
          </a:xfrm>
          <a:prstGeom prst="rect">
            <a:avLst/>
          </a:prstGeom>
        </p:spPr>
      </p:pic>
      <p:pic>
        <p:nvPicPr>
          <p:cNvPr id="5" name="Image 2" descr="/home/claude/qubits_pptx/logos/trim_qubits_v4.png">    </p:cNvPr>
          <p:cNvPicPr>
            <a:picLocks noChangeAspect="1"/>
          </p:cNvPicPr>
          <p:nvPr/>
        </p:nvPicPr>
        <p:blipFill>
          <a:blip r:embed="rId3"/>
          <a:stretch>
            <a:fillRect/>
          </a:stretch>
        </p:blipFill>
        <p:spPr>
          <a:xfrm>
            <a:off x="1192164" y="387706"/>
            <a:ext cx="981777" cy="310896"/>
          </a:xfrm>
          <a:prstGeom prst="rect">
            <a:avLst/>
          </a:prstGeom>
        </p:spPr>
      </p:pic>
      <p:pic>
        <p:nvPicPr>
          <p:cNvPr id="6" name="Image 3" descr="/home/claude/qubits_pptx/logos/trim_aiaasc.png">    </p:cNvPr>
          <p:cNvPicPr>
            <a:picLocks noChangeAspect="1"/>
          </p:cNvPicPr>
          <p:nvPr/>
        </p:nvPicPr>
        <p:blipFill>
          <a:blip r:embed="rId4"/>
          <a:stretch>
            <a:fillRect/>
          </a:stretch>
        </p:blipFill>
        <p:spPr>
          <a:xfrm>
            <a:off x="2265381" y="387706"/>
            <a:ext cx="806266" cy="310896"/>
          </a:xfrm>
          <a:prstGeom prst="rect">
            <a:avLst/>
          </a:prstGeom>
        </p:spPr>
      </p:pic>
      <p:sp>
        <p:nvSpPr>
          <p:cNvPr id="7" name="Text 1"/>
          <p:cNvSpPr/>
          <p:nvPr/>
        </p:nvSpPr>
        <p:spPr>
          <a:xfrm>
            <a:off x="548640" y="438912"/>
            <a:ext cx="11094415" cy="502920"/>
          </a:xfrm>
          <a:prstGeom prst="rect">
            <a:avLst/>
          </a:prstGeom>
          <a:noFill/>
          <a:ln/>
        </p:spPr>
        <p:txBody>
          <a:bodyPr wrap="square" lIns="0" tIns="0" rIns="0" bIns="0" rtlCol="0" anchor="ctr"/>
          <a:lstStyle/>
          <a:p>
            <a:pPr rtl="1" algn="r" indent="0" marL="0">
              <a:buNone/>
            </a:pPr>
            <a:r>
              <a:rPr lang="en-US" sz="2400" b="1" dirty="0">
                <a:solidFill>
                  <a:srgbClr val="802980"/>
                </a:solidFill>
                <a:latin typeface="Cambria" pitchFamily="34" charset="0"/>
                <a:ea typeface="Cambria" pitchFamily="34" charset="-122"/>
                <a:cs typeface="Cambria" pitchFamily="34" charset="-120"/>
              </a:rPr>
              <a:t>iDar Tech Team — الأنشطة اللاصفية</a:t>
            </a:r>
            <a:endParaRPr lang="en-US" sz="2400" dirty="0"/>
          </a:p>
        </p:txBody>
      </p:sp>
      <p:sp>
        <p:nvSpPr>
          <p:cNvPr id="8" name="Text 2"/>
          <p:cNvSpPr/>
          <p:nvPr/>
        </p:nvSpPr>
        <p:spPr>
          <a:xfrm>
            <a:off x="548640" y="914400"/>
            <a:ext cx="11094415" cy="320040"/>
          </a:xfrm>
          <a:prstGeom prst="rect">
            <a:avLst/>
          </a:prstGeom>
          <a:noFill/>
          <a:ln/>
        </p:spPr>
        <p:txBody>
          <a:bodyPr wrap="square" lIns="0" tIns="0" rIns="0" bIns="0" rtlCol="0" anchor="ctr"/>
          <a:lstStyle/>
          <a:p>
            <a:pPr algn="r" indent="0" marL="0">
              <a:buNone/>
            </a:pPr>
            <a:r>
              <a:rPr lang="en-US" sz="1200" i="1" dirty="0">
                <a:solidFill>
                  <a:srgbClr val="5A5F73"/>
                </a:solidFill>
                <a:latin typeface="Arial" pitchFamily="34" charset="0"/>
                <a:ea typeface="Arial" pitchFamily="34" charset="-122"/>
                <a:cs typeface="Arial" pitchFamily="34" charset="-120"/>
              </a:rPr>
              <a:t>A Talent Pathway Mirroring the Job Market</a:t>
            </a:r>
            <a:endParaRPr lang="en-US" sz="1200" dirty="0"/>
          </a:p>
        </p:txBody>
      </p:sp>
      <p:sp>
        <p:nvSpPr>
          <p:cNvPr id="9" name="Shape 3"/>
          <p:cNvSpPr/>
          <p:nvPr/>
        </p:nvSpPr>
        <p:spPr>
          <a:xfrm>
            <a:off x="591160" y="1600200"/>
            <a:ext cx="2084832" cy="3063240"/>
          </a:xfrm>
          <a:prstGeom prst="roundRect">
            <a:avLst>
              <a:gd name="adj" fmla="val 3509"/>
            </a:avLst>
          </a:prstGeom>
          <a:solidFill>
            <a:srgbClr val="F2F7F8"/>
          </a:solidFill>
          <a:ln/>
        </p:spPr>
      </p:sp>
      <p:sp>
        <p:nvSpPr>
          <p:cNvPr id="10" name="Shape 4"/>
          <p:cNvSpPr/>
          <p:nvPr/>
        </p:nvSpPr>
        <p:spPr>
          <a:xfrm>
            <a:off x="591160" y="1600200"/>
            <a:ext cx="2084832" cy="91440"/>
          </a:xfrm>
          <a:prstGeom prst="rect">
            <a:avLst/>
          </a:prstGeom>
          <a:solidFill>
            <a:srgbClr val="802980"/>
          </a:solidFill>
          <a:ln/>
        </p:spPr>
      </p:sp>
      <p:sp>
        <p:nvSpPr>
          <p:cNvPr id="11" name="Text 5"/>
          <p:cNvSpPr/>
          <p:nvPr/>
        </p:nvSpPr>
        <p:spPr>
          <a:xfrm>
            <a:off x="682600" y="1801368"/>
            <a:ext cx="1901952" cy="502920"/>
          </a:xfrm>
          <a:prstGeom prst="rect">
            <a:avLst/>
          </a:prstGeom>
          <a:noFill/>
          <a:ln/>
        </p:spPr>
        <p:txBody>
          <a:bodyPr wrap="square" rtlCol="0" anchor="ctr"/>
          <a:lstStyle/>
          <a:p>
            <a:pPr rtl="1" algn="ctr" indent="0" marL="0">
              <a:buNone/>
            </a:pPr>
            <a:r>
              <a:rPr lang="en-US" sz="1300" b="1" dirty="0">
                <a:solidFill>
                  <a:srgbClr val="005A66"/>
                </a:solidFill>
                <a:latin typeface="Cambria" pitchFamily="34" charset="0"/>
                <a:ea typeface="Cambria" pitchFamily="34" charset="-122"/>
                <a:cs typeface="Cambria" pitchFamily="34" charset="-120"/>
              </a:rPr>
              <a:t>الفن الرقمي والإبداع البصري</a:t>
            </a:r>
            <a:endParaRPr lang="en-US" sz="1300" dirty="0"/>
          </a:p>
        </p:txBody>
      </p:sp>
      <p:sp>
        <p:nvSpPr>
          <p:cNvPr id="12" name="Text 6"/>
          <p:cNvSpPr/>
          <p:nvPr/>
        </p:nvSpPr>
        <p:spPr>
          <a:xfrm>
            <a:off x="682600" y="2286000"/>
            <a:ext cx="1901952" cy="320040"/>
          </a:xfrm>
          <a:prstGeom prst="rect">
            <a:avLst/>
          </a:prstGeom>
          <a:noFill/>
          <a:ln/>
        </p:spPr>
        <p:txBody>
          <a:bodyPr wrap="square" rtlCol="0" anchor="ctr"/>
          <a:lstStyle/>
          <a:p>
            <a:pPr algn="ctr" indent="0" marL="0">
              <a:buNone/>
            </a:pPr>
            <a:r>
              <a:rPr lang="en-US" sz="850" i="1" dirty="0">
                <a:solidFill>
                  <a:srgbClr val="5A5F73"/>
                </a:solidFill>
                <a:latin typeface="Arial" pitchFamily="34" charset="0"/>
                <a:ea typeface="Arial" pitchFamily="34" charset="-122"/>
                <a:cs typeface="Arial" pitchFamily="34" charset="-120"/>
              </a:rPr>
              <a:t>Digital Art &amp; Creative Design</a:t>
            </a:r>
            <a:endParaRPr lang="en-US" sz="850" dirty="0"/>
          </a:p>
        </p:txBody>
      </p:sp>
      <p:sp>
        <p:nvSpPr>
          <p:cNvPr id="13" name="Shape 7"/>
          <p:cNvSpPr/>
          <p:nvPr/>
        </p:nvSpPr>
        <p:spPr>
          <a:xfrm>
            <a:off x="911200" y="2697480"/>
            <a:ext cx="1444752" cy="329184"/>
          </a:xfrm>
          <a:prstGeom prst="roundRect">
            <a:avLst>
              <a:gd name="adj" fmla="val 50000"/>
            </a:avLst>
          </a:prstGeom>
          <a:solidFill>
            <a:srgbClr val="FFFFFF"/>
          </a:solidFill>
          <a:ln w="12700">
            <a:solidFill>
              <a:srgbClr val="802980"/>
            </a:solidFill>
            <a:prstDash val="solid"/>
          </a:ln>
        </p:spPr>
      </p:sp>
      <p:sp>
        <p:nvSpPr>
          <p:cNvPr id="14" name="Text 8"/>
          <p:cNvSpPr/>
          <p:nvPr/>
        </p:nvSpPr>
        <p:spPr>
          <a:xfrm>
            <a:off x="911200" y="2697480"/>
            <a:ext cx="1444752" cy="329184"/>
          </a:xfrm>
          <a:prstGeom prst="rect">
            <a:avLst/>
          </a:prstGeom>
          <a:noFill/>
          <a:ln/>
        </p:spPr>
        <p:txBody>
          <a:bodyPr wrap="square" lIns="0" tIns="0" rIns="0" bIns="0" rtlCol="0" anchor="ctr"/>
          <a:lstStyle/>
          <a:p>
            <a:pPr algn="ctr" indent="0" marL="0">
              <a:buNone/>
            </a:pPr>
            <a:r>
              <a:rPr lang="en-US" sz="1000" b="1" dirty="0">
                <a:solidFill>
                  <a:srgbClr val="802980"/>
                </a:solidFill>
                <a:latin typeface="Arial" pitchFamily="34" charset="0"/>
                <a:ea typeface="Arial" pitchFamily="34" charset="-122"/>
                <a:cs typeface="Arial" pitchFamily="34" charset="-120"/>
              </a:rPr>
              <a:t>Creative Technologist</a:t>
            </a:r>
            <a:endParaRPr lang="en-US" sz="1000" dirty="0"/>
          </a:p>
        </p:txBody>
      </p:sp>
      <p:sp>
        <p:nvSpPr>
          <p:cNvPr id="15" name="Text 9"/>
          <p:cNvSpPr/>
          <p:nvPr/>
        </p:nvSpPr>
        <p:spPr>
          <a:xfrm>
            <a:off x="728320" y="3172968"/>
            <a:ext cx="1810512" cy="1280160"/>
          </a:xfrm>
          <a:prstGeom prst="rect">
            <a:avLst/>
          </a:prstGeom>
          <a:noFill/>
          <a:ln/>
        </p:spPr>
        <p:txBody>
          <a:bodyPr wrap="square" rtlCol="0" anchor="t"/>
          <a:lstStyle/>
          <a:p>
            <a:pPr algn="ctr" indent="0" marL="0">
              <a:lnSpc>
                <a:spcPct val="130000"/>
              </a:lnSpc>
              <a:buNone/>
            </a:pPr>
            <a:r>
              <a:rPr lang="en-US" sz="900" dirty="0">
                <a:solidFill>
                  <a:srgbClr val="1B1B2F"/>
                </a:solidFill>
                <a:latin typeface="Arial" pitchFamily="34" charset="0"/>
                <a:ea typeface="Arial" pitchFamily="34" charset="-122"/>
                <a:cs typeface="Arial" pitchFamily="34" charset="-120"/>
              </a:rPr>
              <a:t>Generative Artist · Brand Designer · 3D Modeler</a:t>
            </a:r>
            <a:endParaRPr lang="en-US" sz="900" dirty="0"/>
          </a:p>
        </p:txBody>
      </p:sp>
      <p:sp>
        <p:nvSpPr>
          <p:cNvPr id="16" name="Shape 10"/>
          <p:cNvSpPr/>
          <p:nvPr/>
        </p:nvSpPr>
        <p:spPr>
          <a:xfrm>
            <a:off x="2822296" y="1600200"/>
            <a:ext cx="2084832" cy="3063240"/>
          </a:xfrm>
          <a:prstGeom prst="roundRect">
            <a:avLst>
              <a:gd name="adj" fmla="val 3509"/>
            </a:avLst>
          </a:prstGeom>
          <a:solidFill>
            <a:srgbClr val="F2F7F8"/>
          </a:solidFill>
          <a:ln/>
        </p:spPr>
      </p:sp>
      <p:sp>
        <p:nvSpPr>
          <p:cNvPr id="17" name="Shape 11"/>
          <p:cNvSpPr/>
          <p:nvPr/>
        </p:nvSpPr>
        <p:spPr>
          <a:xfrm>
            <a:off x="2822296" y="1600200"/>
            <a:ext cx="2084832" cy="91440"/>
          </a:xfrm>
          <a:prstGeom prst="rect">
            <a:avLst/>
          </a:prstGeom>
          <a:solidFill>
            <a:srgbClr val="007D8F"/>
          </a:solidFill>
          <a:ln/>
        </p:spPr>
      </p:sp>
      <p:sp>
        <p:nvSpPr>
          <p:cNvPr id="18" name="Text 12"/>
          <p:cNvSpPr/>
          <p:nvPr/>
        </p:nvSpPr>
        <p:spPr>
          <a:xfrm>
            <a:off x="2913736" y="1801368"/>
            <a:ext cx="1901952" cy="502920"/>
          </a:xfrm>
          <a:prstGeom prst="rect">
            <a:avLst/>
          </a:prstGeom>
          <a:noFill/>
          <a:ln/>
        </p:spPr>
        <p:txBody>
          <a:bodyPr wrap="square" rtlCol="0" anchor="ctr"/>
          <a:lstStyle/>
          <a:p>
            <a:pPr rtl="1" algn="ctr" indent="0" marL="0">
              <a:buNone/>
            </a:pPr>
            <a:r>
              <a:rPr lang="en-US" sz="1300" b="1" dirty="0">
                <a:solidFill>
                  <a:srgbClr val="005A66"/>
                </a:solidFill>
                <a:latin typeface="Cambria" pitchFamily="34" charset="0"/>
                <a:ea typeface="Cambria" pitchFamily="34" charset="-122"/>
                <a:cs typeface="Cambria" pitchFamily="34" charset="-120"/>
              </a:rPr>
              <a:t>التقنيات المتقدمة</a:t>
            </a:r>
            <a:endParaRPr lang="en-US" sz="1300" dirty="0"/>
          </a:p>
        </p:txBody>
      </p:sp>
      <p:sp>
        <p:nvSpPr>
          <p:cNvPr id="19" name="Text 13"/>
          <p:cNvSpPr/>
          <p:nvPr/>
        </p:nvSpPr>
        <p:spPr>
          <a:xfrm>
            <a:off x="2913736" y="2286000"/>
            <a:ext cx="1901952" cy="320040"/>
          </a:xfrm>
          <a:prstGeom prst="rect">
            <a:avLst/>
          </a:prstGeom>
          <a:noFill/>
          <a:ln/>
        </p:spPr>
        <p:txBody>
          <a:bodyPr wrap="square" rtlCol="0" anchor="ctr"/>
          <a:lstStyle/>
          <a:p>
            <a:pPr algn="ctr" indent="0" marL="0">
              <a:buNone/>
            </a:pPr>
            <a:r>
              <a:rPr lang="en-US" sz="850" i="1" dirty="0">
                <a:solidFill>
                  <a:srgbClr val="5A5F73"/>
                </a:solidFill>
                <a:latin typeface="Arial" pitchFamily="34" charset="0"/>
                <a:ea typeface="Arial" pitchFamily="34" charset="-122"/>
                <a:cs typeface="Arial" pitchFamily="34" charset="-120"/>
              </a:rPr>
              <a:t>Advanced Technologies</a:t>
            </a:r>
            <a:endParaRPr lang="en-US" sz="850" dirty="0"/>
          </a:p>
        </p:txBody>
      </p:sp>
      <p:sp>
        <p:nvSpPr>
          <p:cNvPr id="20" name="Shape 14"/>
          <p:cNvSpPr/>
          <p:nvPr/>
        </p:nvSpPr>
        <p:spPr>
          <a:xfrm>
            <a:off x="3142336" y="2697480"/>
            <a:ext cx="1444752" cy="329184"/>
          </a:xfrm>
          <a:prstGeom prst="roundRect">
            <a:avLst>
              <a:gd name="adj" fmla="val 50000"/>
            </a:avLst>
          </a:prstGeom>
          <a:solidFill>
            <a:srgbClr val="FFFFFF"/>
          </a:solidFill>
          <a:ln w="12700">
            <a:solidFill>
              <a:srgbClr val="007D8F"/>
            </a:solidFill>
            <a:prstDash val="solid"/>
          </a:ln>
        </p:spPr>
      </p:sp>
      <p:sp>
        <p:nvSpPr>
          <p:cNvPr id="21" name="Text 15"/>
          <p:cNvSpPr/>
          <p:nvPr/>
        </p:nvSpPr>
        <p:spPr>
          <a:xfrm>
            <a:off x="3142336" y="2697480"/>
            <a:ext cx="1444752" cy="329184"/>
          </a:xfrm>
          <a:prstGeom prst="rect">
            <a:avLst/>
          </a:prstGeom>
          <a:noFill/>
          <a:ln/>
        </p:spPr>
        <p:txBody>
          <a:bodyPr wrap="square" lIns="0" tIns="0" rIns="0" bIns="0" rtlCol="0" anchor="ctr"/>
          <a:lstStyle/>
          <a:p>
            <a:pPr algn="ctr" indent="0" marL="0">
              <a:buNone/>
            </a:pPr>
            <a:r>
              <a:rPr lang="en-US" sz="1000" b="1" dirty="0">
                <a:solidFill>
                  <a:srgbClr val="007D8F"/>
                </a:solidFill>
                <a:latin typeface="Arial" pitchFamily="34" charset="0"/>
                <a:ea typeface="Arial" pitchFamily="34" charset="-122"/>
                <a:cs typeface="Arial" pitchFamily="34" charset="-120"/>
              </a:rPr>
              <a:t>Nano Tech Pioneer</a:t>
            </a:r>
            <a:endParaRPr lang="en-US" sz="1000" dirty="0"/>
          </a:p>
        </p:txBody>
      </p:sp>
      <p:sp>
        <p:nvSpPr>
          <p:cNvPr id="22" name="Text 16"/>
          <p:cNvSpPr/>
          <p:nvPr/>
        </p:nvSpPr>
        <p:spPr>
          <a:xfrm>
            <a:off x="2959456" y="3172968"/>
            <a:ext cx="1810512" cy="1280160"/>
          </a:xfrm>
          <a:prstGeom prst="rect">
            <a:avLst/>
          </a:prstGeom>
          <a:noFill/>
          <a:ln/>
        </p:spPr>
        <p:txBody>
          <a:bodyPr wrap="square" rtlCol="0" anchor="t"/>
          <a:lstStyle/>
          <a:p>
            <a:pPr algn="ctr" indent="0" marL="0">
              <a:lnSpc>
                <a:spcPct val="130000"/>
              </a:lnSpc>
              <a:buNone/>
            </a:pPr>
            <a:r>
              <a:rPr lang="en-US" sz="900" dirty="0">
                <a:solidFill>
                  <a:srgbClr val="1B1B2F"/>
                </a:solidFill>
                <a:latin typeface="Arial" pitchFamily="34" charset="0"/>
                <a:ea typeface="Arial" pitchFamily="34" charset="-122"/>
                <a:cs typeface="Arial" pitchFamily="34" charset="-120"/>
              </a:rPr>
              <a:t>Systems Analyst · Cloud Specialist</a:t>
            </a:r>
            <a:endParaRPr lang="en-US" sz="900" dirty="0"/>
          </a:p>
        </p:txBody>
      </p:sp>
      <p:sp>
        <p:nvSpPr>
          <p:cNvPr id="23" name="Shape 17"/>
          <p:cNvSpPr/>
          <p:nvPr/>
        </p:nvSpPr>
        <p:spPr>
          <a:xfrm>
            <a:off x="5053432" y="1600200"/>
            <a:ext cx="2084832" cy="3063240"/>
          </a:xfrm>
          <a:prstGeom prst="roundRect">
            <a:avLst>
              <a:gd name="adj" fmla="val 3509"/>
            </a:avLst>
          </a:prstGeom>
          <a:solidFill>
            <a:srgbClr val="F2F7F8"/>
          </a:solidFill>
          <a:ln/>
        </p:spPr>
      </p:sp>
      <p:sp>
        <p:nvSpPr>
          <p:cNvPr id="24" name="Shape 18"/>
          <p:cNvSpPr/>
          <p:nvPr/>
        </p:nvSpPr>
        <p:spPr>
          <a:xfrm>
            <a:off x="5053432" y="1600200"/>
            <a:ext cx="2084832" cy="91440"/>
          </a:xfrm>
          <a:prstGeom prst="rect">
            <a:avLst/>
          </a:prstGeom>
          <a:solidFill>
            <a:srgbClr val="007D8F"/>
          </a:solidFill>
          <a:ln/>
        </p:spPr>
      </p:sp>
      <p:sp>
        <p:nvSpPr>
          <p:cNvPr id="25" name="Text 19"/>
          <p:cNvSpPr/>
          <p:nvPr/>
        </p:nvSpPr>
        <p:spPr>
          <a:xfrm>
            <a:off x="5144872" y="1801368"/>
            <a:ext cx="1901952" cy="502920"/>
          </a:xfrm>
          <a:prstGeom prst="rect">
            <a:avLst/>
          </a:prstGeom>
          <a:noFill/>
          <a:ln/>
        </p:spPr>
        <p:txBody>
          <a:bodyPr wrap="square" rtlCol="0" anchor="ctr"/>
          <a:lstStyle/>
          <a:p>
            <a:pPr rtl="1" algn="ctr" indent="0" marL="0">
              <a:buNone/>
            </a:pPr>
            <a:r>
              <a:rPr lang="en-US" sz="1300" b="1" dirty="0">
                <a:solidFill>
                  <a:srgbClr val="005A66"/>
                </a:solidFill>
                <a:latin typeface="Cambria" pitchFamily="34" charset="0"/>
                <a:ea typeface="Cambria" pitchFamily="34" charset="-122"/>
                <a:cs typeface="Cambria" pitchFamily="34" charset="-120"/>
              </a:rPr>
              <a:t>التطوير والابتكار</a:t>
            </a:r>
            <a:endParaRPr lang="en-US" sz="1300" dirty="0"/>
          </a:p>
        </p:txBody>
      </p:sp>
      <p:sp>
        <p:nvSpPr>
          <p:cNvPr id="26" name="Text 20"/>
          <p:cNvSpPr/>
          <p:nvPr/>
        </p:nvSpPr>
        <p:spPr>
          <a:xfrm>
            <a:off x="5144872" y="2286000"/>
            <a:ext cx="1901952" cy="320040"/>
          </a:xfrm>
          <a:prstGeom prst="rect">
            <a:avLst/>
          </a:prstGeom>
          <a:noFill/>
          <a:ln/>
        </p:spPr>
        <p:txBody>
          <a:bodyPr wrap="square" rtlCol="0" anchor="ctr"/>
          <a:lstStyle/>
          <a:p>
            <a:pPr algn="ctr" indent="0" marL="0">
              <a:buNone/>
            </a:pPr>
            <a:r>
              <a:rPr lang="en-US" sz="850" i="1" dirty="0">
                <a:solidFill>
                  <a:srgbClr val="5A5F73"/>
                </a:solidFill>
                <a:latin typeface="Arial" pitchFamily="34" charset="0"/>
                <a:ea typeface="Arial" pitchFamily="34" charset="-122"/>
                <a:cs typeface="Arial" pitchFamily="34" charset="-120"/>
              </a:rPr>
              <a:t>Development &amp; Innovation</a:t>
            </a:r>
            <a:endParaRPr lang="en-US" sz="850" dirty="0"/>
          </a:p>
        </p:txBody>
      </p:sp>
      <p:sp>
        <p:nvSpPr>
          <p:cNvPr id="27" name="Shape 21"/>
          <p:cNvSpPr/>
          <p:nvPr/>
        </p:nvSpPr>
        <p:spPr>
          <a:xfrm>
            <a:off x="5373472" y="2697480"/>
            <a:ext cx="1444752" cy="329184"/>
          </a:xfrm>
          <a:prstGeom prst="roundRect">
            <a:avLst>
              <a:gd name="adj" fmla="val 50000"/>
            </a:avLst>
          </a:prstGeom>
          <a:solidFill>
            <a:srgbClr val="FFFFFF"/>
          </a:solidFill>
          <a:ln w="12700">
            <a:solidFill>
              <a:srgbClr val="007D8F"/>
            </a:solidFill>
            <a:prstDash val="solid"/>
          </a:ln>
        </p:spPr>
      </p:sp>
      <p:sp>
        <p:nvSpPr>
          <p:cNvPr id="28" name="Text 22"/>
          <p:cNvSpPr/>
          <p:nvPr/>
        </p:nvSpPr>
        <p:spPr>
          <a:xfrm>
            <a:off x="5373472" y="2697480"/>
            <a:ext cx="1444752" cy="329184"/>
          </a:xfrm>
          <a:prstGeom prst="rect">
            <a:avLst/>
          </a:prstGeom>
          <a:noFill/>
          <a:ln/>
        </p:spPr>
        <p:txBody>
          <a:bodyPr wrap="square" lIns="0" tIns="0" rIns="0" bIns="0" rtlCol="0" anchor="ctr"/>
          <a:lstStyle/>
          <a:p>
            <a:pPr algn="ctr" indent="0" marL="0">
              <a:buNone/>
            </a:pPr>
            <a:r>
              <a:rPr lang="en-US" sz="1000" b="1" dirty="0">
                <a:solidFill>
                  <a:srgbClr val="007D8F"/>
                </a:solidFill>
                <a:latin typeface="Arial" pitchFamily="34" charset="0"/>
                <a:ea typeface="Arial" pitchFamily="34" charset="-122"/>
                <a:cs typeface="Arial" pitchFamily="34" charset="-120"/>
              </a:rPr>
              <a:t>Innovation Architect</a:t>
            </a:r>
            <a:endParaRPr lang="en-US" sz="1000" dirty="0"/>
          </a:p>
        </p:txBody>
      </p:sp>
      <p:sp>
        <p:nvSpPr>
          <p:cNvPr id="29" name="Text 23"/>
          <p:cNvSpPr/>
          <p:nvPr/>
        </p:nvSpPr>
        <p:spPr>
          <a:xfrm>
            <a:off x="5190592" y="3172968"/>
            <a:ext cx="1810512" cy="1280160"/>
          </a:xfrm>
          <a:prstGeom prst="rect">
            <a:avLst/>
          </a:prstGeom>
          <a:noFill/>
          <a:ln/>
        </p:spPr>
        <p:txBody>
          <a:bodyPr wrap="square" rtlCol="0" anchor="t"/>
          <a:lstStyle/>
          <a:p>
            <a:pPr algn="ctr" indent="0" marL="0">
              <a:lnSpc>
                <a:spcPct val="130000"/>
              </a:lnSpc>
              <a:buNone/>
            </a:pPr>
            <a:r>
              <a:rPr lang="en-US" sz="900" dirty="0">
                <a:solidFill>
                  <a:srgbClr val="1B1B2F"/>
                </a:solidFill>
                <a:latin typeface="Arial" pitchFamily="34" charset="0"/>
                <a:ea typeface="Arial" pitchFamily="34" charset="-122"/>
                <a:cs typeface="Arial" pitchFamily="34" charset="-120"/>
              </a:rPr>
              <a:t>App Developer · Game Dev · UI/UX Designer</a:t>
            </a:r>
            <a:endParaRPr lang="en-US" sz="900" dirty="0"/>
          </a:p>
        </p:txBody>
      </p:sp>
      <p:sp>
        <p:nvSpPr>
          <p:cNvPr id="30" name="Shape 24"/>
          <p:cNvSpPr/>
          <p:nvPr/>
        </p:nvSpPr>
        <p:spPr>
          <a:xfrm>
            <a:off x="7284568" y="1600200"/>
            <a:ext cx="2084832" cy="3063240"/>
          </a:xfrm>
          <a:prstGeom prst="roundRect">
            <a:avLst>
              <a:gd name="adj" fmla="val 3509"/>
            </a:avLst>
          </a:prstGeom>
          <a:solidFill>
            <a:srgbClr val="F2F7F8"/>
          </a:solidFill>
          <a:ln/>
        </p:spPr>
      </p:sp>
      <p:sp>
        <p:nvSpPr>
          <p:cNvPr id="31" name="Shape 25"/>
          <p:cNvSpPr/>
          <p:nvPr/>
        </p:nvSpPr>
        <p:spPr>
          <a:xfrm>
            <a:off x="7284568" y="1600200"/>
            <a:ext cx="2084832" cy="91440"/>
          </a:xfrm>
          <a:prstGeom prst="rect">
            <a:avLst/>
          </a:prstGeom>
          <a:solidFill>
            <a:srgbClr val="283373"/>
          </a:solidFill>
          <a:ln/>
        </p:spPr>
      </p:sp>
      <p:sp>
        <p:nvSpPr>
          <p:cNvPr id="32" name="Text 26"/>
          <p:cNvSpPr/>
          <p:nvPr/>
        </p:nvSpPr>
        <p:spPr>
          <a:xfrm>
            <a:off x="7376008" y="1801368"/>
            <a:ext cx="1901952" cy="502920"/>
          </a:xfrm>
          <a:prstGeom prst="rect">
            <a:avLst/>
          </a:prstGeom>
          <a:noFill/>
          <a:ln/>
        </p:spPr>
        <p:txBody>
          <a:bodyPr wrap="square" rtlCol="0" anchor="ctr"/>
          <a:lstStyle/>
          <a:p>
            <a:pPr rtl="1" algn="ctr" indent="0" marL="0">
              <a:buNone/>
            </a:pPr>
            <a:r>
              <a:rPr lang="en-US" sz="1300" b="1" dirty="0">
                <a:solidFill>
                  <a:srgbClr val="005A66"/>
                </a:solidFill>
                <a:latin typeface="Cambria" pitchFamily="34" charset="0"/>
                <a:ea typeface="Cambria" pitchFamily="34" charset="-122"/>
                <a:cs typeface="Cambria" pitchFamily="34" charset="-120"/>
              </a:rPr>
              <a:t>البيانات والذكاء الاصطناعي</a:t>
            </a:r>
            <a:endParaRPr lang="en-US" sz="1300" dirty="0"/>
          </a:p>
        </p:txBody>
      </p:sp>
      <p:sp>
        <p:nvSpPr>
          <p:cNvPr id="33" name="Text 27"/>
          <p:cNvSpPr/>
          <p:nvPr/>
        </p:nvSpPr>
        <p:spPr>
          <a:xfrm>
            <a:off x="7376008" y="2286000"/>
            <a:ext cx="1901952" cy="320040"/>
          </a:xfrm>
          <a:prstGeom prst="rect">
            <a:avLst/>
          </a:prstGeom>
          <a:noFill/>
          <a:ln/>
        </p:spPr>
        <p:txBody>
          <a:bodyPr wrap="square" rtlCol="0" anchor="ctr"/>
          <a:lstStyle/>
          <a:p>
            <a:pPr algn="ctr" indent="0" marL="0">
              <a:buNone/>
            </a:pPr>
            <a:r>
              <a:rPr lang="en-US" sz="850" i="1" dirty="0">
                <a:solidFill>
                  <a:srgbClr val="5A5F73"/>
                </a:solidFill>
                <a:latin typeface="Arial" pitchFamily="34" charset="0"/>
                <a:ea typeface="Arial" pitchFamily="34" charset="-122"/>
                <a:cs typeface="Arial" pitchFamily="34" charset="-120"/>
              </a:rPr>
              <a:t>Data &amp; AI</a:t>
            </a:r>
            <a:endParaRPr lang="en-US" sz="850" dirty="0"/>
          </a:p>
        </p:txBody>
      </p:sp>
      <p:sp>
        <p:nvSpPr>
          <p:cNvPr id="34" name="Shape 28"/>
          <p:cNvSpPr/>
          <p:nvPr/>
        </p:nvSpPr>
        <p:spPr>
          <a:xfrm>
            <a:off x="7604608" y="2697480"/>
            <a:ext cx="1444752" cy="329184"/>
          </a:xfrm>
          <a:prstGeom prst="roundRect">
            <a:avLst>
              <a:gd name="adj" fmla="val 50000"/>
            </a:avLst>
          </a:prstGeom>
          <a:solidFill>
            <a:srgbClr val="FFFFFF"/>
          </a:solidFill>
          <a:ln w="12700">
            <a:solidFill>
              <a:srgbClr val="283373"/>
            </a:solidFill>
            <a:prstDash val="solid"/>
          </a:ln>
        </p:spPr>
      </p:sp>
      <p:sp>
        <p:nvSpPr>
          <p:cNvPr id="35" name="Text 29"/>
          <p:cNvSpPr/>
          <p:nvPr/>
        </p:nvSpPr>
        <p:spPr>
          <a:xfrm>
            <a:off x="7604608" y="2697480"/>
            <a:ext cx="1444752" cy="329184"/>
          </a:xfrm>
          <a:prstGeom prst="rect">
            <a:avLst/>
          </a:prstGeom>
          <a:noFill/>
          <a:ln/>
        </p:spPr>
        <p:txBody>
          <a:bodyPr wrap="square" lIns="0" tIns="0" rIns="0" bIns="0" rtlCol="0" anchor="ctr"/>
          <a:lstStyle/>
          <a:p>
            <a:pPr algn="ctr" indent="0" marL="0">
              <a:buNone/>
            </a:pPr>
            <a:r>
              <a:rPr lang="en-US" sz="1000" b="1" dirty="0">
                <a:solidFill>
                  <a:srgbClr val="283373"/>
                </a:solidFill>
                <a:latin typeface="Arial" pitchFamily="34" charset="0"/>
                <a:ea typeface="Arial" pitchFamily="34" charset="-122"/>
                <a:cs typeface="Arial" pitchFamily="34" charset="-120"/>
              </a:rPr>
              <a:t>Logic Architect</a:t>
            </a:r>
            <a:endParaRPr lang="en-US" sz="1000" dirty="0"/>
          </a:p>
        </p:txBody>
      </p:sp>
      <p:sp>
        <p:nvSpPr>
          <p:cNvPr id="36" name="Text 30"/>
          <p:cNvSpPr/>
          <p:nvPr/>
        </p:nvSpPr>
        <p:spPr>
          <a:xfrm>
            <a:off x="7421728" y="3172968"/>
            <a:ext cx="1810512" cy="1280160"/>
          </a:xfrm>
          <a:prstGeom prst="rect">
            <a:avLst/>
          </a:prstGeom>
          <a:noFill/>
          <a:ln/>
        </p:spPr>
        <p:txBody>
          <a:bodyPr wrap="square" rtlCol="0" anchor="t"/>
          <a:lstStyle/>
          <a:p>
            <a:pPr algn="ctr" indent="0" marL="0">
              <a:lnSpc>
                <a:spcPct val="130000"/>
              </a:lnSpc>
              <a:buNone/>
            </a:pPr>
            <a:r>
              <a:rPr lang="en-US" sz="900" dirty="0">
                <a:solidFill>
                  <a:srgbClr val="1B1B2F"/>
                </a:solidFill>
                <a:latin typeface="Arial" pitchFamily="34" charset="0"/>
                <a:ea typeface="Arial" pitchFamily="34" charset="-122"/>
                <a:cs typeface="Arial" pitchFamily="34" charset="-120"/>
              </a:rPr>
              <a:t>Data Scientist · Prompt Engineer</a:t>
            </a:r>
            <a:endParaRPr lang="en-US" sz="900" dirty="0"/>
          </a:p>
        </p:txBody>
      </p:sp>
      <p:sp>
        <p:nvSpPr>
          <p:cNvPr id="37" name="Shape 31"/>
          <p:cNvSpPr/>
          <p:nvPr/>
        </p:nvSpPr>
        <p:spPr>
          <a:xfrm>
            <a:off x="9515704" y="1600200"/>
            <a:ext cx="2084832" cy="3063240"/>
          </a:xfrm>
          <a:prstGeom prst="roundRect">
            <a:avLst>
              <a:gd name="adj" fmla="val 3509"/>
            </a:avLst>
          </a:prstGeom>
          <a:solidFill>
            <a:srgbClr val="F2F7F8"/>
          </a:solidFill>
          <a:ln/>
        </p:spPr>
      </p:sp>
      <p:sp>
        <p:nvSpPr>
          <p:cNvPr id="38" name="Shape 32"/>
          <p:cNvSpPr/>
          <p:nvPr/>
        </p:nvSpPr>
        <p:spPr>
          <a:xfrm>
            <a:off x="9515704" y="1600200"/>
            <a:ext cx="2084832" cy="91440"/>
          </a:xfrm>
          <a:prstGeom prst="rect">
            <a:avLst/>
          </a:prstGeom>
          <a:solidFill>
            <a:srgbClr val="007D8F"/>
          </a:solidFill>
          <a:ln/>
        </p:spPr>
      </p:sp>
      <p:sp>
        <p:nvSpPr>
          <p:cNvPr id="39" name="Text 33"/>
          <p:cNvSpPr/>
          <p:nvPr/>
        </p:nvSpPr>
        <p:spPr>
          <a:xfrm>
            <a:off x="9607144" y="1801368"/>
            <a:ext cx="1901952" cy="502920"/>
          </a:xfrm>
          <a:prstGeom prst="rect">
            <a:avLst/>
          </a:prstGeom>
          <a:noFill/>
          <a:ln/>
        </p:spPr>
        <p:txBody>
          <a:bodyPr wrap="square" rtlCol="0" anchor="ctr"/>
          <a:lstStyle/>
          <a:p>
            <a:pPr rtl="1" algn="ctr" indent="0" marL="0">
              <a:buNone/>
            </a:pPr>
            <a:r>
              <a:rPr lang="en-US" sz="1300" b="1" dirty="0">
                <a:solidFill>
                  <a:srgbClr val="005A66"/>
                </a:solidFill>
                <a:latin typeface="Cambria" pitchFamily="34" charset="0"/>
                <a:ea typeface="Cambria" pitchFamily="34" charset="-122"/>
                <a:cs typeface="Cambria" pitchFamily="34" charset="-120"/>
              </a:rPr>
              <a:t>أمن المعلومات والشبكات</a:t>
            </a:r>
            <a:endParaRPr lang="en-US" sz="1300" dirty="0"/>
          </a:p>
        </p:txBody>
      </p:sp>
      <p:sp>
        <p:nvSpPr>
          <p:cNvPr id="40" name="Text 34"/>
          <p:cNvSpPr/>
          <p:nvPr/>
        </p:nvSpPr>
        <p:spPr>
          <a:xfrm>
            <a:off x="9607144" y="2286000"/>
            <a:ext cx="1901952" cy="320040"/>
          </a:xfrm>
          <a:prstGeom prst="rect">
            <a:avLst/>
          </a:prstGeom>
          <a:noFill/>
          <a:ln/>
        </p:spPr>
        <p:txBody>
          <a:bodyPr wrap="square" rtlCol="0" anchor="ctr"/>
          <a:lstStyle/>
          <a:p>
            <a:pPr algn="ctr" indent="0" marL="0">
              <a:buNone/>
            </a:pPr>
            <a:r>
              <a:rPr lang="en-US" sz="850" i="1" dirty="0">
                <a:solidFill>
                  <a:srgbClr val="5A5F73"/>
                </a:solidFill>
                <a:latin typeface="Arial" pitchFamily="34" charset="0"/>
                <a:ea typeface="Arial" pitchFamily="34" charset="-122"/>
                <a:cs typeface="Arial" pitchFamily="34" charset="-120"/>
              </a:rPr>
              <a:t>Cybersecurity &amp; Networks</a:t>
            </a:r>
            <a:endParaRPr lang="en-US" sz="850" dirty="0"/>
          </a:p>
        </p:txBody>
      </p:sp>
      <p:sp>
        <p:nvSpPr>
          <p:cNvPr id="41" name="Shape 35"/>
          <p:cNvSpPr/>
          <p:nvPr/>
        </p:nvSpPr>
        <p:spPr>
          <a:xfrm>
            <a:off x="9835744" y="2697480"/>
            <a:ext cx="1444752" cy="329184"/>
          </a:xfrm>
          <a:prstGeom prst="roundRect">
            <a:avLst>
              <a:gd name="adj" fmla="val 50000"/>
            </a:avLst>
          </a:prstGeom>
          <a:solidFill>
            <a:srgbClr val="FFFFFF"/>
          </a:solidFill>
          <a:ln w="12700">
            <a:solidFill>
              <a:srgbClr val="007D8F"/>
            </a:solidFill>
            <a:prstDash val="solid"/>
          </a:ln>
        </p:spPr>
      </p:sp>
      <p:sp>
        <p:nvSpPr>
          <p:cNvPr id="42" name="Text 36"/>
          <p:cNvSpPr/>
          <p:nvPr/>
        </p:nvSpPr>
        <p:spPr>
          <a:xfrm>
            <a:off x="9835744" y="2697480"/>
            <a:ext cx="1444752" cy="329184"/>
          </a:xfrm>
          <a:prstGeom prst="rect">
            <a:avLst/>
          </a:prstGeom>
          <a:noFill/>
          <a:ln/>
        </p:spPr>
        <p:txBody>
          <a:bodyPr wrap="square" lIns="0" tIns="0" rIns="0" bIns="0" rtlCol="0" anchor="ctr"/>
          <a:lstStyle/>
          <a:p>
            <a:pPr algn="ctr" indent="0" marL="0">
              <a:buNone/>
            </a:pPr>
            <a:r>
              <a:rPr lang="en-US" sz="1000" b="1" dirty="0">
                <a:solidFill>
                  <a:srgbClr val="007D8F"/>
                </a:solidFill>
                <a:latin typeface="Arial" pitchFamily="34" charset="0"/>
                <a:ea typeface="Arial" pitchFamily="34" charset="-122"/>
                <a:cs typeface="Arial" pitchFamily="34" charset="-120"/>
              </a:rPr>
              <a:t>Cyber Guardian</a:t>
            </a:r>
            <a:endParaRPr lang="en-US" sz="1000" dirty="0"/>
          </a:p>
        </p:txBody>
      </p:sp>
      <p:sp>
        <p:nvSpPr>
          <p:cNvPr id="43" name="Text 37"/>
          <p:cNvSpPr/>
          <p:nvPr/>
        </p:nvSpPr>
        <p:spPr>
          <a:xfrm>
            <a:off x="9652864" y="3172968"/>
            <a:ext cx="1810512" cy="1280160"/>
          </a:xfrm>
          <a:prstGeom prst="rect">
            <a:avLst/>
          </a:prstGeom>
          <a:noFill/>
          <a:ln/>
        </p:spPr>
        <p:txBody>
          <a:bodyPr wrap="square" rtlCol="0" anchor="t"/>
          <a:lstStyle/>
          <a:p>
            <a:pPr algn="ctr" indent="0" marL="0">
              <a:lnSpc>
                <a:spcPct val="130000"/>
              </a:lnSpc>
              <a:buNone/>
            </a:pPr>
            <a:r>
              <a:rPr lang="en-US" sz="900" dirty="0">
                <a:solidFill>
                  <a:srgbClr val="1B1B2F"/>
                </a:solidFill>
                <a:latin typeface="Arial" pitchFamily="34" charset="0"/>
                <a:ea typeface="Arial" pitchFamily="34" charset="-122"/>
                <a:cs typeface="Arial" pitchFamily="34" charset="-120"/>
              </a:rPr>
              <a:t>Network Architect · Ethical Hacker*</a:t>
            </a:r>
            <a:endParaRPr lang="en-US" sz="900" dirty="0"/>
          </a:p>
        </p:txBody>
      </p:sp>
      <p:sp>
        <p:nvSpPr>
          <p:cNvPr id="44" name="Text 38"/>
          <p:cNvSpPr/>
          <p:nvPr/>
        </p:nvSpPr>
        <p:spPr>
          <a:xfrm>
            <a:off x="548640" y="4892040"/>
            <a:ext cx="11094415" cy="274320"/>
          </a:xfrm>
          <a:prstGeom prst="rect">
            <a:avLst/>
          </a:prstGeom>
          <a:noFill/>
          <a:ln/>
        </p:spPr>
        <p:txBody>
          <a:bodyPr wrap="square" rtlCol="0" anchor="ctr"/>
          <a:lstStyle/>
          <a:p>
            <a:pPr rtl="1" algn="ctr" indent="0" marL="0">
              <a:buNone/>
            </a:pPr>
            <a:r>
              <a:rPr lang="en-US" sz="1000" i="1" dirty="0">
                <a:solidFill>
                  <a:srgbClr val="5A5F73"/>
                </a:solidFill>
                <a:latin typeface="Arial" pitchFamily="34" charset="0"/>
                <a:ea typeface="Arial" pitchFamily="34" charset="-122"/>
                <a:cs typeface="Arial" pitchFamily="34" charset="-120"/>
              </a:rPr>
              <a:t>* لقب "Ethical Hacker" يشير إلى اختراق أخلاقي مُشرَف عليه بالكامل ضمن بيئة تعليمية مغلقة وآمنة</a:t>
            </a:r>
            <a:endParaRPr lang="en-US" sz="1000" dirty="0"/>
          </a:p>
        </p:txBody>
      </p:sp>
      <p:sp>
        <p:nvSpPr>
          <p:cNvPr id="45" name="Shape 39"/>
          <p:cNvSpPr/>
          <p:nvPr/>
        </p:nvSpPr>
        <p:spPr>
          <a:xfrm>
            <a:off x="6233008" y="5349240"/>
            <a:ext cx="5410048" cy="777240"/>
          </a:xfrm>
          <a:prstGeom prst="roundRect">
            <a:avLst>
              <a:gd name="adj" fmla="val 8235"/>
            </a:avLst>
          </a:prstGeom>
          <a:solidFill>
            <a:srgbClr val="FFFFFF"/>
          </a:solidFill>
          <a:ln w="9525">
            <a:solidFill>
              <a:srgbClr val="E3E8EA"/>
            </a:solidFill>
            <a:prstDash val="solid"/>
          </a:ln>
        </p:spPr>
      </p:sp>
      <p:sp>
        <p:nvSpPr>
          <p:cNvPr id="46" name="Text 40"/>
          <p:cNvSpPr/>
          <p:nvPr/>
        </p:nvSpPr>
        <p:spPr>
          <a:xfrm>
            <a:off x="6415888" y="5422392"/>
            <a:ext cx="5044288" cy="219456"/>
          </a:xfrm>
          <a:prstGeom prst="rect">
            <a:avLst/>
          </a:prstGeom>
          <a:noFill/>
          <a:ln/>
        </p:spPr>
        <p:txBody>
          <a:bodyPr wrap="square" rtlCol="0" anchor="ctr"/>
          <a:lstStyle/>
          <a:p>
            <a:pPr algn="ctr" indent="0" marL="0">
              <a:buNone/>
            </a:pPr>
            <a:r>
              <a:rPr lang="en-US" sz="850" b="1" dirty="0">
                <a:solidFill>
                  <a:srgbClr val="802980"/>
                </a:solidFill>
                <a:latin typeface="Arial" pitchFamily="34" charset="0"/>
                <a:ea typeface="Arial" pitchFamily="34" charset="-122"/>
                <a:cs typeface="Arial" pitchFamily="34" charset="-120"/>
              </a:rPr>
              <a:t>النطاق  ·  Scope</a:t>
            </a:r>
            <a:endParaRPr lang="en-US" sz="850" dirty="0"/>
          </a:p>
        </p:txBody>
      </p:sp>
      <p:sp>
        <p:nvSpPr>
          <p:cNvPr id="47" name="Text 41"/>
          <p:cNvSpPr/>
          <p:nvPr/>
        </p:nvSpPr>
        <p:spPr>
          <a:xfrm>
            <a:off x="6415888" y="5641848"/>
            <a:ext cx="5044288" cy="237744"/>
          </a:xfrm>
          <a:prstGeom prst="rect">
            <a:avLst/>
          </a:prstGeom>
          <a:noFill/>
          <a:ln/>
        </p:spPr>
        <p:txBody>
          <a:bodyPr wrap="square" rtlCol="0" anchor="ctr"/>
          <a:lstStyle/>
          <a:p>
            <a:pPr rtl="1" algn="ctr" indent="0" marL="0">
              <a:buNone/>
            </a:pPr>
            <a:r>
              <a:rPr lang="en-US" sz="950" dirty="0">
                <a:solidFill>
                  <a:srgbClr val="1B1B2F"/>
                </a:solidFill>
                <a:latin typeface="Arial" pitchFamily="34" charset="0"/>
                <a:ea typeface="Arial" pitchFamily="34" charset="-122"/>
                <a:cs typeface="Arial" pitchFamily="34" charset="-120"/>
              </a:rPr>
              <a:t>تمثيل من كل فصل دراسي، لا نخبة محدودة على مستوى المدرسة</a:t>
            </a:r>
            <a:endParaRPr lang="en-US" sz="950" dirty="0"/>
          </a:p>
        </p:txBody>
      </p:sp>
      <p:sp>
        <p:nvSpPr>
          <p:cNvPr id="48" name="Text 42"/>
          <p:cNvSpPr/>
          <p:nvPr/>
        </p:nvSpPr>
        <p:spPr>
          <a:xfrm>
            <a:off x="6415888" y="5879592"/>
            <a:ext cx="5044288" cy="201168"/>
          </a:xfrm>
          <a:prstGeom prst="rect">
            <a:avLst/>
          </a:prstGeom>
          <a:noFill/>
          <a:ln/>
        </p:spPr>
        <p:txBody>
          <a:bodyPr wrap="square" rtlCol="0" anchor="ctr"/>
          <a:lstStyle/>
          <a:p>
            <a:pPr algn="ctr" indent="0" marL="0">
              <a:buNone/>
            </a:pPr>
            <a:r>
              <a:rPr lang="en-US" sz="800" i="1" dirty="0">
                <a:solidFill>
                  <a:srgbClr val="5A5F73"/>
                </a:solidFill>
                <a:latin typeface="Arial" pitchFamily="34" charset="0"/>
                <a:ea typeface="Arial" pitchFamily="34" charset="-122"/>
                <a:cs typeface="Arial" pitchFamily="34" charset="-120"/>
              </a:rPr>
              <a:t>Representation from every classroom, not a school-wide elite few</a:t>
            </a:r>
            <a:endParaRPr lang="en-US" sz="800" dirty="0"/>
          </a:p>
        </p:txBody>
      </p:sp>
      <p:sp>
        <p:nvSpPr>
          <p:cNvPr id="49" name="Shape 43"/>
          <p:cNvSpPr/>
          <p:nvPr/>
        </p:nvSpPr>
        <p:spPr>
          <a:xfrm>
            <a:off x="548640" y="5349240"/>
            <a:ext cx="5410048" cy="777240"/>
          </a:xfrm>
          <a:prstGeom prst="roundRect">
            <a:avLst>
              <a:gd name="adj" fmla="val 8235"/>
            </a:avLst>
          </a:prstGeom>
          <a:solidFill>
            <a:srgbClr val="FFFFFF"/>
          </a:solidFill>
          <a:ln w="9525">
            <a:solidFill>
              <a:srgbClr val="E3E8EA"/>
            </a:solidFill>
            <a:prstDash val="solid"/>
          </a:ln>
        </p:spPr>
      </p:sp>
      <p:sp>
        <p:nvSpPr>
          <p:cNvPr id="50" name="Text 44"/>
          <p:cNvSpPr/>
          <p:nvPr/>
        </p:nvSpPr>
        <p:spPr>
          <a:xfrm>
            <a:off x="731520" y="5422392"/>
            <a:ext cx="5044288" cy="219456"/>
          </a:xfrm>
          <a:prstGeom prst="rect">
            <a:avLst/>
          </a:prstGeom>
          <a:noFill/>
          <a:ln/>
        </p:spPr>
        <p:txBody>
          <a:bodyPr wrap="square" rtlCol="0" anchor="ctr"/>
          <a:lstStyle/>
          <a:p>
            <a:pPr algn="ctr" indent="0" marL="0">
              <a:buNone/>
            </a:pPr>
            <a:r>
              <a:rPr lang="en-US" sz="850" b="1" dirty="0">
                <a:solidFill>
                  <a:srgbClr val="802980"/>
                </a:solidFill>
                <a:latin typeface="Arial" pitchFamily="34" charset="0"/>
                <a:ea typeface="Arial" pitchFamily="34" charset="-122"/>
                <a:cs typeface="Arial" pitchFamily="34" charset="-120"/>
              </a:rPr>
              <a:t>آلية الترشيح  ·  Nomination</a:t>
            </a:r>
            <a:endParaRPr lang="en-US" sz="850" dirty="0"/>
          </a:p>
        </p:txBody>
      </p:sp>
      <p:sp>
        <p:nvSpPr>
          <p:cNvPr id="51" name="Text 45"/>
          <p:cNvSpPr/>
          <p:nvPr/>
        </p:nvSpPr>
        <p:spPr>
          <a:xfrm>
            <a:off x="731520" y="5641848"/>
            <a:ext cx="5044288" cy="237744"/>
          </a:xfrm>
          <a:prstGeom prst="rect">
            <a:avLst/>
          </a:prstGeom>
          <a:noFill/>
          <a:ln/>
        </p:spPr>
        <p:txBody>
          <a:bodyPr wrap="square" rtlCol="0" anchor="ctr"/>
          <a:lstStyle/>
          <a:p>
            <a:pPr rtl="1" algn="ctr" indent="0" marL="0">
              <a:buNone/>
            </a:pPr>
            <a:r>
              <a:rPr lang="en-US" sz="950" dirty="0">
                <a:solidFill>
                  <a:srgbClr val="1B1B2F"/>
                </a:solidFill>
                <a:latin typeface="Arial" pitchFamily="34" charset="0"/>
                <a:ea typeface="Arial" pitchFamily="34" charset="-122"/>
                <a:cs typeface="Arial" pitchFamily="34" charset="-120"/>
              </a:rPr>
              <a:t>ترشيح المعلم، اهتمام الطالب المُعلن، ونموذج عمل مصغّر</a:t>
            </a:r>
            <a:endParaRPr lang="en-US" sz="950" dirty="0"/>
          </a:p>
        </p:txBody>
      </p:sp>
      <p:sp>
        <p:nvSpPr>
          <p:cNvPr id="52" name="Text 46"/>
          <p:cNvSpPr/>
          <p:nvPr/>
        </p:nvSpPr>
        <p:spPr>
          <a:xfrm>
            <a:off x="731520" y="5879592"/>
            <a:ext cx="5044288" cy="201168"/>
          </a:xfrm>
          <a:prstGeom prst="rect">
            <a:avLst/>
          </a:prstGeom>
          <a:noFill/>
          <a:ln/>
        </p:spPr>
        <p:txBody>
          <a:bodyPr wrap="square" rtlCol="0" anchor="ctr"/>
          <a:lstStyle/>
          <a:p>
            <a:pPr algn="ctr" indent="0" marL="0">
              <a:buNone/>
            </a:pPr>
            <a:r>
              <a:rPr lang="en-US" sz="800" i="1" dirty="0">
                <a:solidFill>
                  <a:srgbClr val="5A5F73"/>
                </a:solidFill>
                <a:latin typeface="Arial" pitchFamily="34" charset="0"/>
                <a:ea typeface="Arial" pitchFamily="34" charset="-122"/>
                <a:cs typeface="Arial" pitchFamily="34" charset="-120"/>
              </a:rPr>
              <a:t>Teacher nomination, declared interest, and a mini project sample</a:t>
            </a:r>
            <a:endParaRPr lang="en-US" sz="800" dirty="0"/>
          </a:p>
        </p:txBody>
      </p:sp>
      <p:sp>
        <p:nvSpPr>
          <p:cNvPr id="53" name="Text 47"/>
          <p:cNvSpPr/>
          <p:nvPr/>
        </p:nvSpPr>
        <p:spPr>
          <a:xfrm>
            <a:off x="11551615" y="6400800"/>
            <a:ext cx="365760" cy="274320"/>
          </a:xfrm>
          <a:prstGeom prst="rect">
            <a:avLst/>
          </a:prstGeom>
          <a:noFill/>
          <a:ln/>
        </p:spPr>
        <p:txBody>
          <a:bodyPr wrap="square" rtlCol="0" anchor="ctr"/>
          <a:lstStyle/>
          <a:p>
            <a:pPr algn="r" indent="0" marL="0">
              <a:buNone/>
            </a:pPr>
            <a:r>
              <a:rPr lang="en-US" sz="1000" dirty="0">
                <a:solidFill>
                  <a:srgbClr val="5A5F73"/>
                </a:solidFill>
                <a:latin typeface="Arial" pitchFamily="34" charset="0"/>
                <a:ea typeface="Arial" pitchFamily="34" charset="-122"/>
                <a:cs typeface="Arial"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92608"/>
            <a:ext cx="2824759" cy="501091"/>
          </a:xfrm>
          <a:prstGeom prst="roundRect">
            <a:avLst>
              <a:gd name="adj" fmla="val 10949"/>
            </a:avLst>
          </a:prstGeom>
          <a:solidFill>
            <a:srgbClr val="FFFFFF"/>
          </a:solidFill>
          <a:ln w="6350">
            <a:solidFill>
              <a:srgbClr val="E3E8EA"/>
            </a:solidFill>
            <a:prstDash val="solid"/>
          </a:ln>
          <a:effectLst>
            <a:outerShdw sx="100000" sy="100000" kx="0" ky="0" algn="bl" rotWithShape="0" blurRad="50800" dist="12700" dir="5400000">
              <a:srgbClr val="888888">
                <a:alpha val="25000"/>
              </a:srgbClr>
            </a:outerShdw>
          </a:effectLst>
        </p:spPr>
      </p:sp>
      <p:pic>
        <p:nvPicPr>
          <p:cNvPr id="3" name="Image 0" descr="/home/claude/qubits_pptx/logos/trim_dar_alforsan.png">    </p:cNvPr>
          <p:cNvPicPr>
            <a:picLocks noChangeAspect="1"/>
          </p:cNvPicPr>
          <p:nvPr/>
        </p:nvPicPr>
        <p:blipFill>
          <a:blip r:embed="rId1"/>
          <a:stretch>
            <a:fillRect/>
          </a:stretch>
        </p:blipFill>
        <p:spPr>
          <a:xfrm>
            <a:off x="484632" y="387706"/>
            <a:ext cx="270802" cy="310896"/>
          </a:xfrm>
          <a:prstGeom prst="rect">
            <a:avLst/>
          </a:prstGeom>
        </p:spPr>
      </p:pic>
      <p:pic>
        <p:nvPicPr>
          <p:cNvPr id="4" name="Image 1" descr="/home/claude/qubits_pptx/logos/trim_diploma_section.png">    </p:cNvPr>
          <p:cNvPicPr>
            <a:picLocks noChangeAspect="1"/>
          </p:cNvPicPr>
          <p:nvPr/>
        </p:nvPicPr>
        <p:blipFill>
          <a:blip r:embed="rId2"/>
          <a:stretch>
            <a:fillRect/>
          </a:stretch>
        </p:blipFill>
        <p:spPr>
          <a:xfrm>
            <a:off x="846874" y="387706"/>
            <a:ext cx="253851" cy="310896"/>
          </a:xfrm>
          <a:prstGeom prst="rect">
            <a:avLst/>
          </a:prstGeom>
        </p:spPr>
      </p:pic>
      <p:pic>
        <p:nvPicPr>
          <p:cNvPr id="5" name="Image 2" descr="/home/claude/qubits_pptx/logos/trim_qubits_v4.png">    </p:cNvPr>
          <p:cNvPicPr>
            <a:picLocks noChangeAspect="1"/>
          </p:cNvPicPr>
          <p:nvPr/>
        </p:nvPicPr>
        <p:blipFill>
          <a:blip r:embed="rId3"/>
          <a:stretch>
            <a:fillRect/>
          </a:stretch>
        </p:blipFill>
        <p:spPr>
          <a:xfrm>
            <a:off x="1192164" y="387706"/>
            <a:ext cx="981777" cy="310896"/>
          </a:xfrm>
          <a:prstGeom prst="rect">
            <a:avLst/>
          </a:prstGeom>
        </p:spPr>
      </p:pic>
      <p:pic>
        <p:nvPicPr>
          <p:cNvPr id="6" name="Image 3" descr="/home/claude/qubits_pptx/logos/trim_aiaasc.png">    </p:cNvPr>
          <p:cNvPicPr>
            <a:picLocks noChangeAspect="1"/>
          </p:cNvPicPr>
          <p:nvPr/>
        </p:nvPicPr>
        <p:blipFill>
          <a:blip r:embed="rId4"/>
          <a:stretch>
            <a:fillRect/>
          </a:stretch>
        </p:blipFill>
        <p:spPr>
          <a:xfrm>
            <a:off x="2265381" y="387706"/>
            <a:ext cx="806266" cy="310896"/>
          </a:xfrm>
          <a:prstGeom prst="rect">
            <a:avLst/>
          </a:prstGeom>
        </p:spPr>
      </p:pic>
      <p:sp>
        <p:nvSpPr>
          <p:cNvPr id="7" name="Text 1"/>
          <p:cNvSpPr/>
          <p:nvPr/>
        </p:nvSpPr>
        <p:spPr>
          <a:xfrm>
            <a:off x="548640" y="438912"/>
            <a:ext cx="11094415" cy="502920"/>
          </a:xfrm>
          <a:prstGeom prst="rect">
            <a:avLst/>
          </a:prstGeom>
          <a:noFill/>
          <a:ln/>
        </p:spPr>
        <p:txBody>
          <a:bodyPr wrap="square" lIns="0" tIns="0" rIns="0" bIns="0" rtlCol="0" anchor="ctr"/>
          <a:lstStyle/>
          <a:p>
            <a:pPr rtl="1" algn="r" indent="0" marL="0">
              <a:buNone/>
            </a:pPr>
            <a:r>
              <a:rPr lang="en-US" sz="2400" b="1" dirty="0">
                <a:solidFill>
                  <a:srgbClr val="007D8F"/>
                </a:solidFill>
                <a:latin typeface="Cambria" pitchFamily="34" charset="0"/>
                <a:ea typeface="Cambria" pitchFamily="34" charset="-122"/>
                <a:cs typeface="Cambria" pitchFamily="34" charset="-120"/>
              </a:rPr>
              <a:t>المسابقات المستهدفة لهذا العام  (1 - 6)</a:t>
            </a:r>
            <a:endParaRPr lang="en-US" sz="2400" dirty="0"/>
          </a:p>
        </p:txBody>
      </p:sp>
      <p:sp>
        <p:nvSpPr>
          <p:cNvPr id="8" name="Text 2"/>
          <p:cNvSpPr/>
          <p:nvPr/>
        </p:nvSpPr>
        <p:spPr>
          <a:xfrm>
            <a:off x="548640" y="914400"/>
            <a:ext cx="11094415" cy="320040"/>
          </a:xfrm>
          <a:prstGeom prst="rect">
            <a:avLst/>
          </a:prstGeom>
          <a:noFill/>
          <a:ln/>
        </p:spPr>
        <p:txBody>
          <a:bodyPr wrap="square" lIns="0" tIns="0" rIns="0" bIns="0" rtlCol="0" anchor="ctr"/>
          <a:lstStyle/>
          <a:p>
            <a:pPr algn="r" indent="0" marL="0">
              <a:buNone/>
            </a:pPr>
            <a:r>
              <a:rPr lang="en-US" sz="1200" i="1" dirty="0">
                <a:solidFill>
                  <a:srgbClr val="5A5F73"/>
                </a:solidFill>
                <a:latin typeface="Arial" pitchFamily="34" charset="0"/>
                <a:ea typeface="Arial" pitchFamily="34" charset="-122"/>
                <a:cs typeface="Arial" pitchFamily="34" charset="-120"/>
              </a:rPr>
              <a:t>Targeted Competitions (1-6)</a:t>
            </a:r>
            <a:endParaRPr lang="en-US" sz="1200" dirty="0"/>
          </a:p>
        </p:txBody>
      </p:sp>
      <p:sp>
        <p:nvSpPr>
          <p:cNvPr id="9" name="Shape 3"/>
          <p:cNvSpPr/>
          <p:nvPr/>
        </p:nvSpPr>
        <p:spPr>
          <a:xfrm>
            <a:off x="548640" y="1463040"/>
            <a:ext cx="3588410" cy="2331720"/>
          </a:xfrm>
          <a:prstGeom prst="roundRect">
            <a:avLst>
              <a:gd name="adj" fmla="val 3137"/>
            </a:avLst>
          </a:prstGeom>
          <a:solidFill>
            <a:srgbClr val="F2F7F8"/>
          </a:solidFill>
          <a:ln/>
        </p:spPr>
      </p:sp>
      <p:sp>
        <p:nvSpPr>
          <p:cNvPr id="10" name="Shape 4"/>
          <p:cNvSpPr/>
          <p:nvPr/>
        </p:nvSpPr>
        <p:spPr>
          <a:xfrm>
            <a:off x="3085490" y="1600200"/>
            <a:ext cx="914400" cy="237744"/>
          </a:xfrm>
          <a:prstGeom prst="roundRect">
            <a:avLst>
              <a:gd name="adj" fmla="val 50000"/>
            </a:avLst>
          </a:prstGeom>
          <a:solidFill>
            <a:srgbClr val="007D8F"/>
          </a:solidFill>
          <a:ln/>
        </p:spPr>
      </p:sp>
      <p:sp>
        <p:nvSpPr>
          <p:cNvPr id="11" name="Text 5"/>
          <p:cNvSpPr/>
          <p:nvPr/>
        </p:nvSpPr>
        <p:spPr>
          <a:xfrm>
            <a:off x="3085490" y="1600200"/>
            <a:ext cx="9144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Robotics</a:t>
            </a:r>
            <a:endParaRPr lang="en-US" sz="800" dirty="0"/>
          </a:p>
        </p:txBody>
      </p:sp>
      <p:sp>
        <p:nvSpPr>
          <p:cNvPr id="12" name="Text 6"/>
          <p:cNvSpPr/>
          <p:nvPr/>
        </p:nvSpPr>
        <p:spPr>
          <a:xfrm>
            <a:off x="713232" y="1609344"/>
            <a:ext cx="2353970" cy="384048"/>
          </a:xfrm>
          <a:prstGeom prst="rect">
            <a:avLst/>
          </a:prstGeom>
          <a:noFill/>
          <a:ln/>
        </p:spPr>
        <p:txBody>
          <a:bodyPr wrap="square" rtlCol="0" anchor="t"/>
          <a:lstStyle/>
          <a:p>
            <a:pPr rtl="1" algn="r" indent="0" marL="0">
              <a:buNone/>
            </a:pPr>
            <a:r>
              <a:rPr lang="en-US" sz="1200" b="1" dirty="0">
                <a:solidFill>
                  <a:srgbClr val="005A66"/>
                </a:solidFill>
                <a:latin typeface="Cambria" pitchFamily="34" charset="0"/>
                <a:ea typeface="Cambria" pitchFamily="34" charset="-122"/>
                <a:cs typeface="Cambria" pitchFamily="34" charset="-120"/>
              </a:rPr>
              <a:t>الأولمبياد العالمي للروبوت — WRO 2026</a:t>
            </a:r>
            <a:endParaRPr lang="en-US" sz="1200" dirty="0"/>
          </a:p>
        </p:txBody>
      </p:sp>
      <p:sp>
        <p:nvSpPr>
          <p:cNvPr id="13" name="Text 7"/>
          <p:cNvSpPr/>
          <p:nvPr/>
        </p:nvSpPr>
        <p:spPr>
          <a:xfrm>
            <a:off x="713232" y="1975104"/>
            <a:ext cx="3259226" cy="274320"/>
          </a:xfrm>
          <a:prstGeom prst="rect">
            <a:avLst/>
          </a:prstGeom>
          <a:noFill/>
          <a:ln/>
        </p:spPr>
        <p:txBody>
          <a:bodyPr wrap="square" rtlCol="0" anchor="t"/>
          <a:lstStyle/>
          <a:p>
            <a:pPr rtl="1" algn="r" indent="0" marL="0">
              <a:buNone/>
            </a:pPr>
            <a:r>
              <a:rPr lang="en-US" sz="850" dirty="0">
                <a:solidFill>
                  <a:srgbClr val="5A5F73"/>
                </a:solidFill>
                <a:latin typeface="Arial" pitchFamily="34" charset="0"/>
                <a:ea typeface="Arial" pitchFamily="34" charset="-122"/>
                <a:cs typeface="Arial" pitchFamily="34" charset="-120"/>
              </a:rPr>
              <a:t>موهبة</a:t>
            </a:r>
            <a:endParaRPr lang="en-US" sz="850" dirty="0"/>
          </a:p>
        </p:txBody>
      </p:sp>
      <p:sp>
        <p:nvSpPr>
          <p:cNvPr id="14" name="Text 8"/>
          <p:cNvSpPr/>
          <p:nvPr/>
        </p:nvSpPr>
        <p:spPr>
          <a:xfrm>
            <a:off x="713232" y="2304288"/>
            <a:ext cx="3259226" cy="777240"/>
          </a:xfrm>
          <a:prstGeom prst="rect">
            <a:avLst/>
          </a:prstGeom>
          <a:noFill/>
          <a:ln/>
        </p:spPr>
        <p:txBody>
          <a:bodyPr wrap="square" rtlCol="0" anchor="t"/>
          <a:lstStyle/>
          <a:p>
            <a:pPr rtl="1" algn="r" indent="0" marL="0">
              <a:lnSpc>
                <a:spcPct val="115000"/>
              </a:lnSpc>
              <a:buNone/>
            </a:pPr>
            <a:r>
              <a:rPr lang="en-US" sz="850" dirty="0">
                <a:solidFill>
                  <a:srgbClr val="1B1B2F"/>
                </a:solidFill>
                <a:latin typeface="Arial" pitchFamily="34" charset="0"/>
                <a:ea typeface="Arial" pitchFamily="34" charset="-122"/>
                <a:cs typeface="Arial" pitchFamily="34" charset="-120"/>
              </a:rPr>
              <a:t>يجمع أكثر من 65 دولة، وينقل الطالب من التصميم الهندسي إلى البرمجة — بوابة مباشرة لتمثيل المملكة في النهائيات العالمية.</a:t>
            </a:r>
            <a:endParaRPr lang="en-US" sz="850" dirty="0"/>
          </a:p>
        </p:txBody>
      </p:sp>
      <p:sp>
        <p:nvSpPr>
          <p:cNvPr id="15" name="Text 9"/>
          <p:cNvSpPr/>
          <p:nvPr/>
        </p:nvSpPr>
        <p:spPr>
          <a:xfrm>
            <a:off x="713232" y="3291840"/>
            <a:ext cx="3259226" cy="457200"/>
          </a:xfrm>
          <a:prstGeom prst="rect">
            <a:avLst/>
          </a:prstGeom>
          <a:noFill/>
          <a:ln/>
        </p:spPr>
        <p:txBody>
          <a:bodyPr wrap="square" rtlCol="0" anchor="t"/>
          <a:lstStyle/>
          <a:p>
            <a:pPr algn="r" indent="0" marL="0">
              <a:lnSpc>
                <a:spcPct val="110000"/>
              </a:lnSpc>
              <a:buNone/>
            </a:pPr>
            <a:r>
              <a:rPr lang="en-US" sz="700" i="1" dirty="0">
                <a:solidFill>
                  <a:srgbClr val="5A5F73"/>
                </a:solidFill>
                <a:latin typeface="Arial" pitchFamily="34" charset="0"/>
                <a:ea typeface="Arial" pitchFamily="34" charset="-122"/>
                <a:cs typeface="Arial" pitchFamily="34" charset="-120"/>
              </a:rPr>
              <a:t>Brings together 65+ countries — a direct pathway to representing the Kingdom at the world finals.</a:t>
            </a:r>
            <a:endParaRPr lang="en-US" sz="700" dirty="0"/>
          </a:p>
        </p:txBody>
      </p:sp>
      <p:sp>
        <p:nvSpPr>
          <p:cNvPr id="16" name="Shape 10"/>
          <p:cNvSpPr/>
          <p:nvPr/>
        </p:nvSpPr>
        <p:spPr>
          <a:xfrm>
            <a:off x="4301642" y="1463040"/>
            <a:ext cx="3588410" cy="2331720"/>
          </a:xfrm>
          <a:prstGeom prst="roundRect">
            <a:avLst>
              <a:gd name="adj" fmla="val 3137"/>
            </a:avLst>
          </a:prstGeom>
          <a:solidFill>
            <a:srgbClr val="F2F7F8"/>
          </a:solidFill>
          <a:ln/>
        </p:spPr>
      </p:sp>
      <p:sp>
        <p:nvSpPr>
          <p:cNvPr id="17" name="Shape 11"/>
          <p:cNvSpPr/>
          <p:nvPr/>
        </p:nvSpPr>
        <p:spPr>
          <a:xfrm>
            <a:off x="6838493" y="1600200"/>
            <a:ext cx="914400" cy="237744"/>
          </a:xfrm>
          <a:prstGeom prst="roundRect">
            <a:avLst>
              <a:gd name="adj" fmla="val 50000"/>
            </a:avLst>
          </a:prstGeom>
          <a:solidFill>
            <a:srgbClr val="007D8F"/>
          </a:solidFill>
          <a:ln/>
        </p:spPr>
      </p:sp>
      <p:sp>
        <p:nvSpPr>
          <p:cNvPr id="18" name="Text 12"/>
          <p:cNvSpPr/>
          <p:nvPr/>
        </p:nvSpPr>
        <p:spPr>
          <a:xfrm>
            <a:off x="6838493" y="1600200"/>
            <a:ext cx="9144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Robotics</a:t>
            </a:r>
            <a:endParaRPr lang="en-US" sz="800" dirty="0"/>
          </a:p>
        </p:txBody>
      </p:sp>
      <p:sp>
        <p:nvSpPr>
          <p:cNvPr id="19" name="Text 13"/>
          <p:cNvSpPr/>
          <p:nvPr/>
        </p:nvSpPr>
        <p:spPr>
          <a:xfrm>
            <a:off x="4466234" y="1609344"/>
            <a:ext cx="2353970" cy="384048"/>
          </a:xfrm>
          <a:prstGeom prst="rect">
            <a:avLst/>
          </a:prstGeom>
          <a:noFill/>
          <a:ln/>
        </p:spPr>
        <p:txBody>
          <a:bodyPr wrap="square" rtlCol="0" anchor="t"/>
          <a:lstStyle/>
          <a:p>
            <a:pPr rtl="1" algn="r" indent="0" marL="0">
              <a:buNone/>
            </a:pPr>
            <a:r>
              <a:rPr lang="en-US" sz="1200" b="1" dirty="0">
                <a:solidFill>
                  <a:srgbClr val="005A66"/>
                </a:solidFill>
                <a:latin typeface="Cambria" pitchFamily="34" charset="0"/>
                <a:ea typeface="Cambria" pitchFamily="34" charset="-122"/>
                <a:cs typeface="Cambria" pitchFamily="34" charset="-120"/>
              </a:rPr>
              <a:t>الأفرو-آسيوي MRC</a:t>
            </a:r>
            <a:endParaRPr lang="en-US" sz="1200" dirty="0"/>
          </a:p>
        </p:txBody>
      </p:sp>
      <p:sp>
        <p:nvSpPr>
          <p:cNvPr id="20" name="Text 14"/>
          <p:cNvSpPr/>
          <p:nvPr/>
        </p:nvSpPr>
        <p:spPr>
          <a:xfrm>
            <a:off x="4466234" y="1975104"/>
            <a:ext cx="3259226" cy="274320"/>
          </a:xfrm>
          <a:prstGeom prst="rect">
            <a:avLst/>
          </a:prstGeom>
          <a:noFill/>
          <a:ln/>
        </p:spPr>
        <p:txBody>
          <a:bodyPr wrap="square" rtlCol="0" anchor="t"/>
          <a:lstStyle/>
          <a:p>
            <a:pPr rtl="1" algn="r" indent="0" marL="0">
              <a:buNone/>
            </a:pPr>
            <a:r>
              <a:rPr lang="en-US" sz="850" dirty="0">
                <a:solidFill>
                  <a:srgbClr val="5A5F73"/>
                </a:solidFill>
                <a:latin typeface="Arial" pitchFamily="34" charset="0"/>
                <a:ea typeface="Arial" pitchFamily="34" charset="-122"/>
                <a:cs typeface="Arial" pitchFamily="34" charset="-120"/>
              </a:rPr>
              <a:t>MRC</a:t>
            </a:r>
            <a:endParaRPr lang="en-US" sz="850" dirty="0"/>
          </a:p>
        </p:txBody>
      </p:sp>
      <p:sp>
        <p:nvSpPr>
          <p:cNvPr id="21" name="Text 15"/>
          <p:cNvSpPr/>
          <p:nvPr/>
        </p:nvSpPr>
        <p:spPr>
          <a:xfrm>
            <a:off x="4466234" y="2304288"/>
            <a:ext cx="3259226" cy="777240"/>
          </a:xfrm>
          <a:prstGeom prst="rect">
            <a:avLst/>
          </a:prstGeom>
          <a:noFill/>
          <a:ln/>
        </p:spPr>
        <p:txBody>
          <a:bodyPr wrap="square" rtlCol="0" anchor="t"/>
          <a:lstStyle/>
          <a:p>
            <a:pPr rtl="1" algn="r" indent="0" marL="0">
              <a:lnSpc>
                <a:spcPct val="115000"/>
              </a:lnSpc>
              <a:buNone/>
            </a:pPr>
            <a:r>
              <a:rPr lang="en-US" sz="850" dirty="0">
                <a:solidFill>
                  <a:srgbClr val="1B1B2F"/>
                </a:solidFill>
                <a:latin typeface="Arial" pitchFamily="34" charset="0"/>
                <a:ea typeface="Arial" pitchFamily="34" charset="-122"/>
                <a:cs typeface="Arial" pitchFamily="34" charset="-120"/>
              </a:rPr>
              <a:t>مسابقة دولية حقق فيها طلاب سعوديون مراكز عالمية أولى فعلاً (كريت، اليونان 2026) — فرصة حقيقية للتمثيل الدولي.</a:t>
            </a:r>
            <a:endParaRPr lang="en-US" sz="850" dirty="0"/>
          </a:p>
        </p:txBody>
      </p:sp>
      <p:sp>
        <p:nvSpPr>
          <p:cNvPr id="22" name="Text 16"/>
          <p:cNvSpPr/>
          <p:nvPr/>
        </p:nvSpPr>
        <p:spPr>
          <a:xfrm>
            <a:off x="4466234" y="3291840"/>
            <a:ext cx="3259226" cy="457200"/>
          </a:xfrm>
          <a:prstGeom prst="rect">
            <a:avLst/>
          </a:prstGeom>
          <a:noFill/>
          <a:ln/>
        </p:spPr>
        <p:txBody>
          <a:bodyPr wrap="square" rtlCol="0" anchor="t"/>
          <a:lstStyle/>
          <a:p>
            <a:pPr algn="r" indent="0" marL="0">
              <a:lnSpc>
                <a:spcPct val="110000"/>
              </a:lnSpc>
              <a:buNone/>
            </a:pPr>
            <a:r>
              <a:rPr lang="en-US" sz="700" i="1" dirty="0">
                <a:solidFill>
                  <a:srgbClr val="5A5F73"/>
                </a:solidFill>
                <a:latin typeface="Arial" pitchFamily="34" charset="0"/>
                <a:ea typeface="Arial" pitchFamily="34" charset="-122"/>
                <a:cs typeface="Arial" pitchFamily="34" charset="-120"/>
              </a:rPr>
              <a:t>Saudi students have already claimed first-place world rankings (Crete, Greece 2026).</a:t>
            </a:r>
            <a:endParaRPr lang="en-US" sz="700" dirty="0"/>
          </a:p>
        </p:txBody>
      </p:sp>
      <p:sp>
        <p:nvSpPr>
          <p:cNvPr id="23" name="Shape 17"/>
          <p:cNvSpPr/>
          <p:nvPr/>
        </p:nvSpPr>
        <p:spPr>
          <a:xfrm>
            <a:off x="8054645" y="1463040"/>
            <a:ext cx="3588410" cy="2331720"/>
          </a:xfrm>
          <a:prstGeom prst="roundRect">
            <a:avLst>
              <a:gd name="adj" fmla="val 3137"/>
            </a:avLst>
          </a:prstGeom>
          <a:solidFill>
            <a:srgbClr val="F2F7F8"/>
          </a:solidFill>
          <a:ln/>
        </p:spPr>
      </p:sp>
      <p:sp>
        <p:nvSpPr>
          <p:cNvPr id="24" name="Shape 18"/>
          <p:cNvSpPr/>
          <p:nvPr/>
        </p:nvSpPr>
        <p:spPr>
          <a:xfrm>
            <a:off x="10591495" y="1600200"/>
            <a:ext cx="914400" cy="237744"/>
          </a:xfrm>
          <a:prstGeom prst="roundRect">
            <a:avLst>
              <a:gd name="adj" fmla="val 50000"/>
            </a:avLst>
          </a:prstGeom>
          <a:solidFill>
            <a:srgbClr val="007D8F"/>
          </a:solidFill>
          <a:ln/>
        </p:spPr>
      </p:sp>
      <p:sp>
        <p:nvSpPr>
          <p:cNvPr id="25" name="Text 19"/>
          <p:cNvSpPr/>
          <p:nvPr/>
        </p:nvSpPr>
        <p:spPr>
          <a:xfrm>
            <a:off x="10591495" y="1600200"/>
            <a:ext cx="9144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Coding</a:t>
            </a:r>
            <a:endParaRPr lang="en-US" sz="800" dirty="0"/>
          </a:p>
        </p:txBody>
      </p:sp>
      <p:sp>
        <p:nvSpPr>
          <p:cNvPr id="26" name="Text 20"/>
          <p:cNvSpPr/>
          <p:nvPr/>
        </p:nvSpPr>
        <p:spPr>
          <a:xfrm>
            <a:off x="8219237" y="1609344"/>
            <a:ext cx="2353970" cy="384048"/>
          </a:xfrm>
          <a:prstGeom prst="rect">
            <a:avLst/>
          </a:prstGeom>
          <a:noFill/>
          <a:ln/>
        </p:spPr>
        <p:txBody>
          <a:bodyPr wrap="square" rtlCol="0" anchor="t"/>
          <a:lstStyle/>
          <a:p>
            <a:pPr rtl="1" algn="r" indent="0" marL="0">
              <a:buNone/>
            </a:pPr>
            <a:r>
              <a:rPr lang="en-US" sz="1200" b="1" dirty="0">
                <a:solidFill>
                  <a:srgbClr val="005A66"/>
                </a:solidFill>
                <a:latin typeface="Cambria" pitchFamily="34" charset="0"/>
                <a:ea typeface="Cambria" pitchFamily="34" charset="-122"/>
                <a:cs typeface="Cambria" pitchFamily="34" charset="-120"/>
              </a:rPr>
              <a:t>نسمو</a:t>
            </a:r>
            <a:endParaRPr lang="en-US" sz="1200" dirty="0"/>
          </a:p>
        </p:txBody>
      </p:sp>
      <p:sp>
        <p:nvSpPr>
          <p:cNvPr id="27" name="Text 21"/>
          <p:cNvSpPr/>
          <p:nvPr/>
        </p:nvSpPr>
        <p:spPr>
          <a:xfrm>
            <a:off x="8219237" y="1975104"/>
            <a:ext cx="3259226" cy="274320"/>
          </a:xfrm>
          <a:prstGeom prst="rect">
            <a:avLst/>
          </a:prstGeom>
          <a:noFill/>
          <a:ln/>
        </p:spPr>
        <p:txBody>
          <a:bodyPr wrap="square" rtlCol="0" anchor="t"/>
          <a:lstStyle/>
          <a:p>
            <a:pPr rtl="1" algn="r" indent="0" marL="0">
              <a:buNone/>
            </a:pPr>
            <a:r>
              <a:rPr lang="en-US" sz="850" dirty="0">
                <a:solidFill>
                  <a:srgbClr val="5A5F73"/>
                </a:solidFill>
                <a:latin typeface="Arial" pitchFamily="34" charset="0"/>
                <a:ea typeface="Arial" pitchFamily="34" charset="-122"/>
                <a:cs typeface="Arial" pitchFamily="34" charset="-120"/>
              </a:rPr>
              <a:t>موهبة</a:t>
            </a:r>
            <a:endParaRPr lang="en-US" sz="850" dirty="0"/>
          </a:p>
        </p:txBody>
      </p:sp>
      <p:sp>
        <p:nvSpPr>
          <p:cNvPr id="28" name="Text 22"/>
          <p:cNvSpPr/>
          <p:nvPr/>
        </p:nvSpPr>
        <p:spPr>
          <a:xfrm>
            <a:off x="8219237" y="2304288"/>
            <a:ext cx="3259226" cy="777240"/>
          </a:xfrm>
          <a:prstGeom prst="rect">
            <a:avLst/>
          </a:prstGeom>
          <a:noFill/>
          <a:ln/>
        </p:spPr>
        <p:txBody>
          <a:bodyPr wrap="square" rtlCol="0" anchor="t"/>
          <a:lstStyle/>
          <a:p>
            <a:pPr rtl="1" algn="r" indent="0" marL="0">
              <a:lnSpc>
                <a:spcPct val="115000"/>
              </a:lnSpc>
              <a:buNone/>
            </a:pPr>
            <a:r>
              <a:rPr lang="en-US" sz="850" dirty="0">
                <a:solidFill>
                  <a:srgbClr val="1B1B2F"/>
                </a:solidFill>
                <a:latin typeface="Arial" pitchFamily="34" charset="0"/>
                <a:ea typeface="Arial" pitchFamily="34" charset="-122"/>
                <a:cs typeface="Arial" pitchFamily="34" charset="-120"/>
              </a:rPr>
              <a:t>أولمبياد وطني في العلوم والرياضيات والمعلوماتية، يؤهل الطالب عبر ثلاث مراحل للتنافس دولياً.</a:t>
            </a:r>
            <a:endParaRPr lang="en-US" sz="850" dirty="0"/>
          </a:p>
        </p:txBody>
      </p:sp>
      <p:sp>
        <p:nvSpPr>
          <p:cNvPr id="29" name="Text 23"/>
          <p:cNvSpPr/>
          <p:nvPr/>
        </p:nvSpPr>
        <p:spPr>
          <a:xfrm>
            <a:off x="8219237" y="3291840"/>
            <a:ext cx="3259226" cy="457200"/>
          </a:xfrm>
          <a:prstGeom prst="rect">
            <a:avLst/>
          </a:prstGeom>
          <a:noFill/>
          <a:ln/>
        </p:spPr>
        <p:txBody>
          <a:bodyPr wrap="square" rtlCol="0" anchor="t"/>
          <a:lstStyle/>
          <a:p>
            <a:pPr algn="r" indent="0" marL="0">
              <a:lnSpc>
                <a:spcPct val="110000"/>
              </a:lnSpc>
              <a:buNone/>
            </a:pPr>
            <a:r>
              <a:rPr lang="en-US" sz="700" i="1" dirty="0">
                <a:solidFill>
                  <a:srgbClr val="5A5F73"/>
                </a:solidFill>
                <a:latin typeface="Arial" pitchFamily="34" charset="0"/>
                <a:ea typeface="Arial" pitchFamily="34" charset="-122"/>
                <a:cs typeface="Arial" pitchFamily="34" charset="-120"/>
              </a:rPr>
              <a:t>A national Olympiad taking students through three stages toward international representation.</a:t>
            </a:r>
            <a:endParaRPr lang="en-US" sz="700" dirty="0"/>
          </a:p>
        </p:txBody>
      </p:sp>
      <p:sp>
        <p:nvSpPr>
          <p:cNvPr id="30" name="Shape 24"/>
          <p:cNvSpPr/>
          <p:nvPr/>
        </p:nvSpPr>
        <p:spPr>
          <a:xfrm>
            <a:off x="548640" y="3959352"/>
            <a:ext cx="3588410" cy="2331720"/>
          </a:xfrm>
          <a:prstGeom prst="roundRect">
            <a:avLst>
              <a:gd name="adj" fmla="val 3137"/>
            </a:avLst>
          </a:prstGeom>
          <a:solidFill>
            <a:srgbClr val="F2F7F8"/>
          </a:solidFill>
          <a:ln/>
        </p:spPr>
      </p:sp>
      <p:sp>
        <p:nvSpPr>
          <p:cNvPr id="31" name="Shape 25"/>
          <p:cNvSpPr/>
          <p:nvPr/>
        </p:nvSpPr>
        <p:spPr>
          <a:xfrm>
            <a:off x="3085490" y="4096512"/>
            <a:ext cx="914400" cy="237744"/>
          </a:xfrm>
          <a:prstGeom prst="roundRect">
            <a:avLst>
              <a:gd name="adj" fmla="val 50000"/>
            </a:avLst>
          </a:prstGeom>
          <a:solidFill>
            <a:srgbClr val="007D8F"/>
          </a:solidFill>
          <a:ln/>
        </p:spPr>
      </p:sp>
      <p:sp>
        <p:nvSpPr>
          <p:cNvPr id="32" name="Text 26"/>
          <p:cNvSpPr/>
          <p:nvPr/>
        </p:nvSpPr>
        <p:spPr>
          <a:xfrm>
            <a:off x="3085490" y="4096512"/>
            <a:ext cx="9144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Coding</a:t>
            </a:r>
            <a:endParaRPr lang="en-US" sz="800" dirty="0"/>
          </a:p>
        </p:txBody>
      </p:sp>
      <p:sp>
        <p:nvSpPr>
          <p:cNvPr id="33" name="Text 27"/>
          <p:cNvSpPr/>
          <p:nvPr/>
        </p:nvSpPr>
        <p:spPr>
          <a:xfrm>
            <a:off x="713232" y="4105656"/>
            <a:ext cx="2353970" cy="384048"/>
          </a:xfrm>
          <a:prstGeom prst="rect">
            <a:avLst/>
          </a:prstGeom>
          <a:noFill/>
          <a:ln/>
        </p:spPr>
        <p:txBody>
          <a:bodyPr wrap="square" rtlCol="0" anchor="t"/>
          <a:lstStyle/>
          <a:p>
            <a:pPr rtl="1" algn="r" indent="0" marL="0">
              <a:buNone/>
            </a:pPr>
            <a:r>
              <a:rPr lang="en-US" sz="1200" b="1" dirty="0">
                <a:solidFill>
                  <a:srgbClr val="005A66"/>
                </a:solidFill>
                <a:latin typeface="Cambria" pitchFamily="34" charset="0"/>
                <a:ea typeface="Cambria" pitchFamily="34" charset="-122"/>
                <a:cs typeface="Cambria" pitchFamily="34" charset="-120"/>
              </a:rPr>
              <a:t>بيبراس</a:t>
            </a:r>
            <a:endParaRPr lang="en-US" sz="1200" dirty="0"/>
          </a:p>
        </p:txBody>
      </p:sp>
      <p:sp>
        <p:nvSpPr>
          <p:cNvPr id="34" name="Text 28"/>
          <p:cNvSpPr/>
          <p:nvPr/>
        </p:nvSpPr>
        <p:spPr>
          <a:xfrm>
            <a:off x="713232" y="4471416"/>
            <a:ext cx="3259226" cy="274320"/>
          </a:xfrm>
          <a:prstGeom prst="rect">
            <a:avLst/>
          </a:prstGeom>
          <a:noFill/>
          <a:ln/>
        </p:spPr>
        <p:txBody>
          <a:bodyPr wrap="square" rtlCol="0" anchor="t"/>
          <a:lstStyle/>
          <a:p>
            <a:pPr rtl="1" algn="r" indent="0" marL="0">
              <a:buNone/>
            </a:pPr>
            <a:r>
              <a:rPr lang="en-US" sz="850" dirty="0">
                <a:solidFill>
                  <a:srgbClr val="5A5F73"/>
                </a:solidFill>
                <a:latin typeface="Arial" pitchFamily="34" charset="0"/>
                <a:ea typeface="Arial" pitchFamily="34" charset="-122"/>
                <a:cs typeface="Arial" pitchFamily="34" charset="-120"/>
              </a:rPr>
              <a:t>موهبة</a:t>
            </a:r>
            <a:endParaRPr lang="en-US" sz="850" dirty="0"/>
          </a:p>
        </p:txBody>
      </p:sp>
      <p:sp>
        <p:nvSpPr>
          <p:cNvPr id="35" name="Text 29"/>
          <p:cNvSpPr/>
          <p:nvPr/>
        </p:nvSpPr>
        <p:spPr>
          <a:xfrm>
            <a:off x="713232" y="4800600"/>
            <a:ext cx="3259226" cy="777240"/>
          </a:xfrm>
          <a:prstGeom prst="rect">
            <a:avLst/>
          </a:prstGeom>
          <a:noFill/>
          <a:ln/>
        </p:spPr>
        <p:txBody>
          <a:bodyPr wrap="square" rtlCol="0" anchor="t"/>
          <a:lstStyle/>
          <a:p>
            <a:pPr rtl="1" algn="r" indent="0" marL="0">
              <a:lnSpc>
                <a:spcPct val="115000"/>
              </a:lnSpc>
              <a:buNone/>
            </a:pPr>
            <a:r>
              <a:rPr lang="en-US" sz="850" dirty="0">
                <a:solidFill>
                  <a:srgbClr val="1B1B2F"/>
                </a:solidFill>
                <a:latin typeface="Arial" pitchFamily="34" charset="0"/>
                <a:ea typeface="Arial" pitchFamily="34" charset="-122"/>
                <a:cs typeface="Arial" pitchFamily="34" charset="-120"/>
              </a:rPr>
              <a:t>تحدٍّ عالمي في التفكير الحاسوبي بمشاركة عشرات الدول، بلا حاجة لخبرة برمجية مسبقة — أساس عقلية STEM.</a:t>
            </a:r>
            <a:endParaRPr lang="en-US" sz="850" dirty="0"/>
          </a:p>
        </p:txBody>
      </p:sp>
      <p:sp>
        <p:nvSpPr>
          <p:cNvPr id="36" name="Text 30"/>
          <p:cNvSpPr/>
          <p:nvPr/>
        </p:nvSpPr>
        <p:spPr>
          <a:xfrm>
            <a:off x="713232" y="5788152"/>
            <a:ext cx="3259226" cy="457200"/>
          </a:xfrm>
          <a:prstGeom prst="rect">
            <a:avLst/>
          </a:prstGeom>
          <a:noFill/>
          <a:ln/>
        </p:spPr>
        <p:txBody>
          <a:bodyPr wrap="square" rtlCol="0" anchor="t"/>
          <a:lstStyle/>
          <a:p>
            <a:pPr algn="r" indent="0" marL="0">
              <a:lnSpc>
                <a:spcPct val="110000"/>
              </a:lnSpc>
              <a:buNone/>
            </a:pPr>
            <a:r>
              <a:rPr lang="en-US" sz="700" i="1" dirty="0">
                <a:solidFill>
                  <a:srgbClr val="5A5F73"/>
                </a:solidFill>
                <a:latin typeface="Arial" pitchFamily="34" charset="0"/>
                <a:ea typeface="Arial" pitchFamily="34" charset="-122"/>
                <a:cs typeface="Arial" pitchFamily="34" charset="-120"/>
              </a:rPr>
              <a:t>A global computational-thinking challenge across dozens of countries — a foundation for the STEM mindset.</a:t>
            </a:r>
            <a:endParaRPr lang="en-US" sz="700" dirty="0"/>
          </a:p>
        </p:txBody>
      </p:sp>
      <p:sp>
        <p:nvSpPr>
          <p:cNvPr id="37" name="Shape 31"/>
          <p:cNvSpPr/>
          <p:nvPr/>
        </p:nvSpPr>
        <p:spPr>
          <a:xfrm>
            <a:off x="4301642" y="3959352"/>
            <a:ext cx="3588410" cy="2331720"/>
          </a:xfrm>
          <a:prstGeom prst="roundRect">
            <a:avLst>
              <a:gd name="adj" fmla="val 3137"/>
            </a:avLst>
          </a:prstGeom>
          <a:solidFill>
            <a:srgbClr val="F2F7F8"/>
          </a:solidFill>
          <a:ln/>
        </p:spPr>
      </p:sp>
      <p:sp>
        <p:nvSpPr>
          <p:cNvPr id="38" name="Shape 32"/>
          <p:cNvSpPr/>
          <p:nvPr/>
        </p:nvSpPr>
        <p:spPr>
          <a:xfrm>
            <a:off x="6838493" y="4096512"/>
            <a:ext cx="914400" cy="237744"/>
          </a:xfrm>
          <a:prstGeom prst="roundRect">
            <a:avLst>
              <a:gd name="adj" fmla="val 50000"/>
            </a:avLst>
          </a:prstGeom>
          <a:solidFill>
            <a:srgbClr val="802980"/>
          </a:solidFill>
          <a:ln/>
        </p:spPr>
      </p:sp>
      <p:sp>
        <p:nvSpPr>
          <p:cNvPr id="39" name="Text 33"/>
          <p:cNvSpPr/>
          <p:nvPr/>
        </p:nvSpPr>
        <p:spPr>
          <a:xfrm>
            <a:off x="6838493" y="4096512"/>
            <a:ext cx="9144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STEAM</a:t>
            </a:r>
            <a:endParaRPr lang="en-US" sz="800" dirty="0"/>
          </a:p>
        </p:txBody>
      </p:sp>
      <p:sp>
        <p:nvSpPr>
          <p:cNvPr id="40" name="Text 34"/>
          <p:cNvSpPr/>
          <p:nvPr/>
        </p:nvSpPr>
        <p:spPr>
          <a:xfrm>
            <a:off x="4466234" y="4105656"/>
            <a:ext cx="2353970" cy="384048"/>
          </a:xfrm>
          <a:prstGeom prst="rect">
            <a:avLst/>
          </a:prstGeom>
          <a:noFill/>
          <a:ln/>
        </p:spPr>
        <p:txBody>
          <a:bodyPr wrap="square" rtlCol="0" anchor="t"/>
          <a:lstStyle/>
          <a:p>
            <a:pPr rtl="1" algn="r" indent="0" marL="0">
              <a:buNone/>
            </a:pPr>
            <a:r>
              <a:rPr lang="en-US" sz="1200" b="1" dirty="0">
                <a:solidFill>
                  <a:srgbClr val="005A66"/>
                </a:solidFill>
                <a:latin typeface="Cambria" pitchFamily="34" charset="0"/>
                <a:ea typeface="Cambria" pitchFamily="34" charset="-122"/>
                <a:cs typeface="Cambria" pitchFamily="34" charset="-120"/>
              </a:rPr>
              <a:t>تحدي ستيم</a:t>
            </a:r>
            <a:endParaRPr lang="en-US" sz="1200" dirty="0"/>
          </a:p>
        </p:txBody>
      </p:sp>
      <p:sp>
        <p:nvSpPr>
          <p:cNvPr id="41" name="Text 35"/>
          <p:cNvSpPr/>
          <p:nvPr/>
        </p:nvSpPr>
        <p:spPr>
          <a:xfrm>
            <a:off x="4466234" y="4471416"/>
            <a:ext cx="3259226" cy="274320"/>
          </a:xfrm>
          <a:prstGeom prst="rect">
            <a:avLst/>
          </a:prstGeom>
          <a:noFill/>
          <a:ln/>
        </p:spPr>
        <p:txBody>
          <a:bodyPr wrap="square" rtlCol="0" anchor="t"/>
          <a:lstStyle/>
          <a:p>
            <a:pPr rtl="1" algn="r" indent="0" marL="0">
              <a:buNone/>
            </a:pPr>
            <a:r>
              <a:rPr lang="en-US" sz="850" dirty="0">
                <a:solidFill>
                  <a:srgbClr val="5A5F73"/>
                </a:solidFill>
                <a:latin typeface="Arial" pitchFamily="34" charset="0"/>
                <a:ea typeface="Arial" pitchFamily="34" charset="-122"/>
                <a:cs typeface="Arial" pitchFamily="34" charset="-120"/>
              </a:rPr>
              <a:t>مركز جدة العلمي</a:t>
            </a:r>
            <a:endParaRPr lang="en-US" sz="850" dirty="0"/>
          </a:p>
        </p:txBody>
      </p:sp>
      <p:sp>
        <p:nvSpPr>
          <p:cNvPr id="42" name="Text 36"/>
          <p:cNvSpPr/>
          <p:nvPr/>
        </p:nvSpPr>
        <p:spPr>
          <a:xfrm>
            <a:off x="4466234" y="4800600"/>
            <a:ext cx="3259226" cy="777240"/>
          </a:xfrm>
          <a:prstGeom prst="rect">
            <a:avLst/>
          </a:prstGeom>
          <a:noFill/>
          <a:ln/>
        </p:spPr>
        <p:txBody>
          <a:bodyPr wrap="square" rtlCol="0" anchor="t"/>
          <a:lstStyle/>
          <a:p>
            <a:pPr rtl="1" algn="r" indent="0" marL="0">
              <a:lnSpc>
                <a:spcPct val="115000"/>
              </a:lnSpc>
              <a:buNone/>
            </a:pPr>
            <a:r>
              <a:rPr lang="en-US" sz="850" dirty="0">
                <a:solidFill>
                  <a:srgbClr val="1B1B2F"/>
                </a:solidFill>
                <a:latin typeface="Arial" pitchFamily="34" charset="0"/>
                <a:ea typeface="Arial" pitchFamily="34" charset="-122"/>
                <a:cs typeface="Arial" pitchFamily="34" charset="-120"/>
              </a:rPr>
              <a:t>مسابقة إقليمية تُبرز مشاريع الطلاب الابتكارية، وتمنحهم أول تجربة تنافسية أمام لجان تحكيم متخصصة.</a:t>
            </a:r>
            <a:endParaRPr lang="en-US" sz="850" dirty="0"/>
          </a:p>
        </p:txBody>
      </p:sp>
      <p:sp>
        <p:nvSpPr>
          <p:cNvPr id="43" name="Text 37"/>
          <p:cNvSpPr/>
          <p:nvPr/>
        </p:nvSpPr>
        <p:spPr>
          <a:xfrm>
            <a:off x="4466234" y="5788152"/>
            <a:ext cx="3259226" cy="457200"/>
          </a:xfrm>
          <a:prstGeom prst="rect">
            <a:avLst/>
          </a:prstGeom>
          <a:noFill/>
          <a:ln/>
        </p:spPr>
        <p:txBody>
          <a:bodyPr wrap="square" rtlCol="0" anchor="t"/>
          <a:lstStyle/>
          <a:p>
            <a:pPr algn="r" indent="0" marL="0">
              <a:lnSpc>
                <a:spcPct val="110000"/>
              </a:lnSpc>
              <a:buNone/>
            </a:pPr>
            <a:r>
              <a:rPr lang="en-US" sz="700" i="1" dirty="0">
                <a:solidFill>
                  <a:srgbClr val="5A5F73"/>
                </a:solidFill>
                <a:latin typeface="Arial" pitchFamily="34" charset="0"/>
                <a:ea typeface="Arial" pitchFamily="34" charset="-122"/>
                <a:cs typeface="Arial" pitchFamily="34" charset="-120"/>
              </a:rPr>
              <a:t>A regional competition giving students their first real experience before expert judging panels.</a:t>
            </a:r>
            <a:endParaRPr lang="en-US" sz="700" dirty="0"/>
          </a:p>
        </p:txBody>
      </p:sp>
      <p:sp>
        <p:nvSpPr>
          <p:cNvPr id="44" name="Shape 38"/>
          <p:cNvSpPr/>
          <p:nvPr/>
        </p:nvSpPr>
        <p:spPr>
          <a:xfrm>
            <a:off x="8054645" y="3959352"/>
            <a:ext cx="3588410" cy="2331720"/>
          </a:xfrm>
          <a:prstGeom prst="roundRect">
            <a:avLst>
              <a:gd name="adj" fmla="val 3137"/>
            </a:avLst>
          </a:prstGeom>
          <a:solidFill>
            <a:srgbClr val="F2F7F8"/>
          </a:solidFill>
          <a:ln/>
        </p:spPr>
      </p:sp>
      <p:sp>
        <p:nvSpPr>
          <p:cNvPr id="45" name="Shape 39"/>
          <p:cNvSpPr/>
          <p:nvPr/>
        </p:nvSpPr>
        <p:spPr>
          <a:xfrm>
            <a:off x="10591495" y="4096512"/>
            <a:ext cx="914400" cy="237744"/>
          </a:xfrm>
          <a:prstGeom prst="roundRect">
            <a:avLst>
              <a:gd name="adj" fmla="val 50000"/>
            </a:avLst>
          </a:prstGeom>
          <a:solidFill>
            <a:srgbClr val="283373"/>
          </a:solidFill>
          <a:ln/>
        </p:spPr>
      </p:sp>
      <p:sp>
        <p:nvSpPr>
          <p:cNvPr id="46" name="Text 40"/>
          <p:cNvSpPr/>
          <p:nvPr/>
        </p:nvSpPr>
        <p:spPr>
          <a:xfrm>
            <a:off x="10591495" y="4096512"/>
            <a:ext cx="9144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Technology</a:t>
            </a:r>
            <a:endParaRPr lang="en-US" sz="800" dirty="0"/>
          </a:p>
        </p:txBody>
      </p:sp>
      <p:sp>
        <p:nvSpPr>
          <p:cNvPr id="47" name="Text 41"/>
          <p:cNvSpPr/>
          <p:nvPr/>
        </p:nvSpPr>
        <p:spPr>
          <a:xfrm>
            <a:off x="8219237" y="4105656"/>
            <a:ext cx="2353970" cy="384048"/>
          </a:xfrm>
          <a:prstGeom prst="rect">
            <a:avLst/>
          </a:prstGeom>
          <a:noFill/>
          <a:ln/>
        </p:spPr>
        <p:txBody>
          <a:bodyPr wrap="square" rtlCol="0" anchor="t"/>
          <a:lstStyle/>
          <a:p>
            <a:pPr rtl="1" algn="r" indent="0" marL="0">
              <a:buNone/>
            </a:pPr>
            <a:r>
              <a:rPr lang="en-US" sz="1200" b="1" dirty="0">
                <a:solidFill>
                  <a:srgbClr val="005A66"/>
                </a:solidFill>
                <a:latin typeface="Cambria" pitchFamily="34" charset="0"/>
                <a:ea typeface="Cambria" pitchFamily="34" charset="-122"/>
                <a:cs typeface="Cambria" pitchFamily="34" charset="-120"/>
              </a:rPr>
              <a:t>FIRST Tech Challenge (FTC)</a:t>
            </a:r>
            <a:endParaRPr lang="en-US" sz="1200" dirty="0"/>
          </a:p>
        </p:txBody>
      </p:sp>
      <p:sp>
        <p:nvSpPr>
          <p:cNvPr id="48" name="Text 42"/>
          <p:cNvSpPr/>
          <p:nvPr/>
        </p:nvSpPr>
        <p:spPr>
          <a:xfrm>
            <a:off x="8219237" y="4471416"/>
            <a:ext cx="3259226" cy="274320"/>
          </a:xfrm>
          <a:prstGeom prst="rect">
            <a:avLst/>
          </a:prstGeom>
          <a:noFill/>
          <a:ln/>
        </p:spPr>
        <p:txBody>
          <a:bodyPr wrap="square" rtlCol="0" anchor="t"/>
          <a:lstStyle/>
          <a:p>
            <a:pPr rtl="1" algn="r" indent="0" marL="0">
              <a:buNone/>
            </a:pPr>
            <a:r>
              <a:rPr lang="en-US" sz="850" dirty="0">
                <a:solidFill>
                  <a:srgbClr val="5A5F73"/>
                </a:solidFill>
                <a:latin typeface="Arial" pitchFamily="34" charset="0"/>
                <a:ea typeface="Arial" pitchFamily="34" charset="-122"/>
                <a:cs typeface="Arial" pitchFamily="34" charset="-120"/>
              </a:rPr>
              <a:t>وزارة التعليم / FIRST</a:t>
            </a:r>
            <a:endParaRPr lang="en-US" sz="850" dirty="0"/>
          </a:p>
        </p:txBody>
      </p:sp>
      <p:sp>
        <p:nvSpPr>
          <p:cNvPr id="49" name="Text 43"/>
          <p:cNvSpPr/>
          <p:nvPr/>
        </p:nvSpPr>
        <p:spPr>
          <a:xfrm>
            <a:off x="8219237" y="4800600"/>
            <a:ext cx="3259226" cy="777240"/>
          </a:xfrm>
          <a:prstGeom prst="rect">
            <a:avLst/>
          </a:prstGeom>
          <a:noFill/>
          <a:ln/>
        </p:spPr>
        <p:txBody>
          <a:bodyPr wrap="square" rtlCol="0" anchor="t"/>
          <a:lstStyle/>
          <a:p>
            <a:pPr rtl="1" algn="r" indent="0" marL="0">
              <a:lnSpc>
                <a:spcPct val="115000"/>
              </a:lnSpc>
              <a:buNone/>
            </a:pPr>
            <a:r>
              <a:rPr lang="en-US" sz="850" dirty="0">
                <a:solidFill>
                  <a:srgbClr val="1B1B2F"/>
                </a:solidFill>
                <a:latin typeface="Arial" pitchFamily="34" charset="0"/>
                <a:ea typeface="Arial" pitchFamily="34" charset="-122"/>
                <a:cs typeface="Arial" pitchFamily="34" charset="-120"/>
              </a:rPr>
              <a:t>مسابقة روبوتات عالمية تحت مظلة FIRST، يصمم فيها الطالب روبوتاً كاملاً بنفسه — مسار نحو البطولة العالمية.</a:t>
            </a:r>
            <a:endParaRPr lang="en-US" sz="850" dirty="0"/>
          </a:p>
        </p:txBody>
      </p:sp>
      <p:sp>
        <p:nvSpPr>
          <p:cNvPr id="50" name="Text 44"/>
          <p:cNvSpPr/>
          <p:nvPr/>
        </p:nvSpPr>
        <p:spPr>
          <a:xfrm>
            <a:off x="8219237" y="5788152"/>
            <a:ext cx="3259226" cy="457200"/>
          </a:xfrm>
          <a:prstGeom prst="rect">
            <a:avLst/>
          </a:prstGeom>
          <a:noFill/>
          <a:ln/>
        </p:spPr>
        <p:txBody>
          <a:bodyPr wrap="square" rtlCol="0" anchor="t"/>
          <a:lstStyle/>
          <a:p>
            <a:pPr algn="r" indent="0" marL="0">
              <a:lnSpc>
                <a:spcPct val="110000"/>
              </a:lnSpc>
              <a:buNone/>
            </a:pPr>
            <a:r>
              <a:rPr lang="en-US" sz="700" i="1" dirty="0">
                <a:solidFill>
                  <a:srgbClr val="5A5F73"/>
                </a:solidFill>
                <a:latin typeface="Arial" pitchFamily="34" charset="0"/>
                <a:ea typeface="Arial" pitchFamily="34" charset="-122"/>
                <a:cs typeface="Arial" pitchFamily="34" charset="-120"/>
              </a:rPr>
              <a:t>A global robotics competition under FIRST — a direct path to the World Championship.</a:t>
            </a:r>
            <a:endParaRPr lang="en-US" sz="700" dirty="0"/>
          </a:p>
        </p:txBody>
      </p:sp>
      <p:sp>
        <p:nvSpPr>
          <p:cNvPr id="51" name="Text 45"/>
          <p:cNvSpPr/>
          <p:nvPr/>
        </p:nvSpPr>
        <p:spPr>
          <a:xfrm>
            <a:off x="11551615" y="6400800"/>
            <a:ext cx="365760" cy="274320"/>
          </a:xfrm>
          <a:prstGeom prst="rect">
            <a:avLst/>
          </a:prstGeom>
          <a:noFill/>
          <a:ln/>
        </p:spPr>
        <p:txBody>
          <a:bodyPr wrap="square" rtlCol="0" anchor="ctr"/>
          <a:lstStyle/>
          <a:p>
            <a:pPr algn="r" indent="0" marL="0">
              <a:buNone/>
            </a:pPr>
            <a:r>
              <a:rPr lang="en-US" sz="1000" dirty="0">
                <a:solidFill>
                  <a:srgbClr val="5A5F73"/>
                </a:solidFill>
                <a:latin typeface="Arial" pitchFamily="34" charset="0"/>
                <a:ea typeface="Arial" pitchFamily="34" charset="-122"/>
                <a:cs typeface="Arial"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92608"/>
            <a:ext cx="2824759" cy="501091"/>
          </a:xfrm>
          <a:prstGeom prst="roundRect">
            <a:avLst>
              <a:gd name="adj" fmla="val 10949"/>
            </a:avLst>
          </a:prstGeom>
          <a:solidFill>
            <a:srgbClr val="FFFFFF"/>
          </a:solidFill>
          <a:ln w="6350">
            <a:solidFill>
              <a:srgbClr val="E3E8EA"/>
            </a:solidFill>
            <a:prstDash val="solid"/>
          </a:ln>
          <a:effectLst>
            <a:outerShdw sx="100000" sy="100000" kx="0" ky="0" algn="bl" rotWithShape="0" blurRad="50800" dist="12700" dir="5400000">
              <a:srgbClr val="888888">
                <a:alpha val="25000"/>
              </a:srgbClr>
            </a:outerShdw>
          </a:effectLst>
        </p:spPr>
      </p:sp>
      <p:pic>
        <p:nvPicPr>
          <p:cNvPr id="3" name="Image 0" descr="/home/claude/qubits_pptx/logos/trim_dar_alforsan.png">    </p:cNvPr>
          <p:cNvPicPr>
            <a:picLocks noChangeAspect="1"/>
          </p:cNvPicPr>
          <p:nvPr/>
        </p:nvPicPr>
        <p:blipFill>
          <a:blip r:embed="rId1"/>
          <a:stretch>
            <a:fillRect/>
          </a:stretch>
        </p:blipFill>
        <p:spPr>
          <a:xfrm>
            <a:off x="484632" y="387706"/>
            <a:ext cx="270802" cy="310896"/>
          </a:xfrm>
          <a:prstGeom prst="rect">
            <a:avLst/>
          </a:prstGeom>
        </p:spPr>
      </p:pic>
      <p:pic>
        <p:nvPicPr>
          <p:cNvPr id="4" name="Image 1" descr="/home/claude/qubits_pptx/logos/trim_diploma_section.png">    </p:cNvPr>
          <p:cNvPicPr>
            <a:picLocks noChangeAspect="1"/>
          </p:cNvPicPr>
          <p:nvPr/>
        </p:nvPicPr>
        <p:blipFill>
          <a:blip r:embed="rId2"/>
          <a:stretch>
            <a:fillRect/>
          </a:stretch>
        </p:blipFill>
        <p:spPr>
          <a:xfrm>
            <a:off x="846874" y="387706"/>
            <a:ext cx="253851" cy="310896"/>
          </a:xfrm>
          <a:prstGeom prst="rect">
            <a:avLst/>
          </a:prstGeom>
        </p:spPr>
      </p:pic>
      <p:pic>
        <p:nvPicPr>
          <p:cNvPr id="5" name="Image 2" descr="/home/claude/qubits_pptx/logos/trim_qubits_v4.png">    </p:cNvPr>
          <p:cNvPicPr>
            <a:picLocks noChangeAspect="1"/>
          </p:cNvPicPr>
          <p:nvPr/>
        </p:nvPicPr>
        <p:blipFill>
          <a:blip r:embed="rId3"/>
          <a:stretch>
            <a:fillRect/>
          </a:stretch>
        </p:blipFill>
        <p:spPr>
          <a:xfrm>
            <a:off x="1192164" y="387706"/>
            <a:ext cx="981777" cy="310896"/>
          </a:xfrm>
          <a:prstGeom prst="rect">
            <a:avLst/>
          </a:prstGeom>
        </p:spPr>
      </p:pic>
      <p:pic>
        <p:nvPicPr>
          <p:cNvPr id="6" name="Image 3" descr="/home/claude/qubits_pptx/logos/trim_aiaasc.png">    </p:cNvPr>
          <p:cNvPicPr>
            <a:picLocks noChangeAspect="1"/>
          </p:cNvPicPr>
          <p:nvPr/>
        </p:nvPicPr>
        <p:blipFill>
          <a:blip r:embed="rId4"/>
          <a:stretch>
            <a:fillRect/>
          </a:stretch>
        </p:blipFill>
        <p:spPr>
          <a:xfrm>
            <a:off x="2265381" y="387706"/>
            <a:ext cx="806266" cy="310896"/>
          </a:xfrm>
          <a:prstGeom prst="rect">
            <a:avLst/>
          </a:prstGeom>
        </p:spPr>
      </p:pic>
      <p:sp>
        <p:nvSpPr>
          <p:cNvPr id="7" name="Text 1"/>
          <p:cNvSpPr/>
          <p:nvPr/>
        </p:nvSpPr>
        <p:spPr>
          <a:xfrm>
            <a:off x="548640" y="438912"/>
            <a:ext cx="11094415" cy="502920"/>
          </a:xfrm>
          <a:prstGeom prst="rect">
            <a:avLst/>
          </a:prstGeom>
          <a:noFill/>
          <a:ln/>
        </p:spPr>
        <p:txBody>
          <a:bodyPr wrap="square" lIns="0" tIns="0" rIns="0" bIns="0" rtlCol="0" anchor="ctr"/>
          <a:lstStyle/>
          <a:p>
            <a:pPr rtl="1" algn="r" indent="0" marL="0">
              <a:buNone/>
            </a:pPr>
            <a:r>
              <a:rPr lang="en-US" sz="2400" b="1" dirty="0">
                <a:solidFill>
                  <a:srgbClr val="007D8F"/>
                </a:solidFill>
                <a:latin typeface="Cambria" pitchFamily="34" charset="0"/>
                <a:ea typeface="Cambria" pitchFamily="34" charset="-122"/>
                <a:cs typeface="Cambria" pitchFamily="34" charset="-120"/>
              </a:rPr>
              <a:t>المسابقات المستهدفة لهذا العام  (7 - 11)</a:t>
            </a:r>
            <a:endParaRPr lang="en-US" sz="2400" dirty="0"/>
          </a:p>
        </p:txBody>
      </p:sp>
      <p:sp>
        <p:nvSpPr>
          <p:cNvPr id="8" name="Text 2"/>
          <p:cNvSpPr/>
          <p:nvPr/>
        </p:nvSpPr>
        <p:spPr>
          <a:xfrm>
            <a:off x="548640" y="914400"/>
            <a:ext cx="11094415" cy="320040"/>
          </a:xfrm>
          <a:prstGeom prst="rect">
            <a:avLst/>
          </a:prstGeom>
          <a:noFill/>
          <a:ln/>
        </p:spPr>
        <p:txBody>
          <a:bodyPr wrap="square" lIns="0" tIns="0" rIns="0" bIns="0" rtlCol="0" anchor="ctr"/>
          <a:lstStyle/>
          <a:p>
            <a:pPr algn="r" indent="0" marL="0">
              <a:buNone/>
            </a:pPr>
            <a:r>
              <a:rPr lang="en-US" sz="1200" i="1" dirty="0">
                <a:solidFill>
                  <a:srgbClr val="5A5F73"/>
                </a:solidFill>
                <a:latin typeface="Arial" pitchFamily="34" charset="0"/>
                <a:ea typeface="Arial" pitchFamily="34" charset="-122"/>
                <a:cs typeface="Arial" pitchFamily="34" charset="-120"/>
              </a:rPr>
              <a:t>Targeted Competitions (7-11)</a:t>
            </a:r>
            <a:endParaRPr lang="en-US" sz="1200" dirty="0"/>
          </a:p>
        </p:txBody>
      </p:sp>
      <p:sp>
        <p:nvSpPr>
          <p:cNvPr id="9" name="Shape 3"/>
          <p:cNvSpPr/>
          <p:nvPr/>
        </p:nvSpPr>
        <p:spPr>
          <a:xfrm>
            <a:off x="548640" y="1463040"/>
            <a:ext cx="3588410" cy="2331720"/>
          </a:xfrm>
          <a:prstGeom prst="roundRect">
            <a:avLst>
              <a:gd name="adj" fmla="val 3137"/>
            </a:avLst>
          </a:prstGeom>
          <a:solidFill>
            <a:srgbClr val="F2F7F8"/>
          </a:solidFill>
          <a:ln/>
        </p:spPr>
      </p:sp>
      <p:sp>
        <p:nvSpPr>
          <p:cNvPr id="10" name="Shape 4"/>
          <p:cNvSpPr/>
          <p:nvPr/>
        </p:nvSpPr>
        <p:spPr>
          <a:xfrm>
            <a:off x="3085490" y="1600200"/>
            <a:ext cx="914400" cy="237744"/>
          </a:xfrm>
          <a:prstGeom prst="roundRect">
            <a:avLst>
              <a:gd name="adj" fmla="val 50000"/>
            </a:avLst>
          </a:prstGeom>
          <a:solidFill>
            <a:srgbClr val="007D8F"/>
          </a:solidFill>
          <a:ln/>
        </p:spPr>
      </p:sp>
      <p:sp>
        <p:nvSpPr>
          <p:cNvPr id="11" name="Text 5"/>
          <p:cNvSpPr/>
          <p:nvPr/>
        </p:nvSpPr>
        <p:spPr>
          <a:xfrm>
            <a:off x="3085490" y="1600200"/>
            <a:ext cx="9144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Robotics</a:t>
            </a:r>
            <a:endParaRPr lang="en-US" sz="800" dirty="0"/>
          </a:p>
        </p:txBody>
      </p:sp>
      <p:sp>
        <p:nvSpPr>
          <p:cNvPr id="12" name="Text 6"/>
          <p:cNvSpPr/>
          <p:nvPr/>
        </p:nvSpPr>
        <p:spPr>
          <a:xfrm>
            <a:off x="713232" y="1609344"/>
            <a:ext cx="2353970" cy="384048"/>
          </a:xfrm>
          <a:prstGeom prst="rect">
            <a:avLst/>
          </a:prstGeom>
          <a:noFill/>
          <a:ln/>
        </p:spPr>
        <p:txBody>
          <a:bodyPr wrap="square" rtlCol="0" anchor="t"/>
          <a:lstStyle/>
          <a:p>
            <a:pPr rtl="1" algn="r" indent="0" marL="0">
              <a:buNone/>
            </a:pPr>
            <a:r>
              <a:rPr lang="en-US" sz="1200" b="1" dirty="0">
                <a:solidFill>
                  <a:srgbClr val="005A66"/>
                </a:solidFill>
                <a:latin typeface="Cambria" pitchFamily="34" charset="0"/>
                <a:ea typeface="Cambria" pitchFamily="34" charset="-122"/>
                <a:cs typeface="Cambria" pitchFamily="34" charset="-120"/>
              </a:rPr>
              <a:t>FIRST Robotics Competition (FRC)</a:t>
            </a:r>
            <a:endParaRPr lang="en-US" sz="1200" dirty="0"/>
          </a:p>
        </p:txBody>
      </p:sp>
      <p:sp>
        <p:nvSpPr>
          <p:cNvPr id="13" name="Text 7"/>
          <p:cNvSpPr/>
          <p:nvPr/>
        </p:nvSpPr>
        <p:spPr>
          <a:xfrm>
            <a:off x="713232" y="1975104"/>
            <a:ext cx="3259226" cy="274320"/>
          </a:xfrm>
          <a:prstGeom prst="rect">
            <a:avLst/>
          </a:prstGeom>
          <a:noFill/>
          <a:ln/>
        </p:spPr>
        <p:txBody>
          <a:bodyPr wrap="square" rtlCol="0" anchor="t"/>
          <a:lstStyle/>
          <a:p>
            <a:pPr rtl="1" algn="r" indent="0" marL="0">
              <a:buNone/>
            </a:pPr>
            <a:r>
              <a:rPr lang="en-US" sz="850" dirty="0">
                <a:solidFill>
                  <a:srgbClr val="5A5F73"/>
                </a:solidFill>
                <a:latin typeface="Arial" pitchFamily="34" charset="0"/>
                <a:ea typeface="Arial" pitchFamily="34" charset="-122"/>
                <a:cs typeface="Arial" pitchFamily="34" charset="-120"/>
              </a:rPr>
              <a:t>FIRST / شركاء محليون</a:t>
            </a:r>
            <a:endParaRPr lang="en-US" sz="850" dirty="0"/>
          </a:p>
        </p:txBody>
      </p:sp>
      <p:sp>
        <p:nvSpPr>
          <p:cNvPr id="14" name="Text 8"/>
          <p:cNvSpPr/>
          <p:nvPr/>
        </p:nvSpPr>
        <p:spPr>
          <a:xfrm>
            <a:off x="713232" y="2304288"/>
            <a:ext cx="3259226" cy="777240"/>
          </a:xfrm>
          <a:prstGeom prst="rect">
            <a:avLst/>
          </a:prstGeom>
          <a:noFill/>
          <a:ln/>
        </p:spPr>
        <p:txBody>
          <a:bodyPr wrap="square" rtlCol="0" anchor="t"/>
          <a:lstStyle/>
          <a:p>
            <a:pPr rtl="1" algn="r" indent="0" marL="0">
              <a:lnSpc>
                <a:spcPct val="115000"/>
              </a:lnSpc>
              <a:buNone/>
            </a:pPr>
            <a:r>
              <a:rPr lang="en-US" sz="850" dirty="0">
                <a:solidFill>
                  <a:srgbClr val="1B1B2F"/>
                </a:solidFill>
                <a:latin typeface="Arial" pitchFamily="34" charset="0"/>
                <a:ea typeface="Arial" pitchFamily="34" charset="-122"/>
                <a:cs typeface="Arial" pitchFamily="34" charset="-120"/>
              </a:rPr>
              <a:t>المستوى الأكثر تقدماً ضمن مسابقات FIRST، يبني فرقاً متكاملة تحاكي بيئة العمل الهندسي الحقيقية.</a:t>
            </a:r>
            <a:endParaRPr lang="en-US" sz="850" dirty="0"/>
          </a:p>
        </p:txBody>
      </p:sp>
      <p:sp>
        <p:nvSpPr>
          <p:cNvPr id="15" name="Text 9"/>
          <p:cNvSpPr/>
          <p:nvPr/>
        </p:nvSpPr>
        <p:spPr>
          <a:xfrm>
            <a:off x="713232" y="3291840"/>
            <a:ext cx="3259226" cy="457200"/>
          </a:xfrm>
          <a:prstGeom prst="rect">
            <a:avLst/>
          </a:prstGeom>
          <a:noFill/>
          <a:ln/>
        </p:spPr>
        <p:txBody>
          <a:bodyPr wrap="square" rtlCol="0" anchor="t"/>
          <a:lstStyle/>
          <a:p>
            <a:pPr algn="r" indent="0" marL="0">
              <a:lnSpc>
                <a:spcPct val="110000"/>
              </a:lnSpc>
              <a:buNone/>
            </a:pPr>
            <a:r>
              <a:rPr lang="en-US" sz="700" i="1" dirty="0">
                <a:solidFill>
                  <a:srgbClr val="5A5F73"/>
                </a:solidFill>
                <a:latin typeface="Arial" pitchFamily="34" charset="0"/>
                <a:ea typeface="Arial" pitchFamily="34" charset="-122"/>
                <a:cs typeface="Arial" pitchFamily="34" charset="-120"/>
              </a:rPr>
              <a:t>The most advanced FIRST tier, building complete teams mirroring a real engineering workplace.</a:t>
            </a:r>
            <a:endParaRPr lang="en-US" sz="700" dirty="0"/>
          </a:p>
        </p:txBody>
      </p:sp>
      <p:sp>
        <p:nvSpPr>
          <p:cNvPr id="16" name="Shape 10"/>
          <p:cNvSpPr/>
          <p:nvPr/>
        </p:nvSpPr>
        <p:spPr>
          <a:xfrm>
            <a:off x="4301642" y="1463040"/>
            <a:ext cx="3588410" cy="2331720"/>
          </a:xfrm>
          <a:prstGeom prst="roundRect">
            <a:avLst>
              <a:gd name="adj" fmla="val 3137"/>
            </a:avLst>
          </a:prstGeom>
          <a:solidFill>
            <a:srgbClr val="F2F7F8"/>
          </a:solidFill>
          <a:ln/>
        </p:spPr>
      </p:sp>
      <p:sp>
        <p:nvSpPr>
          <p:cNvPr id="17" name="Shape 11"/>
          <p:cNvSpPr/>
          <p:nvPr/>
        </p:nvSpPr>
        <p:spPr>
          <a:xfrm>
            <a:off x="6838493" y="1600200"/>
            <a:ext cx="914400" cy="237744"/>
          </a:xfrm>
          <a:prstGeom prst="roundRect">
            <a:avLst>
              <a:gd name="adj" fmla="val 50000"/>
            </a:avLst>
          </a:prstGeom>
          <a:solidFill>
            <a:srgbClr val="007D8F"/>
          </a:solidFill>
          <a:ln/>
        </p:spPr>
      </p:sp>
      <p:sp>
        <p:nvSpPr>
          <p:cNvPr id="18" name="Text 12"/>
          <p:cNvSpPr/>
          <p:nvPr/>
        </p:nvSpPr>
        <p:spPr>
          <a:xfrm>
            <a:off x="6838493" y="1600200"/>
            <a:ext cx="9144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Robotics</a:t>
            </a:r>
            <a:endParaRPr lang="en-US" sz="800" dirty="0"/>
          </a:p>
        </p:txBody>
      </p:sp>
      <p:sp>
        <p:nvSpPr>
          <p:cNvPr id="19" name="Text 13"/>
          <p:cNvSpPr/>
          <p:nvPr/>
        </p:nvSpPr>
        <p:spPr>
          <a:xfrm>
            <a:off x="4466234" y="1609344"/>
            <a:ext cx="2353970" cy="384048"/>
          </a:xfrm>
          <a:prstGeom prst="rect">
            <a:avLst/>
          </a:prstGeom>
          <a:noFill/>
          <a:ln/>
        </p:spPr>
        <p:txBody>
          <a:bodyPr wrap="square" rtlCol="0" anchor="t"/>
          <a:lstStyle/>
          <a:p>
            <a:pPr rtl="1" algn="r" indent="0" marL="0">
              <a:buNone/>
            </a:pPr>
            <a:r>
              <a:rPr lang="en-US" sz="1200" b="1" dirty="0">
                <a:solidFill>
                  <a:srgbClr val="005A66"/>
                </a:solidFill>
                <a:latin typeface="Cambria" pitchFamily="34" charset="0"/>
                <a:ea typeface="Cambria" pitchFamily="34" charset="-122"/>
                <a:cs typeface="Cambria" pitchFamily="34" charset="-120"/>
              </a:rPr>
              <a:t>دوري فيرست — النهائي الوطني</a:t>
            </a:r>
            <a:endParaRPr lang="en-US" sz="1200" dirty="0"/>
          </a:p>
        </p:txBody>
      </p:sp>
      <p:sp>
        <p:nvSpPr>
          <p:cNvPr id="20" name="Text 14"/>
          <p:cNvSpPr/>
          <p:nvPr/>
        </p:nvSpPr>
        <p:spPr>
          <a:xfrm>
            <a:off x="4466234" y="1975104"/>
            <a:ext cx="3259226" cy="274320"/>
          </a:xfrm>
          <a:prstGeom prst="rect">
            <a:avLst/>
          </a:prstGeom>
          <a:noFill/>
          <a:ln/>
        </p:spPr>
        <p:txBody>
          <a:bodyPr wrap="square" rtlCol="0" anchor="t"/>
          <a:lstStyle/>
          <a:p>
            <a:pPr rtl="1" algn="r" indent="0" marL="0">
              <a:buNone/>
            </a:pPr>
            <a:r>
              <a:rPr lang="en-US" sz="850" dirty="0">
                <a:solidFill>
                  <a:srgbClr val="5A5F73"/>
                </a:solidFill>
                <a:latin typeface="Arial" pitchFamily="34" charset="0"/>
                <a:ea typeface="Arial" pitchFamily="34" charset="-122"/>
                <a:cs typeface="Arial" pitchFamily="34" charset="-120"/>
              </a:rPr>
              <a:t>وزارة التعليم</a:t>
            </a:r>
            <a:endParaRPr lang="en-US" sz="850" dirty="0"/>
          </a:p>
        </p:txBody>
      </p:sp>
      <p:sp>
        <p:nvSpPr>
          <p:cNvPr id="21" name="Text 15"/>
          <p:cNvSpPr/>
          <p:nvPr/>
        </p:nvSpPr>
        <p:spPr>
          <a:xfrm>
            <a:off x="4466234" y="2304288"/>
            <a:ext cx="3259226" cy="777240"/>
          </a:xfrm>
          <a:prstGeom prst="rect">
            <a:avLst/>
          </a:prstGeom>
          <a:noFill/>
          <a:ln/>
        </p:spPr>
        <p:txBody>
          <a:bodyPr wrap="square" rtlCol="0" anchor="t"/>
          <a:lstStyle/>
          <a:p>
            <a:pPr rtl="1" algn="r" indent="0" marL="0">
              <a:lnSpc>
                <a:spcPct val="115000"/>
              </a:lnSpc>
              <a:buNone/>
            </a:pPr>
            <a:r>
              <a:rPr lang="en-US" sz="850" dirty="0">
                <a:solidFill>
                  <a:srgbClr val="1B1B2F"/>
                </a:solidFill>
                <a:latin typeface="Arial" pitchFamily="34" charset="0"/>
                <a:ea typeface="Arial" pitchFamily="34" charset="-122"/>
                <a:cs typeface="Arial" pitchFamily="34" charset="-120"/>
              </a:rPr>
              <a:t>يقدّم الروبوتكس للمراحل المبكرة عبر مهام عملية، وصولاً للنهائي الوطني — بوابة المملكة للبطولات الدولية.</a:t>
            </a:r>
            <a:endParaRPr lang="en-US" sz="850" dirty="0"/>
          </a:p>
        </p:txBody>
      </p:sp>
      <p:sp>
        <p:nvSpPr>
          <p:cNvPr id="22" name="Text 16"/>
          <p:cNvSpPr/>
          <p:nvPr/>
        </p:nvSpPr>
        <p:spPr>
          <a:xfrm>
            <a:off x="4466234" y="3291840"/>
            <a:ext cx="3259226" cy="457200"/>
          </a:xfrm>
          <a:prstGeom prst="rect">
            <a:avLst/>
          </a:prstGeom>
          <a:noFill/>
          <a:ln/>
        </p:spPr>
        <p:txBody>
          <a:bodyPr wrap="square" rtlCol="0" anchor="t"/>
          <a:lstStyle/>
          <a:p>
            <a:pPr algn="r" indent="0" marL="0">
              <a:lnSpc>
                <a:spcPct val="110000"/>
              </a:lnSpc>
              <a:buNone/>
            </a:pPr>
            <a:r>
              <a:rPr lang="en-US" sz="700" i="1" dirty="0">
                <a:solidFill>
                  <a:srgbClr val="5A5F73"/>
                </a:solidFill>
                <a:latin typeface="Arial" pitchFamily="34" charset="0"/>
                <a:ea typeface="Arial" pitchFamily="34" charset="-122"/>
                <a:cs typeface="Arial" pitchFamily="34" charset="-120"/>
              </a:rPr>
              <a:t>Introduces early-stage robotics, culminating in the National Final — Saudi Arabia's gateway internationally.</a:t>
            </a:r>
            <a:endParaRPr lang="en-US" sz="700" dirty="0"/>
          </a:p>
        </p:txBody>
      </p:sp>
      <p:sp>
        <p:nvSpPr>
          <p:cNvPr id="23" name="Shape 17"/>
          <p:cNvSpPr/>
          <p:nvPr/>
        </p:nvSpPr>
        <p:spPr>
          <a:xfrm>
            <a:off x="8054645" y="1463040"/>
            <a:ext cx="3588410" cy="2331720"/>
          </a:xfrm>
          <a:prstGeom prst="roundRect">
            <a:avLst>
              <a:gd name="adj" fmla="val 3137"/>
            </a:avLst>
          </a:prstGeom>
          <a:solidFill>
            <a:srgbClr val="F2F7F8"/>
          </a:solidFill>
          <a:ln/>
        </p:spPr>
      </p:sp>
      <p:sp>
        <p:nvSpPr>
          <p:cNvPr id="24" name="Shape 18"/>
          <p:cNvSpPr/>
          <p:nvPr/>
        </p:nvSpPr>
        <p:spPr>
          <a:xfrm>
            <a:off x="10591495" y="1600200"/>
            <a:ext cx="914400" cy="237744"/>
          </a:xfrm>
          <a:prstGeom prst="roundRect">
            <a:avLst>
              <a:gd name="adj" fmla="val 50000"/>
            </a:avLst>
          </a:prstGeom>
          <a:solidFill>
            <a:srgbClr val="007D8F"/>
          </a:solidFill>
          <a:ln/>
        </p:spPr>
      </p:sp>
      <p:sp>
        <p:nvSpPr>
          <p:cNvPr id="25" name="Text 19"/>
          <p:cNvSpPr/>
          <p:nvPr/>
        </p:nvSpPr>
        <p:spPr>
          <a:xfrm>
            <a:off x="10591495" y="1600200"/>
            <a:ext cx="9144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Game Dev</a:t>
            </a:r>
            <a:endParaRPr lang="en-US" sz="800" dirty="0"/>
          </a:p>
        </p:txBody>
      </p:sp>
      <p:sp>
        <p:nvSpPr>
          <p:cNvPr id="26" name="Text 20"/>
          <p:cNvSpPr/>
          <p:nvPr/>
        </p:nvSpPr>
        <p:spPr>
          <a:xfrm>
            <a:off x="8219237" y="1609344"/>
            <a:ext cx="2353970" cy="384048"/>
          </a:xfrm>
          <a:prstGeom prst="rect">
            <a:avLst/>
          </a:prstGeom>
          <a:noFill/>
          <a:ln/>
        </p:spPr>
        <p:txBody>
          <a:bodyPr wrap="square" rtlCol="0" anchor="t"/>
          <a:lstStyle/>
          <a:p>
            <a:pPr rtl="1" algn="r" indent="0" marL="0">
              <a:buNone/>
            </a:pPr>
            <a:r>
              <a:rPr lang="en-US" sz="1200" b="1" dirty="0">
                <a:solidFill>
                  <a:srgbClr val="005A66"/>
                </a:solidFill>
                <a:latin typeface="Cambria" pitchFamily="34" charset="0"/>
                <a:ea typeface="Cambria" pitchFamily="34" charset="-122"/>
                <a:cs typeface="Cambria" pitchFamily="34" charset="-120"/>
              </a:rPr>
              <a:t>التعلم عبر اللعب</a:t>
            </a:r>
            <a:endParaRPr lang="en-US" sz="1200" dirty="0"/>
          </a:p>
        </p:txBody>
      </p:sp>
      <p:sp>
        <p:nvSpPr>
          <p:cNvPr id="27" name="Text 21"/>
          <p:cNvSpPr/>
          <p:nvPr/>
        </p:nvSpPr>
        <p:spPr>
          <a:xfrm>
            <a:off x="8219237" y="1975104"/>
            <a:ext cx="3259226" cy="274320"/>
          </a:xfrm>
          <a:prstGeom prst="rect">
            <a:avLst/>
          </a:prstGeom>
          <a:noFill/>
          <a:ln/>
        </p:spPr>
        <p:txBody>
          <a:bodyPr wrap="square" rtlCol="0" anchor="t"/>
          <a:lstStyle/>
          <a:p>
            <a:pPr rtl="1" algn="r" indent="0" marL="0">
              <a:buNone/>
            </a:pPr>
            <a:r>
              <a:rPr lang="en-US" sz="850" dirty="0">
                <a:solidFill>
                  <a:srgbClr val="5A5F73"/>
                </a:solidFill>
                <a:latin typeface="Arial" pitchFamily="34" charset="0"/>
                <a:ea typeface="Arial" pitchFamily="34" charset="-122"/>
                <a:cs typeface="Arial" pitchFamily="34" charset="-120"/>
              </a:rPr>
              <a:t>وزارة التعليم + Savvy Games</a:t>
            </a:r>
            <a:endParaRPr lang="en-US" sz="850" dirty="0"/>
          </a:p>
        </p:txBody>
      </p:sp>
      <p:sp>
        <p:nvSpPr>
          <p:cNvPr id="28" name="Text 22"/>
          <p:cNvSpPr/>
          <p:nvPr/>
        </p:nvSpPr>
        <p:spPr>
          <a:xfrm>
            <a:off x="8219237" y="2304288"/>
            <a:ext cx="3259226" cy="777240"/>
          </a:xfrm>
          <a:prstGeom prst="rect">
            <a:avLst/>
          </a:prstGeom>
          <a:noFill/>
          <a:ln/>
        </p:spPr>
        <p:txBody>
          <a:bodyPr wrap="square" rtlCol="0" anchor="t"/>
          <a:lstStyle/>
          <a:p>
            <a:pPr rtl="1" algn="r" indent="0" marL="0">
              <a:lnSpc>
                <a:spcPct val="115000"/>
              </a:lnSpc>
              <a:buNone/>
            </a:pPr>
            <a:r>
              <a:rPr lang="en-US" sz="850" dirty="0">
                <a:solidFill>
                  <a:srgbClr val="1B1B2F"/>
                </a:solidFill>
                <a:latin typeface="Arial" pitchFamily="34" charset="0"/>
                <a:ea typeface="Arial" pitchFamily="34" charset="-122"/>
                <a:cs typeface="Arial" pitchFamily="34" charset="-120"/>
              </a:rPr>
              <a:t>مبادرة مشتركة مع Savvy Games Group تربط تصميم الألعاب بحل المشكلات، وتفتح مساراً مهنياً حقيقياً.</a:t>
            </a:r>
            <a:endParaRPr lang="en-US" sz="850" dirty="0"/>
          </a:p>
        </p:txBody>
      </p:sp>
      <p:sp>
        <p:nvSpPr>
          <p:cNvPr id="29" name="Text 23"/>
          <p:cNvSpPr/>
          <p:nvPr/>
        </p:nvSpPr>
        <p:spPr>
          <a:xfrm>
            <a:off x="8219237" y="3291840"/>
            <a:ext cx="3259226" cy="457200"/>
          </a:xfrm>
          <a:prstGeom prst="rect">
            <a:avLst/>
          </a:prstGeom>
          <a:noFill/>
          <a:ln/>
        </p:spPr>
        <p:txBody>
          <a:bodyPr wrap="square" rtlCol="0" anchor="t"/>
          <a:lstStyle/>
          <a:p>
            <a:pPr algn="r" indent="0" marL="0">
              <a:lnSpc>
                <a:spcPct val="110000"/>
              </a:lnSpc>
              <a:buNone/>
            </a:pPr>
            <a:r>
              <a:rPr lang="en-US" sz="700" i="1" dirty="0">
                <a:solidFill>
                  <a:srgbClr val="5A5F73"/>
                </a:solidFill>
                <a:latin typeface="Arial" pitchFamily="34" charset="0"/>
                <a:ea typeface="Arial" pitchFamily="34" charset="-122"/>
                <a:cs typeface="Arial" pitchFamily="34" charset="-120"/>
              </a:rPr>
              <a:t>A joint initiative with Savvy Games Group opening a real career pathway in game design.</a:t>
            </a:r>
            <a:endParaRPr lang="en-US" sz="700" dirty="0"/>
          </a:p>
        </p:txBody>
      </p:sp>
      <p:sp>
        <p:nvSpPr>
          <p:cNvPr id="30" name="Shape 24"/>
          <p:cNvSpPr/>
          <p:nvPr/>
        </p:nvSpPr>
        <p:spPr>
          <a:xfrm>
            <a:off x="548640" y="3959352"/>
            <a:ext cx="3588410" cy="2331720"/>
          </a:xfrm>
          <a:prstGeom prst="roundRect">
            <a:avLst>
              <a:gd name="adj" fmla="val 3137"/>
            </a:avLst>
          </a:prstGeom>
          <a:solidFill>
            <a:srgbClr val="F2F7F8"/>
          </a:solidFill>
          <a:ln/>
        </p:spPr>
      </p:sp>
      <p:sp>
        <p:nvSpPr>
          <p:cNvPr id="31" name="Shape 25"/>
          <p:cNvSpPr/>
          <p:nvPr/>
        </p:nvSpPr>
        <p:spPr>
          <a:xfrm>
            <a:off x="3085490" y="4096512"/>
            <a:ext cx="914400" cy="237744"/>
          </a:xfrm>
          <a:prstGeom prst="roundRect">
            <a:avLst>
              <a:gd name="adj" fmla="val 50000"/>
            </a:avLst>
          </a:prstGeom>
          <a:solidFill>
            <a:srgbClr val="007D8F"/>
          </a:solidFill>
          <a:ln/>
        </p:spPr>
      </p:sp>
      <p:sp>
        <p:nvSpPr>
          <p:cNvPr id="32" name="Text 26"/>
          <p:cNvSpPr/>
          <p:nvPr/>
        </p:nvSpPr>
        <p:spPr>
          <a:xfrm>
            <a:off x="3085490" y="4096512"/>
            <a:ext cx="9144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Coding</a:t>
            </a:r>
            <a:endParaRPr lang="en-US" sz="800" dirty="0"/>
          </a:p>
        </p:txBody>
      </p:sp>
      <p:sp>
        <p:nvSpPr>
          <p:cNvPr id="33" name="Text 27"/>
          <p:cNvSpPr/>
          <p:nvPr/>
        </p:nvSpPr>
        <p:spPr>
          <a:xfrm>
            <a:off x="713232" y="4105656"/>
            <a:ext cx="2353970" cy="384048"/>
          </a:xfrm>
          <a:prstGeom prst="rect">
            <a:avLst/>
          </a:prstGeom>
          <a:noFill/>
          <a:ln/>
        </p:spPr>
        <p:txBody>
          <a:bodyPr wrap="square" rtlCol="0" anchor="t"/>
          <a:lstStyle/>
          <a:p>
            <a:pPr rtl="1" algn="r" indent="0" marL="0">
              <a:buNone/>
            </a:pPr>
            <a:r>
              <a:rPr lang="en-US" sz="1200" b="1" dirty="0">
                <a:solidFill>
                  <a:srgbClr val="005A66"/>
                </a:solidFill>
                <a:latin typeface="Cambria" pitchFamily="34" charset="0"/>
                <a:ea typeface="Cambria" pitchFamily="34" charset="-122"/>
                <a:cs typeface="Cambria" pitchFamily="34" charset="-120"/>
              </a:rPr>
              <a:t>مدرستي تبرمج</a:t>
            </a:r>
            <a:endParaRPr lang="en-US" sz="1200" dirty="0"/>
          </a:p>
        </p:txBody>
      </p:sp>
      <p:sp>
        <p:nvSpPr>
          <p:cNvPr id="34" name="Text 28"/>
          <p:cNvSpPr/>
          <p:nvPr/>
        </p:nvSpPr>
        <p:spPr>
          <a:xfrm>
            <a:off x="713232" y="4471416"/>
            <a:ext cx="3259226" cy="274320"/>
          </a:xfrm>
          <a:prstGeom prst="rect">
            <a:avLst/>
          </a:prstGeom>
          <a:noFill/>
          <a:ln/>
        </p:spPr>
        <p:txBody>
          <a:bodyPr wrap="square" rtlCol="0" anchor="t"/>
          <a:lstStyle/>
          <a:p>
            <a:pPr rtl="1" algn="r" indent="0" marL="0">
              <a:buNone/>
            </a:pPr>
            <a:r>
              <a:rPr lang="en-US" sz="850" dirty="0">
                <a:solidFill>
                  <a:srgbClr val="5A5F73"/>
                </a:solidFill>
                <a:latin typeface="Arial" pitchFamily="34" charset="0"/>
                <a:ea typeface="Arial" pitchFamily="34" charset="-122"/>
                <a:cs typeface="Arial" pitchFamily="34" charset="-120"/>
              </a:rPr>
              <a:t>وزارة التعليم</a:t>
            </a:r>
            <a:endParaRPr lang="en-US" sz="850" dirty="0"/>
          </a:p>
        </p:txBody>
      </p:sp>
      <p:sp>
        <p:nvSpPr>
          <p:cNvPr id="35" name="Text 29"/>
          <p:cNvSpPr/>
          <p:nvPr/>
        </p:nvSpPr>
        <p:spPr>
          <a:xfrm>
            <a:off x="713232" y="4800600"/>
            <a:ext cx="3259226" cy="777240"/>
          </a:xfrm>
          <a:prstGeom prst="rect">
            <a:avLst/>
          </a:prstGeom>
          <a:noFill/>
          <a:ln/>
        </p:spPr>
        <p:txBody>
          <a:bodyPr wrap="square" rtlCol="0" anchor="t"/>
          <a:lstStyle/>
          <a:p>
            <a:pPr rtl="1" algn="r" indent="0" marL="0">
              <a:lnSpc>
                <a:spcPct val="115000"/>
              </a:lnSpc>
              <a:buNone/>
            </a:pPr>
            <a:r>
              <a:rPr lang="en-US" sz="850" dirty="0">
                <a:solidFill>
                  <a:srgbClr val="1B1B2F"/>
                </a:solidFill>
                <a:latin typeface="Arial" pitchFamily="34" charset="0"/>
                <a:ea typeface="Arial" pitchFamily="34" charset="-122"/>
                <a:cs typeface="Arial" pitchFamily="34" charset="-120"/>
              </a:rPr>
              <a:t>مسابقة الوزارة بالشراكة مع Microsoft — “خطوتك الأولى للمشاركة في المسابقات العالمية” رسمياً.</a:t>
            </a:r>
            <a:endParaRPr lang="en-US" sz="850" dirty="0"/>
          </a:p>
        </p:txBody>
      </p:sp>
      <p:sp>
        <p:nvSpPr>
          <p:cNvPr id="36" name="Text 30"/>
          <p:cNvSpPr/>
          <p:nvPr/>
        </p:nvSpPr>
        <p:spPr>
          <a:xfrm>
            <a:off x="713232" y="5788152"/>
            <a:ext cx="3259226" cy="457200"/>
          </a:xfrm>
          <a:prstGeom prst="rect">
            <a:avLst/>
          </a:prstGeom>
          <a:noFill/>
          <a:ln/>
        </p:spPr>
        <p:txBody>
          <a:bodyPr wrap="square" rtlCol="0" anchor="t"/>
          <a:lstStyle/>
          <a:p>
            <a:pPr algn="r" indent="0" marL="0">
              <a:lnSpc>
                <a:spcPct val="110000"/>
              </a:lnSpc>
              <a:buNone/>
            </a:pPr>
            <a:r>
              <a:rPr lang="en-US" sz="700" i="1" dirty="0">
                <a:solidFill>
                  <a:srgbClr val="5A5F73"/>
                </a:solidFill>
                <a:latin typeface="Arial" pitchFamily="34" charset="0"/>
                <a:ea typeface="Arial" pitchFamily="34" charset="-122"/>
                <a:cs typeface="Arial" pitchFamily="34" charset="-120"/>
              </a:rPr>
              <a:t>The Ministry's competition with Microsoft — officially “your first step toward global competitions.”</a:t>
            </a:r>
            <a:endParaRPr lang="en-US" sz="700" dirty="0"/>
          </a:p>
        </p:txBody>
      </p:sp>
      <p:sp>
        <p:nvSpPr>
          <p:cNvPr id="37" name="Shape 31"/>
          <p:cNvSpPr/>
          <p:nvPr/>
        </p:nvSpPr>
        <p:spPr>
          <a:xfrm>
            <a:off x="4301642" y="3959352"/>
            <a:ext cx="3588410" cy="2331720"/>
          </a:xfrm>
          <a:prstGeom prst="roundRect">
            <a:avLst>
              <a:gd name="adj" fmla="val 3137"/>
            </a:avLst>
          </a:prstGeom>
          <a:solidFill>
            <a:srgbClr val="F2F7F8"/>
          </a:solidFill>
          <a:ln/>
        </p:spPr>
      </p:sp>
      <p:sp>
        <p:nvSpPr>
          <p:cNvPr id="38" name="Shape 32"/>
          <p:cNvSpPr/>
          <p:nvPr/>
        </p:nvSpPr>
        <p:spPr>
          <a:xfrm>
            <a:off x="6838493" y="4096512"/>
            <a:ext cx="914400" cy="237744"/>
          </a:xfrm>
          <a:prstGeom prst="roundRect">
            <a:avLst>
              <a:gd name="adj" fmla="val 50000"/>
            </a:avLst>
          </a:prstGeom>
          <a:solidFill>
            <a:srgbClr val="007D8F"/>
          </a:solidFill>
          <a:ln/>
        </p:spPr>
      </p:sp>
      <p:sp>
        <p:nvSpPr>
          <p:cNvPr id="39" name="Text 33"/>
          <p:cNvSpPr/>
          <p:nvPr/>
        </p:nvSpPr>
        <p:spPr>
          <a:xfrm>
            <a:off x="6838493" y="4096512"/>
            <a:ext cx="9144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Robotics</a:t>
            </a:r>
            <a:endParaRPr lang="en-US" sz="800" dirty="0"/>
          </a:p>
        </p:txBody>
      </p:sp>
      <p:sp>
        <p:nvSpPr>
          <p:cNvPr id="40" name="Text 34"/>
          <p:cNvSpPr/>
          <p:nvPr/>
        </p:nvSpPr>
        <p:spPr>
          <a:xfrm>
            <a:off x="4466234" y="4105656"/>
            <a:ext cx="2353970" cy="384048"/>
          </a:xfrm>
          <a:prstGeom prst="rect">
            <a:avLst/>
          </a:prstGeom>
          <a:noFill/>
          <a:ln/>
        </p:spPr>
        <p:txBody>
          <a:bodyPr wrap="square" rtlCol="0" anchor="t"/>
          <a:lstStyle/>
          <a:p>
            <a:pPr rtl="1" algn="r" indent="0" marL="0">
              <a:buNone/>
            </a:pPr>
            <a:r>
              <a:rPr lang="en-US" sz="1200" b="1" dirty="0">
                <a:solidFill>
                  <a:srgbClr val="005A66"/>
                </a:solidFill>
                <a:latin typeface="Cambria" pitchFamily="34" charset="0"/>
                <a:ea typeface="Cambria" pitchFamily="34" charset="-122"/>
                <a:cs typeface="Cambria" pitchFamily="34" charset="-120"/>
              </a:rPr>
              <a:t>VEX Robotics</a:t>
            </a:r>
            <a:endParaRPr lang="en-US" sz="1200" dirty="0"/>
          </a:p>
        </p:txBody>
      </p:sp>
      <p:sp>
        <p:nvSpPr>
          <p:cNvPr id="41" name="Text 35"/>
          <p:cNvSpPr/>
          <p:nvPr/>
        </p:nvSpPr>
        <p:spPr>
          <a:xfrm>
            <a:off x="4466234" y="4471416"/>
            <a:ext cx="3259226" cy="274320"/>
          </a:xfrm>
          <a:prstGeom prst="rect">
            <a:avLst/>
          </a:prstGeom>
          <a:noFill/>
          <a:ln/>
        </p:spPr>
        <p:txBody>
          <a:bodyPr wrap="square" rtlCol="0" anchor="t"/>
          <a:lstStyle/>
          <a:p>
            <a:pPr rtl="1" algn="r" indent="0" marL="0">
              <a:buNone/>
            </a:pPr>
            <a:r>
              <a:rPr lang="en-US" sz="850" dirty="0">
                <a:solidFill>
                  <a:srgbClr val="5A5F73"/>
                </a:solidFill>
                <a:latin typeface="Arial" pitchFamily="34" charset="0"/>
                <a:ea typeface="Arial" pitchFamily="34" charset="-122"/>
                <a:cs typeface="Arial" pitchFamily="34" charset="-120"/>
              </a:rPr>
              <a:t>الاتحاد السعودي للرياضات اللاسلكية × VEX/RECF</a:t>
            </a:r>
            <a:endParaRPr lang="en-US" sz="850" dirty="0"/>
          </a:p>
        </p:txBody>
      </p:sp>
      <p:sp>
        <p:nvSpPr>
          <p:cNvPr id="42" name="Text 36"/>
          <p:cNvSpPr/>
          <p:nvPr/>
        </p:nvSpPr>
        <p:spPr>
          <a:xfrm>
            <a:off x="4466234" y="4800600"/>
            <a:ext cx="3259226" cy="777240"/>
          </a:xfrm>
          <a:prstGeom prst="rect">
            <a:avLst/>
          </a:prstGeom>
          <a:noFill/>
          <a:ln/>
        </p:spPr>
        <p:txBody>
          <a:bodyPr wrap="square" rtlCol="0" anchor="t"/>
          <a:lstStyle/>
          <a:p>
            <a:pPr rtl="1" algn="r" indent="0" marL="0">
              <a:lnSpc>
                <a:spcPct val="115000"/>
              </a:lnSpc>
              <a:buNone/>
            </a:pPr>
            <a:r>
              <a:rPr lang="en-US" sz="850" dirty="0">
                <a:solidFill>
                  <a:srgbClr val="1B1B2F"/>
                </a:solidFill>
                <a:latin typeface="Arial" pitchFamily="34" charset="0"/>
                <a:ea typeface="Arial" pitchFamily="34" charset="-122"/>
                <a:cs typeface="Arial" pitchFamily="34" charset="-120"/>
              </a:rPr>
              <a:t>أكبر مسابقة روبوتات في العالم (غينيس)، بشراكة رسمية مع الاتحاد السعودي منذ 2025 — فئتا VEX IQ وV5RC تغطيان الابتدائية/المتوسطة والثانوية.</a:t>
            </a:r>
            <a:endParaRPr lang="en-US" sz="850" dirty="0"/>
          </a:p>
        </p:txBody>
      </p:sp>
      <p:sp>
        <p:nvSpPr>
          <p:cNvPr id="43" name="Text 37"/>
          <p:cNvSpPr/>
          <p:nvPr/>
        </p:nvSpPr>
        <p:spPr>
          <a:xfrm>
            <a:off x="4466234" y="5788152"/>
            <a:ext cx="3259226" cy="457200"/>
          </a:xfrm>
          <a:prstGeom prst="rect">
            <a:avLst/>
          </a:prstGeom>
          <a:noFill/>
          <a:ln/>
        </p:spPr>
        <p:txBody>
          <a:bodyPr wrap="square" rtlCol="0" anchor="t"/>
          <a:lstStyle/>
          <a:p>
            <a:pPr algn="r" indent="0" marL="0">
              <a:lnSpc>
                <a:spcPct val="110000"/>
              </a:lnSpc>
              <a:buNone/>
            </a:pPr>
            <a:r>
              <a:rPr lang="en-US" sz="700" i="1" dirty="0">
                <a:solidFill>
                  <a:srgbClr val="5A5F73"/>
                </a:solidFill>
                <a:latin typeface="Arial" pitchFamily="34" charset="0"/>
                <a:ea typeface="Arial" pitchFamily="34" charset="-122"/>
                <a:cs typeface="Arial" pitchFamily="34" charset="-120"/>
              </a:rPr>
              <a:t>The world's largest robotics competition (Guinness), officially partnered with the Saudi Federation since 2025 — VEX IQ and V5RC cover elementary/middle and high school.</a:t>
            </a:r>
            <a:endParaRPr lang="en-US" sz="700" dirty="0"/>
          </a:p>
        </p:txBody>
      </p:sp>
      <p:sp>
        <p:nvSpPr>
          <p:cNvPr id="44" name="Text 38"/>
          <p:cNvSpPr/>
          <p:nvPr/>
        </p:nvSpPr>
        <p:spPr>
          <a:xfrm>
            <a:off x="11551615" y="6400800"/>
            <a:ext cx="365760" cy="274320"/>
          </a:xfrm>
          <a:prstGeom prst="rect">
            <a:avLst/>
          </a:prstGeom>
          <a:noFill/>
          <a:ln/>
        </p:spPr>
        <p:txBody>
          <a:bodyPr wrap="square" rtlCol="0" anchor="ctr"/>
          <a:lstStyle/>
          <a:p>
            <a:pPr algn="r" indent="0" marL="0">
              <a:buNone/>
            </a:pPr>
            <a:r>
              <a:rPr lang="en-US" sz="1000" dirty="0">
                <a:solidFill>
                  <a:srgbClr val="5A5F73"/>
                </a:solidFill>
                <a:latin typeface="Arial" pitchFamily="34" charset="0"/>
                <a:ea typeface="Arial" pitchFamily="34" charset="-122"/>
                <a:cs typeface="Arial"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92608"/>
            <a:ext cx="2824759" cy="501091"/>
          </a:xfrm>
          <a:prstGeom prst="roundRect">
            <a:avLst>
              <a:gd name="adj" fmla="val 10949"/>
            </a:avLst>
          </a:prstGeom>
          <a:solidFill>
            <a:srgbClr val="FFFFFF"/>
          </a:solidFill>
          <a:ln w="6350">
            <a:solidFill>
              <a:srgbClr val="E3E8EA"/>
            </a:solidFill>
            <a:prstDash val="solid"/>
          </a:ln>
          <a:effectLst>
            <a:outerShdw sx="100000" sy="100000" kx="0" ky="0" algn="bl" rotWithShape="0" blurRad="50800" dist="12700" dir="5400000">
              <a:srgbClr val="888888">
                <a:alpha val="25000"/>
              </a:srgbClr>
            </a:outerShdw>
          </a:effectLst>
        </p:spPr>
      </p:sp>
      <p:pic>
        <p:nvPicPr>
          <p:cNvPr id="3" name="Image 0" descr="/home/claude/qubits_pptx/logos/trim_dar_alforsan.png">    </p:cNvPr>
          <p:cNvPicPr>
            <a:picLocks noChangeAspect="1"/>
          </p:cNvPicPr>
          <p:nvPr/>
        </p:nvPicPr>
        <p:blipFill>
          <a:blip r:embed="rId1"/>
          <a:stretch>
            <a:fillRect/>
          </a:stretch>
        </p:blipFill>
        <p:spPr>
          <a:xfrm>
            <a:off x="484632" y="387706"/>
            <a:ext cx="270802" cy="310896"/>
          </a:xfrm>
          <a:prstGeom prst="rect">
            <a:avLst/>
          </a:prstGeom>
        </p:spPr>
      </p:pic>
      <p:pic>
        <p:nvPicPr>
          <p:cNvPr id="4" name="Image 1" descr="/home/claude/qubits_pptx/logos/trim_diploma_section.png">    </p:cNvPr>
          <p:cNvPicPr>
            <a:picLocks noChangeAspect="1"/>
          </p:cNvPicPr>
          <p:nvPr/>
        </p:nvPicPr>
        <p:blipFill>
          <a:blip r:embed="rId2"/>
          <a:stretch>
            <a:fillRect/>
          </a:stretch>
        </p:blipFill>
        <p:spPr>
          <a:xfrm>
            <a:off x="846874" y="387706"/>
            <a:ext cx="253851" cy="310896"/>
          </a:xfrm>
          <a:prstGeom prst="rect">
            <a:avLst/>
          </a:prstGeom>
        </p:spPr>
      </p:pic>
      <p:pic>
        <p:nvPicPr>
          <p:cNvPr id="5" name="Image 2" descr="/home/claude/qubits_pptx/logos/trim_qubits_v4.png">    </p:cNvPr>
          <p:cNvPicPr>
            <a:picLocks noChangeAspect="1"/>
          </p:cNvPicPr>
          <p:nvPr/>
        </p:nvPicPr>
        <p:blipFill>
          <a:blip r:embed="rId3"/>
          <a:stretch>
            <a:fillRect/>
          </a:stretch>
        </p:blipFill>
        <p:spPr>
          <a:xfrm>
            <a:off x="1192164" y="387706"/>
            <a:ext cx="981777" cy="310896"/>
          </a:xfrm>
          <a:prstGeom prst="rect">
            <a:avLst/>
          </a:prstGeom>
        </p:spPr>
      </p:pic>
      <p:pic>
        <p:nvPicPr>
          <p:cNvPr id="6" name="Image 3" descr="/home/claude/qubits_pptx/logos/trim_aiaasc.png">    </p:cNvPr>
          <p:cNvPicPr>
            <a:picLocks noChangeAspect="1"/>
          </p:cNvPicPr>
          <p:nvPr/>
        </p:nvPicPr>
        <p:blipFill>
          <a:blip r:embed="rId4"/>
          <a:stretch>
            <a:fillRect/>
          </a:stretch>
        </p:blipFill>
        <p:spPr>
          <a:xfrm>
            <a:off x="2265381" y="387706"/>
            <a:ext cx="806266" cy="310896"/>
          </a:xfrm>
          <a:prstGeom prst="rect">
            <a:avLst/>
          </a:prstGeom>
        </p:spPr>
      </p:pic>
      <p:sp>
        <p:nvSpPr>
          <p:cNvPr id="7" name="Text 1"/>
          <p:cNvSpPr/>
          <p:nvPr/>
        </p:nvSpPr>
        <p:spPr>
          <a:xfrm>
            <a:off x="548640" y="438912"/>
            <a:ext cx="11094415" cy="502920"/>
          </a:xfrm>
          <a:prstGeom prst="rect">
            <a:avLst/>
          </a:prstGeom>
          <a:noFill/>
          <a:ln/>
        </p:spPr>
        <p:txBody>
          <a:bodyPr wrap="square" lIns="0" tIns="0" rIns="0" bIns="0" rtlCol="0" anchor="ctr"/>
          <a:lstStyle/>
          <a:p>
            <a:pPr rtl="1" algn="r" indent="0" marL="0">
              <a:buNone/>
            </a:pPr>
            <a:r>
              <a:rPr lang="en-US" sz="2400" b="1" dirty="0">
                <a:solidFill>
                  <a:srgbClr val="007D8F"/>
                </a:solidFill>
                <a:latin typeface="Cambria" pitchFamily="34" charset="0"/>
                <a:ea typeface="Cambria" pitchFamily="34" charset="-122"/>
                <a:cs typeface="Cambria" pitchFamily="34" charset="-120"/>
              </a:rPr>
              <a:t>إشراف تقني مباشر لحماية الطلاب</a:t>
            </a:r>
            <a:endParaRPr lang="en-US" sz="2400" dirty="0"/>
          </a:p>
        </p:txBody>
      </p:sp>
      <p:sp>
        <p:nvSpPr>
          <p:cNvPr id="8" name="Text 2"/>
          <p:cNvSpPr/>
          <p:nvPr/>
        </p:nvSpPr>
        <p:spPr>
          <a:xfrm>
            <a:off x="548640" y="914400"/>
            <a:ext cx="11094415" cy="320040"/>
          </a:xfrm>
          <a:prstGeom prst="rect">
            <a:avLst/>
          </a:prstGeom>
          <a:noFill/>
          <a:ln/>
        </p:spPr>
        <p:txBody>
          <a:bodyPr wrap="square" lIns="0" tIns="0" rIns="0" bIns="0" rtlCol="0" anchor="ctr"/>
          <a:lstStyle/>
          <a:p>
            <a:pPr algn="r" indent="0" marL="0">
              <a:buNone/>
            </a:pPr>
            <a:r>
              <a:rPr lang="en-US" sz="1200" i="1" dirty="0">
                <a:solidFill>
                  <a:srgbClr val="5A5F73"/>
                </a:solidFill>
                <a:latin typeface="Arial" pitchFamily="34" charset="0"/>
                <a:ea typeface="Arial" pitchFamily="34" charset="-122"/>
                <a:cs typeface="Arial" pitchFamily="34" charset="-120"/>
              </a:rPr>
              <a:t>Direct Technical Supervision to Keep Students Safe</a:t>
            </a:r>
            <a:endParaRPr lang="en-US" sz="1200" dirty="0"/>
          </a:p>
        </p:txBody>
      </p:sp>
      <p:sp>
        <p:nvSpPr>
          <p:cNvPr id="9" name="Text 3"/>
          <p:cNvSpPr/>
          <p:nvPr/>
        </p:nvSpPr>
        <p:spPr>
          <a:xfrm>
            <a:off x="548640" y="1417320"/>
            <a:ext cx="11094415" cy="450799"/>
          </a:xfrm>
          <a:prstGeom prst="rect">
            <a:avLst/>
          </a:prstGeom>
          <a:noFill/>
          <a:ln/>
        </p:spPr>
        <p:txBody>
          <a:bodyPr wrap="square" rtlCol="0" anchor="t"/>
          <a:lstStyle/>
          <a:p>
            <a:pPr rtl="1" algn="r" indent="0" marL="0">
              <a:lnSpc>
                <a:spcPct val="115000"/>
              </a:lnSpc>
              <a:buNone/>
            </a:pPr>
            <a:r>
              <a:rPr lang="en-US" sz="1250" dirty="0">
                <a:solidFill>
                  <a:srgbClr val="1B1B2F"/>
                </a:solidFill>
                <a:latin typeface="Arial" pitchFamily="34" charset="0"/>
                <a:ea typeface="Arial" pitchFamily="34" charset="-122"/>
                <a:cs typeface="Arial" pitchFamily="34" charset="-120"/>
              </a:rPr>
              <a:t>أثناء استخدام أجهزة المعمل، يشرف المعلم على جميع الأجهزة بالتزامن — عرض الشاشات لحظياً، التحكم بالتثبيت والتحديثات، وحجب المواقع في النطاقات المجهولة — لحماية الطالب، لا لتقييد استقلاليته</a:t>
            </a:r>
            <a:endParaRPr lang="en-US" sz="1250" dirty="0"/>
          </a:p>
        </p:txBody>
      </p:sp>
      <p:sp>
        <p:nvSpPr>
          <p:cNvPr id="10" name="Text 4"/>
          <p:cNvSpPr/>
          <p:nvPr/>
        </p:nvSpPr>
        <p:spPr>
          <a:xfrm>
            <a:off x="548640" y="1868119"/>
            <a:ext cx="11094415" cy="326441"/>
          </a:xfrm>
          <a:prstGeom prst="rect">
            <a:avLst/>
          </a:prstGeom>
          <a:noFill/>
          <a:ln/>
        </p:spPr>
        <p:txBody>
          <a:bodyPr wrap="square" rtlCol="0" anchor="t"/>
          <a:lstStyle/>
          <a:p>
            <a:pPr algn="r" indent="0" marL="0">
              <a:lnSpc>
                <a:spcPct val="110000"/>
              </a:lnSpc>
              <a:buNone/>
            </a:pPr>
            <a:r>
              <a:rPr lang="en-US" sz="1000" i="1" dirty="0">
                <a:solidFill>
                  <a:srgbClr val="5A5F73"/>
                </a:solidFill>
                <a:latin typeface="Arial" pitchFamily="34" charset="0"/>
                <a:ea typeface="Arial" pitchFamily="34" charset="-122"/>
                <a:cs typeface="Arial" pitchFamily="34" charset="-120"/>
              </a:rPr>
              <a:t>While using lab devices, the teacher supervises every device simultaneously — live screen viewing, install/update control, and blocking unknown-domain sites — to protect students, not restrict their independence</a:t>
            </a:r>
            <a:endParaRPr lang="en-US" sz="1000" dirty="0"/>
          </a:p>
        </p:txBody>
      </p:sp>
      <p:sp>
        <p:nvSpPr>
          <p:cNvPr id="11" name="Shape 5"/>
          <p:cNvSpPr/>
          <p:nvPr/>
        </p:nvSpPr>
        <p:spPr>
          <a:xfrm>
            <a:off x="548640" y="2331720"/>
            <a:ext cx="11094415" cy="3566160"/>
          </a:xfrm>
          <a:prstGeom prst="roundRect">
            <a:avLst>
              <a:gd name="adj" fmla="val 2564"/>
            </a:avLst>
          </a:prstGeom>
          <a:solidFill>
            <a:srgbClr val="FFFFFF"/>
          </a:solidFill>
          <a:ln w="12700">
            <a:solidFill>
              <a:srgbClr val="E3E8EA"/>
            </a:solidFill>
            <a:prstDash val="solid"/>
          </a:ln>
        </p:spPr>
      </p:sp>
      <p:sp>
        <p:nvSpPr>
          <p:cNvPr id="12" name="Shape 6"/>
          <p:cNvSpPr/>
          <p:nvPr/>
        </p:nvSpPr>
        <p:spPr>
          <a:xfrm>
            <a:off x="11441887" y="2542032"/>
            <a:ext cx="91440" cy="91440"/>
          </a:xfrm>
          <a:prstGeom prst="ellipse">
            <a:avLst/>
          </a:prstGeom>
          <a:solidFill>
            <a:srgbClr val="007D8F"/>
          </a:solidFill>
          <a:ln/>
        </p:spPr>
      </p:sp>
      <p:sp>
        <p:nvSpPr>
          <p:cNvPr id="13" name="Text 7"/>
          <p:cNvSpPr/>
          <p:nvPr/>
        </p:nvSpPr>
        <p:spPr>
          <a:xfrm>
            <a:off x="9793986" y="2468880"/>
            <a:ext cx="1556461" cy="237744"/>
          </a:xfrm>
          <a:prstGeom prst="rect">
            <a:avLst/>
          </a:prstGeom>
          <a:noFill/>
          <a:ln/>
        </p:spPr>
        <p:txBody>
          <a:bodyPr wrap="square" lIns="0" tIns="0" rIns="0" bIns="0" rtlCol="0" anchor="ctr"/>
          <a:lstStyle/>
          <a:p>
            <a:pPr rtl="1" algn="r" indent="0" marL="0">
              <a:buNone/>
            </a:pPr>
            <a:r>
              <a:rPr lang="en-US" sz="800" b="1" dirty="0">
                <a:solidFill>
                  <a:srgbClr val="005A66"/>
                </a:solidFill>
                <a:latin typeface="Arial" pitchFamily="34" charset="0"/>
                <a:ea typeface="Arial" pitchFamily="34" charset="-122"/>
                <a:cs typeface="Arial" pitchFamily="34" charset="-120"/>
              </a:rPr>
              <a:t>عرض الشاشات</a:t>
            </a:r>
            <a:endParaRPr lang="en-US" sz="800" dirty="0"/>
          </a:p>
        </p:txBody>
      </p:sp>
      <p:sp>
        <p:nvSpPr>
          <p:cNvPr id="14" name="Shape 8"/>
          <p:cNvSpPr/>
          <p:nvPr/>
        </p:nvSpPr>
        <p:spPr>
          <a:xfrm>
            <a:off x="9592818" y="2542032"/>
            <a:ext cx="91440" cy="91440"/>
          </a:xfrm>
          <a:prstGeom prst="ellipse">
            <a:avLst/>
          </a:prstGeom>
          <a:solidFill>
            <a:srgbClr val="283373"/>
          </a:solidFill>
          <a:ln/>
        </p:spPr>
      </p:sp>
      <p:sp>
        <p:nvSpPr>
          <p:cNvPr id="15" name="Text 9"/>
          <p:cNvSpPr/>
          <p:nvPr/>
        </p:nvSpPr>
        <p:spPr>
          <a:xfrm>
            <a:off x="7944917" y="2468880"/>
            <a:ext cx="1556461" cy="237744"/>
          </a:xfrm>
          <a:prstGeom prst="rect">
            <a:avLst/>
          </a:prstGeom>
          <a:noFill/>
          <a:ln/>
        </p:spPr>
        <p:txBody>
          <a:bodyPr wrap="square" lIns="0" tIns="0" rIns="0" bIns="0" rtlCol="0" anchor="ctr"/>
          <a:lstStyle/>
          <a:p>
            <a:pPr rtl="1" algn="r" indent="0" marL="0">
              <a:buNone/>
            </a:pPr>
            <a:r>
              <a:rPr lang="en-US" sz="800" b="1" dirty="0">
                <a:solidFill>
                  <a:srgbClr val="005A66"/>
                </a:solidFill>
                <a:latin typeface="Arial" pitchFamily="34" charset="0"/>
                <a:ea typeface="Arial" pitchFamily="34" charset="-122"/>
                <a:cs typeface="Arial" pitchFamily="34" charset="-120"/>
              </a:rPr>
              <a:t>دردشة صفية</a:t>
            </a:r>
            <a:endParaRPr lang="en-US" sz="800" dirty="0"/>
          </a:p>
        </p:txBody>
      </p:sp>
      <p:sp>
        <p:nvSpPr>
          <p:cNvPr id="16" name="Shape 10"/>
          <p:cNvSpPr/>
          <p:nvPr/>
        </p:nvSpPr>
        <p:spPr>
          <a:xfrm>
            <a:off x="7743749" y="2542032"/>
            <a:ext cx="91440" cy="91440"/>
          </a:xfrm>
          <a:prstGeom prst="ellipse">
            <a:avLst/>
          </a:prstGeom>
          <a:solidFill>
            <a:srgbClr val="802980"/>
          </a:solidFill>
          <a:ln/>
        </p:spPr>
      </p:sp>
      <p:sp>
        <p:nvSpPr>
          <p:cNvPr id="17" name="Text 11"/>
          <p:cNvSpPr/>
          <p:nvPr/>
        </p:nvSpPr>
        <p:spPr>
          <a:xfrm>
            <a:off x="6095848" y="2468880"/>
            <a:ext cx="1556461" cy="237744"/>
          </a:xfrm>
          <a:prstGeom prst="rect">
            <a:avLst/>
          </a:prstGeom>
          <a:noFill/>
          <a:ln/>
        </p:spPr>
        <p:txBody>
          <a:bodyPr wrap="square" lIns="0" tIns="0" rIns="0" bIns="0" rtlCol="0" anchor="ctr"/>
          <a:lstStyle/>
          <a:p>
            <a:pPr rtl="1" algn="r" indent="0" marL="0">
              <a:buNone/>
            </a:pPr>
            <a:r>
              <a:rPr lang="en-US" sz="800" b="1" dirty="0">
                <a:solidFill>
                  <a:srgbClr val="005A66"/>
                </a:solidFill>
                <a:latin typeface="Arial" pitchFamily="34" charset="0"/>
                <a:ea typeface="Arial" pitchFamily="34" charset="-122"/>
                <a:cs typeface="Arial" pitchFamily="34" charset="-120"/>
              </a:rPr>
              <a:t>قفل الجهاز</a:t>
            </a:r>
            <a:endParaRPr lang="en-US" sz="800" dirty="0"/>
          </a:p>
        </p:txBody>
      </p:sp>
      <p:sp>
        <p:nvSpPr>
          <p:cNvPr id="18" name="Shape 12"/>
          <p:cNvSpPr/>
          <p:nvPr/>
        </p:nvSpPr>
        <p:spPr>
          <a:xfrm>
            <a:off x="5894680" y="2542032"/>
            <a:ext cx="91440" cy="91440"/>
          </a:xfrm>
          <a:prstGeom prst="ellipse">
            <a:avLst/>
          </a:prstGeom>
          <a:solidFill>
            <a:srgbClr val="007D8F"/>
          </a:solidFill>
          <a:ln/>
        </p:spPr>
      </p:sp>
      <p:sp>
        <p:nvSpPr>
          <p:cNvPr id="19" name="Text 13"/>
          <p:cNvSpPr/>
          <p:nvPr/>
        </p:nvSpPr>
        <p:spPr>
          <a:xfrm>
            <a:off x="4246778" y="2468880"/>
            <a:ext cx="1556461" cy="237744"/>
          </a:xfrm>
          <a:prstGeom prst="rect">
            <a:avLst/>
          </a:prstGeom>
          <a:noFill/>
          <a:ln/>
        </p:spPr>
        <p:txBody>
          <a:bodyPr wrap="square" lIns="0" tIns="0" rIns="0" bIns="0" rtlCol="0" anchor="ctr"/>
          <a:lstStyle/>
          <a:p>
            <a:pPr rtl="1" algn="r" indent="0" marL="0">
              <a:buNone/>
            </a:pPr>
            <a:r>
              <a:rPr lang="en-US" sz="800" b="1" dirty="0">
                <a:solidFill>
                  <a:srgbClr val="005A66"/>
                </a:solidFill>
                <a:latin typeface="Arial" pitchFamily="34" charset="0"/>
                <a:ea typeface="Arial" pitchFamily="34" charset="-122"/>
                <a:cs typeface="Arial" pitchFamily="34" charset="-120"/>
              </a:rPr>
              <a:t>حجب المواقع</a:t>
            </a:r>
            <a:endParaRPr lang="en-US" sz="800" dirty="0"/>
          </a:p>
        </p:txBody>
      </p:sp>
      <p:sp>
        <p:nvSpPr>
          <p:cNvPr id="20" name="Shape 14"/>
          <p:cNvSpPr/>
          <p:nvPr/>
        </p:nvSpPr>
        <p:spPr>
          <a:xfrm>
            <a:off x="4045610" y="2542032"/>
            <a:ext cx="91440" cy="91440"/>
          </a:xfrm>
          <a:prstGeom prst="ellipse">
            <a:avLst/>
          </a:prstGeom>
          <a:solidFill>
            <a:srgbClr val="283373"/>
          </a:solidFill>
          <a:ln/>
        </p:spPr>
      </p:sp>
      <p:sp>
        <p:nvSpPr>
          <p:cNvPr id="21" name="Text 15"/>
          <p:cNvSpPr/>
          <p:nvPr/>
        </p:nvSpPr>
        <p:spPr>
          <a:xfrm>
            <a:off x="2397709" y="2468880"/>
            <a:ext cx="1556461" cy="237744"/>
          </a:xfrm>
          <a:prstGeom prst="rect">
            <a:avLst/>
          </a:prstGeom>
          <a:noFill/>
          <a:ln/>
        </p:spPr>
        <p:txBody>
          <a:bodyPr wrap="square" lIns="0" tIns="0" rIns="0" bIns="0" rtlCol="0" anchor="ctr"/>
          <a:lstStyle/>
          <a:p>
            <a:pPr rtl="1" algn="r" indent="0" marL="0">
              <a:buNone/>
            </a:pPr>
            <a:r>
              <a:rPr lang="en-US" sz="800" b="1" dirty="0">
                <a:solidFill>
                  <a:srgbClr val="005A66"/>
                </a:solidFill>
                <a:latin typeface="Arial" pitchFamily="34" charset="0"/>
                <a:ea typeface="Arial" pitchFamily="34" charset="-122"/>
                <a:cs typeface="Arial" pitchFamily="34" charset="-120"/>
              </a:rPr>
              <a:t>تحديث الأنظمة</a:t>
            </a:r>
            <a:endParaRPr lang="en-US" sz="800" dirty="0"/>
          </a:p>
        </p:txBody>
      </p:sp>
      <p:sp>
        <p:nvSpPr>
          <p:cNvPr id="22" name="Shape 16"/>
          <p:cNvSpPr/>
          <p:nvPr/>
        </p:nvSpPr>
        <p:spPr>
          <a:xfrm>
            <a:off x="2196541" y="2542032"/>
            <a:ext cx="91440" cy="91440"/>
          </a:xfrm>
          <a:prstGeom prst="ellipse">
            <a:avLst/>
          </a:prstGeom>
          <a:solidFill>
            <a:srgbClr val="802980"/>
          </a:solidFill>
          <a:ln/>
        </p:spPr>
      </p:sp>
      <p:sp>
        <p:nvSpPr>
          <p:cNvPr id="23" name="Text 17"/>
          <p:cNvSpPr/>
          <p:nvPr/>
        </p:nvSpPr>
        <p:spPr>
          <a:xfrm>
            <a:off x="548640" y="2468880"/>
            <a:ext cx="1556461" cy="237744"/>
          </a:xfrm>
          <a:prstGeom prst="rect">
            <a:avLst/>
          </a:prstGeom>
          <a:noFill/>
          <a:ln/>
        </p:spPr>
        <p:txBody>
          <a:bodyPr wrap="square" lIns="0" tIns="0" rIns="0" bIns="0" rtlCol="0" anchor="ctr"/>
          <a:lstStyle/>
          <a:p>
            <a:pPr rtl="1" algn="r" indent="0" marL="0">
              <a:buNone/>
            </a:pPr>
            <a:r>
              <a:rPr lang="en-US" sz="800" b="1" dirty="0">
                <a:solidFill>
                  <a:srgbClr val="005A66"/>
                </a:solidFill>
                <a:latin typeface="Arial" pitchFamily="34" charset="0"/>
                <a:ea typeface="Arial" pitchFamily="34" charset="-122"/>
                <a:cs typeface="Arial" pitchFamily="34" charset="-120"/>
              </a:rPr>
              <a:t>نقل الملفات</a:t>
            </a:r>
            <a:endParaRPr lang="en-US" sz="800" dirty="0"/>
          </a:p>
        </p:txBody>
      </p:sp>
      <p:sp>
        <p:nvSpPr>
          <p:cNvPr id="24" name="Shape 18"/>
          <p:cNvSpPr/>
          <p:nvPr/>
        </p:nvSpPr>
        <p:spPr>
          <a:xfrm>
            <a:off x="777240" y="2880360"/>
            <a:ext cx="10637215" cy="0"/>
          </a:xfrm>
          <a:prstGeom prst="line">
            <a:avLst/>
          </a:prstGeom>
          <a:noFill/>
          <a:ln w="9525">
            <a:solidFill>
              <a:srgbClr val="E3E8EA"/>
            </a:solidFill>
            <a:prstDash val="solid"/>
          </a:ln>
        </p:spPr>
      </p:sp>
      <p:sp>
        <p:nvSpPr>
          <p:cNvPr id="25" name="Shape 19"/>
          <p:cNvSpPr/>
          <p:nvPr/>
        </p:nvSpPr>
        <p:spPr>
          <a:xfrm>
            <a:off x="548640" y="3108960"/>
            <a:ext cx="1926275" cy="914400"/>
          </a:xfrm>
          <a:prstGeom prst="roundRect">
            <a:avLst>
              <a:gd name="adj" fmla="val 5000"/>
            </a:avLst>
          </a:prstGeom>
          <a:ln w="31750">
            <a:solidFill>
              <a:srgbClr val="007D8F"/>
            </a:solidFill>
            <a:prstDash val="solid"/>
          </a:ln>
        </p:spPr>
      </p:sp>
      <p:sp>
        <p:nvSpPr>
          <p:cNvPr id="26" name="Shape 20"/>
          <p:cNvSpPr/>
          <p:nvPr/>
        </p:nvSpPr>
        <p:spPr>
          <a:xfrm>
            <a:off x="1374618" y="4023360"/>
            <a:ext cx="274320" cy="91440"/>
          </a:xfrm>
          <a:prstGeom prst="rect">
            <a:avLst/>
          </a:prstGeom>
          <a:solidFill>
            <a:srgbClr val="007D8F"/>
          </a:solidFill>
          <a:ln/>
        </p:spPr>
      </p:sp>
      <p:sp>
        <p:nvSpPr>
          <p:cNvPr id="27" name="Shape 21"/>
          <p:cNvSpPr/>
          <p:nvPr/>
        </p:nvSpPr>
        <p:spPr>
          <a:xfrm>
            <a:off x="1191738" y="4114800"/>
            <a:ext cx="640080" cy="45720"/>
          </a:xfrm>
          <a:prstGeom prst="rect">
            <a:avLst>
              <a:gd name="adj" fmla="val 50000"/>
            </a:avLst>
          </a:prstGeom>
          <a:solidFill>
            <a:srgbClr val="007D8F"/>
          </a:solidFill>
          <a:ln/>
        </p:spPr>
      </p:sp>
      <p:sp>
        <p:nvSpPr>
          <p:cNvPr id="28" name="Text 22"/>
          <p:cNvSpPr/>
          <p:nvPr/>
        </p:nvSpPr>
        <p:spPr>
          <a:xfrm>
            <a:off x="548640" y="4224528"/>
            <a:ext cx="1926275" cy="201168"/>
          </a:xfrm>
          <a:prstGeom prst="rect">
            <a:avLst/>
          </a:prstGeom>
          <a:noFill/>
          <a:ln/>
        </p:spPr>
        <p:txBody>
          <a:bodyPr wrap="square" rtlCol="0" anchor="ctr"/>
          <a:lstStyle/>
          <a:p>
            <a:pPr algn="ctr" indent="0" marL="0">
              <a:buNone/>
            </a:pPr>
            <a:r>
              <a:rPr lang="en-US" sz="800" b="1" dirty="0">
                <a:solidFill>
                  <a:srgbClr val="1B1B2F"/>
                </a:solidFill>
                <a:latin typeface="Arial" pitchFamily="34" charset="0"/>
                <a:ea typeface="Arial" pitchFamily="34" charset="-122"/>
                <a:cs typeface="Arial" pitchFamily="34" charset="-120"/>
              </a:rPr>
              <a:t>Student 1</a:t>
            </a:r>
            <a:endParaRPr lang="en-US" sz="800" dirty="0"/>
          </a:p>
        </p:txBody>
      </p:sp>
      <p:sp>
        <p:nvSpPr>
          <p:cNvPr id="29" name="Shape 23"/>
          <p:cNvSpPr/>
          <p:nvPr/>
        </p:nvSpPr>
        <p:spPr>
          <a:xfrm>
            <a:off x="2840675" y="3108960"/>
            <a:ext cx="1926275" cy="914400"/>
          </a:xfrm>
          <a:prstGeom prst="roundRect">
            <a:avLst>
              <a:gd name="adj" fmla="val 5000"/>
            </a:avLst>
          </a:prstGeom>
          <a:ln w="31750">
            <a:solidFill>
              <a:srgbClr val="283373"/>
            </a:solidFill>
            <a:prstDash val="solid"/>
          </a:ln>
        </p:spPr>
      </p:sp>
      <p:sp>
        <p:nvSpPr>
          <p:cNvPr id="30" name="Shape 24"/>
          <p:cNvSpPr/>
          <p:nvPr/>
        </p:nvSpPr>
        <p:spPr>
          <a:xfrm>
            <a:off x="3666653" y="4023360"/>
            <a:ext cx="274320" cy="91440"/>
          </a:xfrm>
          <a:prstGeom prst="rect">
            <a:avLst/>
          </a:prstGeom>
          <a:solidFill>
            <a:srgbClr val="283373"/>
          </a:solidFill>
          <a:ln/>
        </p:spPr>
      </p:sp>
      <p:sp>
        <p:nvSpPr>
          <p:cNvPr id="31" name="Shape 25"/>
          <p:cNvSpPr/>
          <p:nvPr/>
        </p:nvSpPr>
        <p:spPr>
          <a:xfrm>
            <a:off x="3483773" y="4114800"/>
            <a:ext cx="640080" cy="45720"/>
          </a:xfrm>
          <a:prstGeom prst="rect">
            <a:avLst>
              <a:gd name="adj" fmla="val 50000"/>
            </a:avLst>
          </a:prstGeom>
          <a:solidFill>
            <a:srgbClr val="283373"/>
          </a:solidFill>
          <a:ln/>
        </p:spPr>
      </p:sp>
      <p:sp>
        <p:nvSpPr>
          <p:cNvPr id="32" name="Text 26"/>
          <p:cNvSpPr/>
          <p:nvPr/>
        </p:nvSpPr>
        <p:spPr>
          <a:xfrm>
            <a:off x="2840675" y="4224528"/>
            <a:ext cx="1926275" cy="201168"/>
          </a:xfrm>
          <a:prstGeom prst="rect">
            <a:avLst/>
          </a:prstGeom>
          <a:noFill/>
          <a:ln/>
        </p:spPr>
        <p:txBody>
          <a:bodyPr wrap="square" rtlCol="0" anchor="ctr"/>
          <a:lstStyle/>
          <a:p>
            <a:pPr algn="ctr" indent="0" marL="0">
              <a:buNone/>
            </a:pPr>
            <a:r>
              <a:rPr lang="en-US" sz="800" b="1" dirty="0">
                <a:solidFill>
                  <a:srgbClr val="1B1B2F"/>
                </a:solidFill>
                <a:latin typeface="Arial" pitchFamily="34" charset="0"/>
                <a:ea typeface="Arial" pitchFamily="34" charset="-122"/>
                <a:cs typeface="Arial" pitchFamily="34" charset="-120"/>
              </a:rPr>
              <a:t>Student 2</a:t>
            </a:r>
            <a:endParaRPr lang="en-US" sz="800" dirty="0"/>
          </a:p>
        </p:txBody>
      </p:sp>
      <p:sp>
        <p:nvSpPr>
          <p:cNvPr id="33" name="Shape 27"/>
          <p:cNvSpPr/>
          <p:nvPr/>
        </p:nvSpPr>
        <p:spPr>
          <a:xfrm>
            <a:off x="5132710" y="3108960"/>
            <a:ext cx="1926275" cy="914400"/>
          </a:xfrm>
          <a:prstGeom prst="roundRect">
            <a:avLst>
              <a:gd name="adj" fmla="val 5000"/>
            </a:avLst>
          </a:prstGeom>
          <a:ln w="31750">
            <a:solidFill>
              <a:srgbClr val="802980"/>
            </a:solidFill>
            <a:prstDash val="solid"/>
          </a:ln>
        </p:spPr>
      </p:sp>
      <p:sp>
        <p:nvSpPr>
          <p:cNvPr id="34" name="Shape 28"/>
          <p:cNvSpPr/>
          <p:nvPr/>
        </p:nvSpPr>
        <p:spPr>
          <a:xfrm>
            <a:off x="5958688" y="4023360"/>
            <a:ext cx="274320" cy="91440"/>
          </a:xfrm>
          <a:prstGeom prst="rect">
            <a:avLst/>
          </a:prstGeom>
          <a:solidFill>
            <a:srgbClr val="802980"/>
          </a:solidFill>
          <a:ln/>
        </p:spPr>
      </p:sp>
      <p:sp>
        <p:nvSpPr>
          <p:cNvPr id="35" name="Shape 29"/>
          <p:cNvSpPr/>
          <p:nvPr/>
        </p:nvSpPr>
        <p:spPr>
          <a:xfrm>
            <a:off x="5775808" y="4114800"/>
            <a:ext cx="640080" cy="45720"/>
          </a:xfrm>
          <a:prstGeom prst="rect">
            <a:avLst>
              <a:gd name="adj" fmla="val 50000"/>
            </a:avLst>
          </a:prstGeom>
          <a:solidFill>
            <a:srgbClr val="802980"/>
          </a:solidFill>
          <a:ln/>
        </p:spPr>
      </p:sp>
      <p:sp>
        <p:nvSpPr>
          <p:cNvPr id="36" name="Text 30"/>
          <p:cNvSpPr/>
          <p:nvPr/>
        </p:nvSpPr>
        <p:spPr>
          <a:xfrm>
            <a:off x="5132710" y="4224528"/>
            <a:ext cx="1926275" cy="201168"/>
          </a:xfrm>
          <a:prstGeom prst="rect">
            <a:avLst/>
          </a:prstGeom>
          <a:noFill/>
          <a:ln/>
        </p:spPr>
        <p:txBody>
          <a:bodyPr wrap="square" rtlCol="0" anchor="ctr"/>
          <a:lstStyle/>
          <a:p>
            <a:pPr algn="ctr" indent="0" marL="0">
              <a:buNone/>
            </a:pPr>
            <a:r>
              <a:rPr lang="en-US" sz="800" b="1" dirty="0">
                <a:solidFill>
                  <a:srgbClr val="1B1B2F"/>
                </a:solidFill>
                <a:latin typeface="Arial" pitchFamily="34" charset="0"/>
                <a:ea typeface="Arial" pitchFamily="34" charset="-122"/>
                <a:cs typeface="Arial" pitchFamily="34" charset="-120"/>
              </a:rPr>
              <a:t>Student 3</a:t>
            </a:r>
            <a:endParaRPr lang="en-US" sz="800" dirty="0"/>
          </a:p>
        </p:txBody>
      </p:sp>
      <p:sp>
        <p:nvSpPr>
          <p:cNvPr id="37" name="Shape 31"/>
          <p:cNvSpPr/>
          <p:nvPr/>
        </p:nvSpPr>
        <p:spPr>
          <a:xfrm>
            <a:off x="7424745" y="3108960"/>
            <a:ext cx="1926275" cy="914400"/>
          </a:xfrm>
          <a:prstGeom prst="roundRect">
            <a:avLst>
              <a:gd name="adj" fmla="val 5000"/>
            </a:avLst>
          </a:prstGeom>
          <a:ln w="31750">
            <a:solidFill>
              <a:srgbClr val="009AA8"/>
            </a:solidFill>
            <a:prstDash val="solid"/>
          </a:ln>
        </p:spPr>
      </p:sp>
      <p:sp>
        <p:nvSpPr>
          <p:cNvPr id="38" name="Shape 32"/>
          <p:cNvSpPr/>
          <p:nvPr/>
        </p:nvSpPr>
        <p:spPr>
          <a:xfrm>
            <a:off x="8250723" y="4023360"/>
            <a:ext cx="274320" cy="91440"/>
          </a:xfrm>
          <a:prstGeom prst="rect">
            <a:avLst/>
          </a:prstGeom>
          <a:solidFill>
            <a:srgbClr val="009AA8"/>
          </a:solidFill>
          <a:ln/>
        </p:spPr>
      </p:sp>
      <p:sp>
        <p:nvSpPr>
          <p:cNvPr id="39" name="Shape 33"/>
          <p:cNvSpPr/>
          <p:nvPr/>
        </p:nvSpPr>
        <p:spPr>
          <a:xfrm>
            <a:off x="8067843" y="4114800"/>
            <a:ext cx="640080" cy="45720"/>
          </a:xfrm>
          <a:prstGeom prst="rect">
            <a:avLst>
              <a:gd name="adj" fmla="val 50000"/>
            </a:avLst>
          </a:prstGeom>
          <a:solidFill>
            <a:srgbClr val="009AA8"/>
          </a:solidFill>
          <a:ln/>
        </p:spPr>
      </p:sp>
      <p:sp>
        <p:nvSpPr>
          <p:cNvPr id="40" name="Text 34"/>
          <p:cNvSpPr/>
          <p:nvPr/>
        </p:nvSpPr>
        <p:spPr>
          <a:xfrm>
            <a:off x="7424745" y="4224528"/>
            <a:ext cx="1926275" cy="201168"/>
          </a:xfrm>
          <a:prstGeom prst="rect">
            <a:avLst/>
          </a:prstGeom>
          <a:noFill/>
          <a:ln/>
        </p:spPr>
        <p:txBody>
          <a:bodyPr wrap="square" rtlCol="0" anchor="ctr"/>
          <a:lstStyle/>
          <a:p>
            <a:pPr algn="ctr" indent="0" marL="0">
              <a:buNone/>
            </a:pPr>
            <a:r>
              <a:rPr lang="en-US" sz="800" b="1" dirty="0">
                <a:solidFill>
                  <a:srgbClr val="1B1B2F"/>
                </a:solidFill>
                <a:latin typeface="Arial" pitchFamily="34" charset="0"/>
                <a:ea typeface="Arial" pitchFamily="34" charset="-122"/>
                <a:cs typeface="Arial" pitchFamily="34" charset="-120"/>
              </a:rPr>
              <a:t>Student 4</a:t>
            </a:r>
            <a:endParaRPr lang="en-US" sz="800" dirty="0"/>
          </a:p>
        </p:txBody>
      </p:sp>
      <p:sp>
        <p:nvSpPr>
          <p:cNvPr id="41" name="Shape 35"/>
          <p:cNvSpPr/>
          <p:nvPr/>
        </p:nvSpPr>
        <p:spPr>
          <a:xfrm>
            <a:off x="9716780" y="3108960"/>
            <a:ext cx="1926275" cy="914400"/>
          </a:xfrm>
          <a:prstGeom prst="roundRect">
            <a:avLst>
              <a:gd name="adj" fmla="val 5000"/>
            </a:avLst>
          </a:prstGeom>
          <a:ln w="31750">
            <a:solidFill>
              <a:srgbClr val="6C279E"/>
            </a:solidFill>
            <a:prstDash val="solid"/>
          </a:ln>
        </p:spPr>
      </p:sp>
      <p:sp>
        <p:nvSpPr>
          <p:cNvPr id="42" name="Shape 36"/>
          <p:cNvSpPr/>
          <p:nvPr/>
        </p:nvSpPr>
        <p:spPr>
          <a:xfrm>
            <a:off x="10542758" y="4023360"/>
            <a:ext cx="274320" cy="91440"/>
          </a:xfrm>
          <a:prstGeom prst="rect">
            <a:avLst/>
          </a:prstGeom>
          <a:solidFill>
            <a:srgbClr val="6C279E"/>
          </a:solidFill>
          <a:ln/>
        </p:spPr>
      </p:sp>
      <p:sp>
        <p:nvSpPr>
          <p:cNvPr id="43" name="Shape 37"/>
          <p:cNvSpPr/>
          <p:nvPr/>
        </p:nvSpPr>
        <p:spPr>
          <a:xfrm>
            <a:off x="10359878" y="4114800"/>
            <a:ext cx="640080" cy="45720"/>
          </a:xfrm>
          <a:prstGeom prst="rect">
            <a:avLst>
              <a:gd name="adj" fmla="val 50000"/>
            </a:avLst>
          </a:prstGeom>
          <a:solidFill>
            <a:srgbClr val="6C279E"/>
          </a:solidFill>
          <a:ln/>
        </p:spPr>
      </p:sp>
      <p:sp>
        <p:nvSpPr>
          <p:cNvPr id="44" name="Text 38"/>
          <p:cNvSpPr/>
          <p:nvPr/>
        </p:nvSpPr>
        <p:spPr>
          <a:xfrm>
            <a:off x="9716780" y="4224528"/>
            <a:ext cx="1926275" cy="201168"/>
          </a:xfrm>
          <a:prstGeom prst="rect">
            <a:avLst/>
          </a:prstGeom>
          <a:noFill/>
          <a:ln/>
        </p:spPr>
        <p:txBody>
          <a:bodyPr wrap="square" rtlCol="0" anchor="ctr"/>
          <a:lstStyle/>
          <a:p>
            <a:pPr algn="ctr" indent="0" marL="0">
              <a:buNone/>
            </a:pPr>
            <a:r>
              <a:rPr lang="en-US" sz="800" b="1" dirty="0">
                <a:solidFill>
                  <a:srgbClr val="1B1B2F"/>
                </a:solidFill>
                <a:latin typeface="Arial" pitchFamily="34" charset="0"/>
                <a:ea typeface="Arial" pitchFamily="34" charset="-122"/>
                <a:cs typeface="Arial" pitchFamily="34" charset="-120"/>
              </a:rPr>
              <a:t>Student 5</a:t>
            </a:r>
            <a:endParaRPr lang="en-US" sz="800" dirty="0"/>
          </a:p>
        </p:txBody>
      </p:sp>
      <p:sp>
        <p:nvSpPr>
          <p:cNvPr id="45" name="Shape 39"/>
          <p:cNvSpPr/>
          <p:nvPr/>
        </p:nvSpPr>
        <p:spPr>
          <a:xfrm>
            <a:off x="548640" y="4572000"/>
            <a:ext cx="1926275" cy="914400"/>
          </a:xfrm>
          <a:prstGeom prst="roundRect">
            <a:avLst>
              <a:gd name="adj" fmla="val 5000"/>
            </a:avLst>
          </a:prstGeom>
          <a:ln w="31750">
            <a:solidFill>
              <a:srgbClr val="007D8F"/>
            </a:solidFill>
            <a:prstDash val="solid"/>
          </a:ln>
        </p:spPr>
      </p:sp>
      <p:sp>
        <p:nvSpPr>
          <p:cNvPr id="46" name="Shape 40"/>
          <p:cNvSpPr/>
          <p:nvPr/>
        </p:nvSpPr>
        <p:spPr>
          <a:xfrm>
            <a:off x="1374618" y="5486400"/>
            <a:ext cx="274320" cy="91440"/>
          </a:xfrm>
          <a:prstGeom prst="rect">
            <a:avLst/>
          </a:prstGeom>
          <a:solidFill>
            <a:srgbClr val="007D8F"/>
          </a:solidFill>
          <a:ln/>
        </p:spPr>
      </p:sp>
      <p:sp>
        <p:nvSpPr>
          <p:cNvPr id="47" name="Shape 41"/>
          <p:cNvSpPr/>
          <p:nvPr/>
        </p:nvSpPr>
        <p:spPr>
          <a:xfrm>
            <a:off x="1191738" y="5577840"/>
            <a:ext cx="640080" cy="45720"/>
          </a:xfrm>
          <a:prstGeom prst="rect">
            <a:avLst>
              <a:gd name="adj" fmla="val 50000"/>
            </a:avLst>
          </a:prstGeom>
          <a:solidFill>
            <a:srgbClr val="007D8F"/>
          </a:solidFill>
          <a:ln/>
        </p:spPr>
      </p:sp>
      <p:sp>
        <p:nvSpPr>
          <p:cNvPr id="48" name="Text 42"/>
          <p:cNvSpPr/>
          <p:nvPr/>
        </p:nvSpPr>
        <p:spPr>
          <a:xfrm>
            <a:off x="548640" y="5687568"/>
            <a:ext cx="1926275" cy="201168"/>
          </a:xfrm>
          <a:prstGeom prst="rect">
            <a:avLst/>
          </a:prstGeom>
          <a:noFill/>
          <a:ln/>
        </p:spPr>
        <p:txBody>
          <a:bodyPr wrap="square" rtlCol="0" anchor="ctr"/>
          <a:lstStyle/>
          <a:p>
            <a:pPr algn="ctr" indent="0" marL="0">
              <a:buNone/>
            </a:pPr>
            <a:r>
              <a:rPr lang="en-US" sz="800" b="1" dirty="0">
                <a:solidFill>
                  <a:srgbClr val="1B1B2F"/>
                </a:solidFill>
                <a:latin typeface="Arial" pitchFamily="34" charset="0"/>
                <a:ea typeface="Arial" pitchFamily="34" charset="-122"/>
                <a:cs typeface="Arial" pitchFamily="34" charset="-120"/>
              </a:rPr>
              <a:t>Student 6</a:t>
            </a:r>
            <a:endParaRPr lang="en-US" sz="800" dirty="0"/>
          </a:p>
        </p:txBody>
      </p:sp>
      <p:sp>
        <p:nvSpPr>
          <p:cNvPr id="49" name="Shape 43"/>
          <p:cNvSpPr/>
          <p:nvPr/>
        </p:nvSpPr>
        <p:spPr>
          <a:xfrm>
            <a:off x="2840675" y="4572000"/>
            <a:ext cx="1926275" cy="914400"/>
          </a:xfrm>
          <a:prstGeom prst="roundRect">
            <a:avLst>
              <a:gd name="adj" fmla="val 5000"/>
            </a:avLst>
          </a:prstGeom>
          <a:ln w="31750">
            <a:solidFill>
              <a:srgbClr val="283373"/>
            </a:solidFill>
            <a:prstDash val="solid"/>
          </a:ln>
        </p:spPr>
      </p:sp>
      <p:sp>
        <p:nvSpPr>
          <p:cNvPr id="50" name="Shape 44"/>
          <p:cNvSpPr/>
          <p:nvPr/>
        </p:nvSpPr>
        <p:spPr>
          <a:xfrm>
            <a:off x="3666653" y="5486400"/>
            <a:ext cx="274320" cy="91440"/>
          </a:xfrm>
          <a:prstGeom prst="rect">
            <a:avLst/>
          </a:prstGeom>
          <a:solidFill>
            <a:srgbClr val="283373"/>
          </a:solidFill>
          <a:ln/>
        </p:spPr>
      </p:sp>
      <p:sp>
        <p:nvSpPr>
          <p:cNvPr id="51" name="Shape 45"/>
          <p:cNvSpPr/>
          <p:nvPr/>
        </p:nvSpPr>
        <p:spPr>
          <a:xfrm>
            <a:off x="3483773" y="5577840"/>
            <a:ext cx="640080" cy="45720"/>
          </a:xfrm>
          <a:prstGeom prst="rect">
            <a:avLst>
              <a:gd name="adj" fmla="val 50000"/>
            </a:avLst>
          </a:prstGeom>
          <a:solidFill>
            <a:srgbClr val="283373"/>
          </a:solidFill>
          <a:ln/>
        </p:spPr>
      </p:sp>
      <p:sp>
        <p:nvSpPr>
          <p:cNvPr id="52" name="Text 46"/>
          <p:cNvSpPr/>
          <p:nvPr/>
        </p:nvSpPr>
        <p:spPr>
          <a:xfrm>
            <a:off x="2840675" y="5687568"/>
            <a:ext cx="1926275" cy="201168"/>
          </a:xfrm>
          <a:prstGeom prst="rect">
            <a:avLst/>
          </a:prstGeom>
          <a:noFill/>
          <a:ln/>
        </p:spPr>
        <p:txBody>
          <a:bodyPr wrap="square" rtlCol="0" anchor="ctr"/>
          <a:lstStyle/>
          <a:p>
            <a:pPr algn="ctr" indent="0" marL="0">
              <a:buNone/>
            </a:pPr>
            <a:r>
              <a:rPr lang="en-US" sz="800" b="1" dirty="0">
                <a:solidFill>
                  <a:srgbClr val="1B1B2F"/>
                </a:solidFill>
                <a:latin typeface="Arial" pitchFamily="34" charset="0"/>
                <a:ea typeface="Arial" pitchFamily="34" charset="-122"/>
                <a:cs typeface="Arial" pitchFamily="34" charset="-120"/>
              </a:rPr>
              <a:t>Student 7</a:t>
            </a:r>
            <a:endParaRPr lang="en-US" sz="800" dirty="0"/>
          </a:p>
        </p:txBody>
      </p:sp>
      <p:sp>
        <p:nvSpPr>
          <p:cNvPr id="53" name="Shape 47"/>
          <p:cNvSpPr/>
          <p:nvPr/>
        </p:nvSpPr>
        <p:spPr>
          <a:xfrm>
            <a:off x="5132710" y="4572000"/>
            <a:ext cx="1926275" cy="914400"/>
          </a:xfrm>
          <a:prstGeom prst="roundRect">
            <a:avLst>
              <a:gd name="adj" fmla="val 5000"/>
            </a:avLst>
          </a:prstGeom>
          <a:ln w="31750">
            <a:solidFill>
              <a:srgbClr val="802980"/>
            </a:solidFill>
            <a:prstDash val="solid"/>
          </a:ln>
        </p:spPr>
      </p:sp>
      <p:sp>
        <p:nvSpPr>
          <p:cNvPr id="54" name="Shape 48"/>
          <p:cNvSpPr/>
          <p:nvPr/>
        </p:nvSpPr>
        <p:spPr>
          <a:xfrm>
            <a:off x="5958688" y="5486400"/>
            <a:ext cx="274320" cy="91440"/>
          </a:xfrm>
          <a:prstGeom prst="rect">
            <a:avLst/>
          </a:prstGeom>
          <a:solidFill>
            <a:srgbClr val="802980"/>
          </a:solidFill>
          <a:ln/>
        </p:spPr>
      </p:sp>
      <p:sp>
        <p:nvSpPr>
          <p:cNvPr id="55" name="Shape 49"/>
          <p:cNvSpPr/>
          <p:nvPr/>
        </p:nvSpPr>
        <p:spPr>
          <a:xfrm>
            <a:off x="5775808" y="5577840"/>
            <a:ext cx="640080" cy="45720"/>
          </a:xfrm>
          <a:prstGeom prst="rect">
            <a:avLst>
              <a:gd name="adj" fmla="val 50000"/>
            </a:avLst>
          </a:prstGeom>
          <a:solidFill>
            <a:srgbClr val="802980"/>
          </a:solidFill>
          <a:ln/>
        </p:spPr>
      </p:sp>
      <p:sp>
        <p:nvSpPr>
          <p:cNvPr id="56" name="Text 50"/>
          <p:cNvSpPr/>
          <p:nvPr/>
        </p:nvSpPr>
        <p:spPr>
          <a:xfrm>
            <a:off x="5132710" y="5687568"/>
            <a:ext cx="1926275" cy="201168"/>
          </a:xfrm>
          <a:prstGeom prst="rect">
            <a:avLst/>
          </a:prstGeom>
          <a:noFill/>
          <a:ln/>
        </p:spPr>
        <p:txBody>
          <a:bodyPr wrap="square" rtlCol="0" anchor="ctr"/>
          <a:lstStyle/>
          <a:p>
            <a:pPr algn="ctr" indent="0" marL="0">
              <a:buNone/>
            </a:pPr>
            <a:r>
              <a:rPr lang="en-US" sz="800" b="1" dirty="0">
                <a:solidFill>
                  <a:srgbClr val="1B1B2F"/>
                </a:solidFill>
                <a:latin typeface="Arial" pitchFamily="34" charset="0"/>
                <a:ea typeface="Arial" pitchFamily="34" charset="-122"/>
                <a:cs typeface="Arial" pitchFamily="34" charset="-120"/>
              </a:rPr>
              <a:t>Student 8</a:t>
            </a:r>
            <a:endParaRPr lang="en-US" sz="800" dirty="0"/>
          </a:p>
        </p:txBody>
      </p:sp>
      <p:sp>
        <p:nvSpPr>
          <p:cNvPr id="57" name="Shape 51"/>
          <p:cNvSpPr/>
          <p:nvPr/>
        </p:nvSpPr>
        <p:spPr>
          <a:xfrm>
            <a:off x="7424745" y="4572000"/>
            <a:ext cx="1926275" cy="914400"/>
          </a:xfrm>
          <a:prstGeom prst="roundRect">
            <a:avLst>
              <a:gd name="adj" fmla="val 5000"/>
            </a:avLst>
          </a:prstGeom>
          <a:ln w="31750">
            <a:solidFill>
              <a:srgbClr val="009AA8"/>
            </a:solidFill>
            <a:prstDash val="solid"/>
          </a:ln>
        </p:spPr>
      </p:sp>
      <p:sp>
        <p:nvSpPr>
          <p:cNvPr id="58" name="Shape 52"/>
          <p:cNvSpPr/>
          <p:nvPr/>
        </p:nvSpPr>
        <p:spPr>
          <a:xfrm>
            <a:off x="8250723" y="5486400"/>
            <a:ext cx="274320" cy="91440"/>
          </a:xfrm>
          <a:prstGeom prst="rect">
            <a:avLst/>
          </a:prstGeom>
          <a:solidFill>
            <a:srgbClr val="009AA8"/>
          </a:solidFill>
          <a:ln/>
        </p:spPr>
      </p:sp>
      <p:sp>
        <p:nvSpPr>
          <p:cNvPr id="59" name="Shape 53"/>
          <p:cNvSpPr/>
          <p:nvPr/>
        </p:nvSpPr>
        <p:spPr>
          <a:xfrm>
            <a:off x="8067843" y="5577840"/>
            <a:ext cx="640080" cy="45720"/>
          </a:xfrm>
          <a:prstGeom prst="rect">
            <a:avLst>
              <a:gd name="adj" fmla="val 50000"/>
            </a:avLst>
          </a:prstGeom>
          <a:solidFill>
            <a:srgbClr val="009AA8"/>
          </a:solidFill>
          <a:ln/>
        </p:spPr>
      </p:sp>
      <p:sp>
        <p:nvSpPr>
          <p:cNvPr id="60" name="Text 54"/>
          <p:cNvSpPr/>
          <p:nvPr/>
        </p:nvSpPr>
        <p:spPr>
          <a:xfrm>
            <a:off x="7424745" y="5687568"/>
            <a:ext cx="1926275" cy="201168"/>
          </a:xfrm>
          <a:prstGeom prst="rect">
            <a:avLst/>
          </a:prstGeom>
          <a:noFill/>
          <a:ln/>
        </p:spPr>
        <p:txBody>
          <a:bodyPr wrap="square" rtlCol="0" anchor="ctr"/>
          <a:lstStyle/>
          <a:p>
            <a:pPr algn="ctr" indent="0" marL="0">
              <a:buNone/>
            </a:pPr>
            <a:r>
              <a:rPr lang="en-US" sz="800" b="1" dirty="0">
                <a:solidFill>
                  <a:srgbClr val="1B1B2F"/>
                </a:solidFill>
                <a:latin typeface="Arial" pitchFamily="34" charset="0"/>
                <a:ea typeface="Arial" pitchFamily="34" charset="-122"/>
                <a:cs typeface="Arial" pitchFamily="34" charset="-120"/>
              </a:rPr>
              <a:t>Student 9</a:t>
            </a:r>
            <a:endParaRPr lang="en-US" sz="800" dirty="0"/>
          </a:p>
        </p:txBody>
      </p:sp>
      <p:sp>
        <p:nvSpPr>
          <p:cNvPr id="61" name="Shape 55"/>
          <p:cNvSpPr/>
          <p:nvPr/>
        </p:nvSpPr>
        <p:spPr>
          <a:xfrm>
            <a:off x="9716780" y="4572000"/>
            <a:ext cx="1926275" cy="914400"/>
          </a:xfrm>
          <a:prstGeom prst="roundRect">
            <a:avLst>
              <a:gd name="adj" fmla="val 5000"/>
            </a:avLst>
          </a:prstGeom>
          <a:ln w="31750">
            <a:solidFill>
              <a:srgbClr val="6C279E"/>
            </a:solidFill>
            <a:prstDash val="solid"/>
          </a:ln>
        </p:spPr>
      </p:sp>
      <p:sp>
        <p:nvSpPr>
          <p:cNvPr id="62" name="Shape 56"/>
          <p:cNvSpPr/>
          <p:nvPr/>
        </p:nvSpPr>
        <p:spPr>
          <a:xfrm>
            <a:off x="10542758" y="5486400"/>
            <a:ext cx="274320" cy="91440"/>
          </a:xfrm>
          <a:prstGeom prst="rect">
            <a:avLst/>
          </a:prstGeom>
          <a:solidFill>
            <a:srgbClr val="6C279E"/>
          </a:solidFill>
          <a:ln/>
        </p:spPr>
      </p:sp>
      <p:sp>
        <p:nvSpPr>
          <p:cNvPr id="63" name="Shape 57"/>
          <p:cNvSpPr/>
          <p:nvPr/>
        </p:nvSpPr>
        <p:spPr>
          <a:xfrm>
            <a:off x="10359878" y="5577840"/>
            <a:ext cx="640080" cy="45720"/>
          </a:xfrm>
          <a:prstGeom prst="rect">
            <a:avLst>
              <a:gd name="adj" fmla="val 50000"/>
            </a:avLst>
          </a:prstGeom>
          <a:solidFill>
            <a:srgbClr val="6C279E"/>
          </a:solidFill>
          <a:ln/>
        </p:spPr>
      </p:sp>
      <p:sp>
        <p:nvSpPr>
          <p:cNvPr id="64" name="Text 58"/>
          <p:cNvSpPr/>
          <p:nvPr/>
        </p:nvSpPr>
        <p:spPr>
          <a:xfrm>
            <a:off x="9716780" y="5687568"/>
            <a:ext cx="1926275" cy="201168"/>
          </a:xfrm>
          <a:prstGeom prst="rect">
            <a:avLst/>
          </a:prstGeom>
          <a:noFill/>
          <a:ln/>
        </p:spPr>
        <p:txBody>
          <a:bodyPr wrap="square" rtlCol="0" anchor="ctr"/>
          <a:lstStyle/>
          <a:p>
            <a:pPr algn="ctr" indent="0" marL="0">
              <a:buNone/>
            </a:pPr>
            <a:r>
              <a:rPr lang="en-US" sz="800" b="1" dirty="0">
                <a:solidFill>
                  <a:srgbClr val="1B1B2F"/>
                </a:solidFill>
                <a:latin typeface="Arial" pitchFamily="34" charset="0"/>
                <a:ea typeface="Arial" pitchFamily="34" charset="-122"/>
                <a:cs typeface="Arial" pitchFamily="34" charset="-120"/>
              </a:rPr>
              <a:t>Student 10</a:t>
            </a:r>
            <a:endParaRPr lang="en-US" sz="800" dirty="0"/>
          </a:p>
        </p:txBody>
      </p:sp>
      <p:sp>
        <p:nvSpPr>
          <p:cNvPr id="65" name="Text 59"/>
          <p:cNvSpPr/>
          <p:nvPr/>
        </p:nvSpPr>
        <p:spPr>
          <a:xfrm>
            <a:off x="548640" y="6035040"/>
            <a:ext cx="11094415" cy="274320"/>
          </a:xfrm>
          <a:prstGeom prst="rect">
            <a:avLst/>
          </a:prstGeom>
          <a:noFill/>
          <a:ln/>
        </p:spPr>
        <p:txBody>
          <a:bodyPr wrap="square" rtlCol="0" anchor="ctr"/>
          <a:lstStyle/>
          <a:p>
            <a:pPr rtl="1" algn="ctr" indent="0" marL="0">
              <a:buNone/>
            </a:pPr>
            <a:r>
              <a:rPr lang="en-US" sz="950" i="1" dirty="0">
                <a:solidFill>
                  <a:srgbClr val="5A5F73"/>
                </a:solidFill>
                <a:latin typeface="Arial" pitchFamily="34" charset="0"/>
                <a:ea typeface="Arial" pitchFamily="34" charset="-122"/>
                <a:cs typeface="Arial" pitchFamily="34" charset="-120"/>
              </a:rPr>
              <a:t>تصور توضيحي يعكس طبيعة نظام الإشراف الصفي وواجهته، وليس بيانات أو تسجيلاً حقيقياً</a:t>
            </a:r>
            <a:endParaRPr lang="en-US" sz="950" dirty="0"/>
          </a:p>
        </p:txBody>
      </p:sp>
      <p:sp>
        <p:nvSpPr>
          <p:cNvPr id="66" name="Text 60"/>
          <p:cNvSpPr/>
          <p:nvPr/>
        </p:nvSpPr>
        <p:spPr>
          <a:xfrm>
            <a:off x="11551615" y="6400800"/>
            <a:ext cx="365760" cy="274320"/>
          </a:xfrm>
          <a:prstGeom prst="rect">
            <a:avLst/>
          </a:prstGeom>
          <a:noFill/>
          <a:ln/>
        </p:spPr>
        <p:txBody>
          <a:bodyPr wrap="square" rtlCol="0" anchor="ctr"/>
          <a:lstStyle/>
          <a:p>
            <a:pPr algn="r" indent="0" marL="0">
              <a:buNone/>
            </a:pPr>
            <a:r>
              <a:rPr lang="en-US" sz="1000" dirty="0">
                <a:solidFill>
                  <a:srgbClr val="5A5F73"/>
                </a:solidFill>
                <a:latin typeface="Arial" pitchFamily="34" charset="0"/>
                <a:ea typeface="Arial" pitchFamily="34" charset="-122"/>
                <a:cs typeface="Arial"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92608"/>
            <a:ext cx="2824759" cy="501091"/>
          </a:xfrm>
          <a:prstGeom prst="roundRect">
            <a:avLst>
              <a:gd name="adj" fmla="val 10949"/>
            </a:avLst>
          </a:prstGeom>
          <a:solidFill>
            <a:srgbClr val="FFFFFF"/>
          </a:solidFill>
          <a:ln w="6350">
            <a:solidFill>
              <a:srgbClr val="E3E8EA"/>
            </a:solidFill>
            <a:prstDash val="solid"/>
          </a:ln>
          <a:effectLst>
            <a:outerShdw sx="100000" sy="100000" kx="0" ky="0" algn="bl" rotWithShape="0" blurRad="50800" dist="12700" dir="5400000">
              <a:srgbClr val="888888">
                <a:alpha val="25000"/>
              </a:srgbClr>
            </a:outerShdw>
          </a:effectLst>
        </p:spPr>
      </p:sp>
      <p:pic>
        <p:nvPicPr>
          <p:cNvPr id="3" name="Image 0" descr="/home/claude/qubits_pptx/logos/trim_dar_alforsan.png">    </p:cNvPr>
          <p:cNvPicPr>
            <a:picLocks noChangeAspect="1"/>
          </p:cNvPicPr>
          <p:nvPr/>
        </p:nvPicPr>
        <p:blipFill>
          <a:blip r:embed="rId1"/>
          <a:stretch>
            <a:fillRect/>
          </a:stretch>
        </p:blipFill>
        <p:spPr>
          <a:xfrm>
            <a:off x="484632" y="387706"/>
            <a:ext cx="270802" cy="310896"/>
          </a:xfrm>
          <a:prstGeom prst="rect">
            <a:avLst/>
          </a:prstGeom>
        </p:spPr>
      </p:pic>
      <p:pic>
        <p:nvPicPr>
          <p:cNvPr id="4" name="Image 1" descr="/home/claude/qubits_pptx/logos/trim_diploma_section.png">    </p:cNvPr>
          <p:cNvPicPr>
            <a:picLocks noChangeAspect="1"/>
          </p:cNvPicPr>
          <p:nvPr/>
        </p:nvPicPr>
        <p:blipFill>
          <a:blip r:embed="rId2"/>
          <a:stretch>
            <a:fillRect/>
          </a:stretch>
        </p:blipFill>
        <p:spPr>
          <a:xfrm>
            <a:off x="846874" y="387706"/>
            <a:ext cx="253851" cy="310896"/>
          </a:xfrm>
          <a:prstGeom prst="rect">
            <a:avLst/>
          </a:prstGeom>
        </p:spPr>
      </p:pic>
      <p:pic>
        <p:nvPicPr>
          <p:cNvPr id="5" name="Image 2" descr="/home/claude/qubits_pptx/logos/trim_qubits_v4.png">    </p:cNvPr>
          <p:cNvPicPr>
            <a:picLocks noChangeAspect="1"/>
          </p:cNvPicPr>
          <p:nvPr/>
        </p:nvPicPr>
        <p:blipFill>
          <a:blip r:embed="rId3"/>
          <a:stretch>
            <a:fillRect/>
          </a:stretch>
        </p:blipFill>
        <p:spPr>
          <a:xfrm>
            <a:off x="1192164" y="387706"/>
            <a:ext cx="981777" cy="310896"/>
          </a:xfrm>
          <a:prstGeom prst="rect">
            <a:avLst/>
          </a:prstGeom>
        </p:spPr>
      </p:pic>
      <p:pic>
        <p:nvPicPr>
          <p:cNvPr id="6" name="Image 3" descr="/home/claude/qubits_pptx/logos/trim_aiaasc.png">    </p:cNvPr>
          <p:cNvPicPr>
            <a:picLocks noChangeAspect="1"/>
          </p:cNvPicPr>
          <p:nvPr/>
        </p:nvPicPr>
        <p:blipFill>
          <a:blip r:embed="rId4"/>
          <a:stretch>
            <a:fillRect/>
          </a:stretch>
        </p:blipFill>
        <p:spPr>
          <a:xfrm>
            <a:off x="2265381" y="387706"/>
            <a:ext cx="806266" cy="310896"/>
          </a:xfrm>
          <a:prstGeom prst="rect">
            <a:avLst/>
          </a:prstGeom>
        </p:spPr>
      </p:pic>
      <p:sp>
        <p:nvSpPr>
          <p:cNvPr id="7" name="Text 1"/>
          <p:cNvSpPr/>
          <p:nvPr/>
        </p:nvSpPr>
        <p:spPr>
          <a:xfrm>
            <a:off x="548640" y="438912"/>
            <a:ext cx="11094415" cy="502920"/>
          </a:xfrm>
          <a:prstGeom prst="rect">
            <a:avLst/>
          </a:prstGeom>
          <a:noFill/>
          <a:ln/>
        </p:spPr>
        <p:txBody>
          <a:bodyPr wrap="square" lIns="0" tIns="0" rIns="0" bIns="0" rtlCol="0" anchor="ctr"/>
          <a:lstStyle/>
          <a:p>
            <a:pPr rtl="1" algn="r" indent="0" marL="0">
              <a:buNone/>
            </a:pPr>
            <a:r>
              <a:rPr lang="en-US" sz="2400" b="1" dirty="0">
                <a:solidFill>
                  <a:srgbClr val="007D8F"/>
                </a:solidFill>
                <a:latin typeface="Cambria" pitchFamily="34" charset="0"/>
                <a:ea typeface="Cambria" pitchFamily="34" charset="-122"/>
                <a:cs typeface="Cambria" pitchFamily="34" charset="-120"/>
              </a:rPr>
              <a:t>آلية المتابعة والقياس</a:t>
            </a:r>
            <a:endParaRPr lang="en-US" sz="2400" dirty="0"/>
          </a:p>
        </p:txBody>
      </p:sp>
      <p:sp>
        <p:nvSpPr>
          <p:cNvPr id="8" name="Text 2"/>
          <p:cNvSpPr/>
          <p:nvPr/>
        </p:nvSpPr>
        <p:spPr>
          <a:xfrm>
            <a:off x="548640" y="914400"/>
            <a:ext cx="11094415" cy="320040"/>
          </a:xfrm>
          <a:prstGeom prst="rect">
            <a:avLst/>
          </a:prstGeom>
          <a:noFill/>
          <a:ln/>
        </p:spPr>
        <p:txBody>
          <a:bodyPr wrap="square" lIns="0" tIns="0" rIns="0" bIns="0" rtlCol="0" anchor="ctr"/>
          <a:lstStyle/>
          <a:p>
            <a:pPr algn="r" indent="0" marL="0">
              <a:buNone/>
            </a:pPr>
            <a:r>
              <a:rPr lang="en-US" sz="1200" i="1" dirty="0">
                <a:solidFill>
                  <a:srgbClr val="5A5F73"/>
                </a:solidFill>
                <a:latin typeface="Arial" pitchFamily="34" charset="0"/>
                <a:ea typeface="Arial" pitchFamily="34" charset="-122"/>
                <a:cs typeface="Arial" pitchFamily="34" charset="-120"/>
              </a:rPr>
              <a:t>How We Track Progress</a:t>
            </a:r>
            <a:endParaRPr lang="en-US" sz="1200" dirty="0"/>
          </a:p>
        </p:txBody>
      </p:sp>
      <p:sp>
        <p:nvSpPr>
          <p:cNvPr id="9" name="Shape 3"/>
          <p:cNvSpPr/>
          <p:nvPr/>
        </p:nvSpPr>
        <p:spPr>
          <a:xfrm>
            <a:off x="8127797" y="1691640"/>
            <a:ext cx="3515258" cy="3931920"/>
          </a:xfrm>
          <a:prstGeom prst="roundRect">
            <a:avLst>
              <a:gd name="adj" fmla="val 2081"/>
            </a:avLst>
          </a:prstGeom>
          <a:solidFill>
            <a:srgbClr val="F2F7F8"/>
          </a:solidFill>
          <a:ln/>
        </p:spPr>
      </p:sp>
      <p:sp>
        <p:nvSpPr>
          <p:cNvPr id="10" name="Text 4"/>
          <p:cNvSpPr/>
          <p:nvPr/>
        </p:nvSpPr>
        <p:spPr>
          <a:xfrm>
            <a:off x="8356397" y="1965960"/>
            <a:ext cx="3058058" cy="548640"/>
          </a:xfrm>
          <a:prstGeom prst="rect">
            <a:avLst/>
          </a:prstGeom>
          <a:noFill/>
          <a:ln/>
        </p:spPr>
        <p:txBody>
          <a:bodyPr wrap="square" rtlCol="0" anchor="ctr"/>
          <a:lstStyle/>
          <a:p>
            <a:pPr rtl="1" algn="ctr" indent="0" marL="0">
              <a:buNone/>
            </a:pPr>
            <a:r>
              <a:rPr lang="en-US" sz="1500" b="1" dirty="0">
                <a:solidFill>
                  <a:srgbClr val="005A66"/>
                </a:solidFill>
                <a:latin typeface="Cambria" pitchFamily="34" charset="0"/>
                <a:ea typeface="Cambria" pitchFamily="34" charset="-122"/>
                <a:cs typeface="Cambria" pitchFamily="34" charset="-120"/>
              </a:rPr>
              <a:t>Rubric محدد المعايير</a:t>
            </a:r>
            <a:endParaRPr lang="en-US" sz="1500" dirty="0"/>
          </a:p>
        </p:txBody>
      </p:sp>
      <p:sp>
        <p:nvSpPr>
          <p:cNvPr id="11" name="Text 5"/>
          <p:cNvSpPr/>
          <p:nvPr/>
        </p:nvSpPr>
        <p:spPr>
          <a:xfrm>
            <a:off x="8402117" y="2651760"/>
            <a:ext cx="2966618" cy="1538021"/>
          </a:xfrm>
          <a:prstGeom prst="rect">
            <a:avLst/>
          </a:prstGeom>
          <a:noFill/>
          <a:ln/>
        </p:spPr>
        <p:txBody>
          <a:bodyPr wrap="square" rtlCol="0" anchor="t"/>
          <a:lstStyle/>
          <a:p>
            <a:pPr rtl="1" algn="ctr" indent="0" marL="0">
              <a:lnSpc>
                <a:spcPct val="115000"/>
              </a:lnSpc>
              <a:buNone/>
            </a:pPr>
            <a:r>
              <a:rPr lang="en-US" sz="1150" dirty="0">
                <a:solidFill>
                  <a:srgbClr val="1B1B2F"/>
                </a:solidFill>
                <a:latin typeface="Arial" pitchFamily="34" charset="0"/>
                <a:ea typeface="Arial" pitchFamily="34" charset="-122"/>
                <a:cs typeface="Arial" pitchFamily="34" charset="-120"/>
              </a:rPr>
              <a:t>كل مرتكز من المرتكزات الستة يُقيَّم عبر معايير أداء واضحة، لا درجة عامة</a:t>
            </a:r>
            <a:endParaRPr lang="en-US" sz="1150" dirty="0"/>
          </a:p>
        </p:txBody>
      </p:sp>
      <p:sp>
        <p:nvSpPr>
          <p:cNvPr id="12" name="Text 6"/>
          <p:cNvSpPr/>
          <p:nvPr/>
        </p:nvSpPr>
        <p:spPr>
          <a:xfrm>
            <a:off x="8402117" y="4189781"/>
            <a:ext cx="2966618" cy="1113739"/>
          </a:xfrm>
          <a:prstGeom prst="rect">
            <a:avLst/>
          </a:prstGeom>
          <a:noFill/>
          <a:ln/>
        </p:spPr>
        <p:txBody>
          <a:bodyPr wrap="square" rtlCol="0" anchor="t"/>
          <a:lstStyle/>
          <a:p>
            <a:pPr algn="l" indent="0" marL="0">
              <a:lnSpc>
                <a:spcPct val="110000"/>
              </a:lnSpc>
              <a:buNone/>
            </a:pPr>
            <a:r>
              <a:rPr lang="en-US" sz="1000" i="1" dirty="0">
                <a:solidFill>
                  <a:srgbClr val="5A5F73"/>
                </a:solidFill>
                <a:latin typeface="Arial" pitchFamily="34" charset="0"/>
                <a:ea typeface="Arial" pitchFamily="34" charset="-122"/>
                <a:cs typeface="Arial" pitchFamily="34" charset="-120"/>
              </a:rPr>
              <a:t>Each of the six pillars is assessed through clear performance rubrics, not a general grade</a:t>
            </a:r>
            <a:endParaRPr lang="en-US" sz="1000" dirty="0"/>
          </a:p>
        </p:txBody>
      </p:sp>
      <p:sp>
        <p:nvSpPr>
          <p:cNvPr id="13" name="Shape 7"/>
          <p:cNvSpPr/>
          <p:nvPr/>
        </p:nvSpPr>
        <p:spPr>
          <a:xfrm>
            <a:off x="4338218" y="1691640"/>
            <a:ext cx="3515258" cy="3931920"/>
          </a:xfrm>
          <a:prstGeom prst="roundRect">
            <a:avLst>
              <a:gd name="adj" fmla="val 2081"/>
            </a:avLst>
          </a:prstGeom>
          <a:solidFill>
            <a:srgbClr val="802980"/>
          </a:solidFill>
          <a:ln/>
        </p:spPr>
      </p:sp>
      <p:sp>
        <p:nvSpPr>
          <p:cNvPr id="14" name="Text 8"/>
          <p:cNvSpPr/>
          <p:nvPr/>
        </p:nvSpPr>
        <p:spPr>
          <a:xfrm>
            <a:off x="4566818" y="1965960"/>
            <a:ext cx="3058058" cy="548640"/>
          </a:xfrm>
          <a:prstGeom prst="rect">
            <a:avLst/>
          </a:prstGeom>
          <a:noFill/>
          <a:ln/>
        </p:spPr>
        <p:txBody>
          <a:bodyPr wrap="square" rtlCol="0" anchor="ctr"/>
          <a:lstStyle/>
          <a:p>
            <a:pPr rtl="1" algn="ctr" indent="0" marL="0">
              <a:buNone/>
            </a:pPr>
            <a:r>
              <a:rPr lang="en-US" sz="1500" b="1" dirty="0">
                <a:solidFill>
                  <a:srgbClr val="FFFFFF"/>
                </a:solidFill>
                <a:latin typeface="Cambria" pitchFamily="34" charset="0"/>
                <a:ea typeface="Cambria" pitchFamily="34" charset="-122"/>
                <a:cs typeface="Cambria" pitchFamily="34" charset="-120"/>
              </a:rPr>
              <a:t>لوحات تحكم Qubits</a:t>
            </a:r>
            <a:endParaRPr lang="en-US" sz="1500" dirty="0"/>
          </a:p>
        </p:txBody>
      </p:sp>
      <p:sp>
        <p:nvSpPr>
          <p:cNvPr id="15" name="Text 9"/>
          <p:cNvSpPr/>
          <p:nvPr/>
        </p:nvSpPr>
        <p:spPr>
          <a:xfrm>
            <a:off x="4612538" y="2651760"/>
            <a:ext cx="2966618" cy="1538021"/>
          </a:xfrm>
          <a:prstGeom prst="rect">
            <a:avLst/>
          </a:prstGeom>
          <a:noFill/>
          <a:ln/>
        </p:spPr>
        <p:txBody>
          <a:bodyPr wrap="square" rtlCol="0" anchor="t"/>
          <a:lstStyle/>
          <a:p>
            <a:pPr rtl="1" algn="ctr" indent="0" marL="0">
              <a:lnSpc>
                <a:spcPct val="115000"/>
              </a:lnSpc>
              <a:buNone/>
            </a:pPr>
            <a:r>
              <a:rPr lang="en-US" sz="1150" dirty="0">
                <a:solidFill>
                  <a:srgbClr val="EDE0F0"/>
                </a:solidFill>
                <a:latin typeface="Arial" pitchFamily="34" charset="0"/>
                <a:ea typeface="Arial" pitchFamily="34" charset="-122"/>
                <a:cs typeface="Arial" pitchFamily="34" charset="-120"/>
              </a:rPr>
              <a:t>Analytics Dashboards تتيح رصد تقدم كل طالب في المرتكزات الستة أولاً بأول</a:t>
            </a:r>
            <a:endParaRPr lang="en-US" sz="1150" dirty="0"/>
          </a:p>
        </p:txBody>
      </p:sp>
      <p:sp>
        <p:nvSpPr>
          <p:cNvPr id="16" name="Text 10"/>
          <p:cNvSpPr/>
          <p:nvPr/>
        </p:nvSpPr>
        <p:spPr>
          <a:xfrm>
            <a:off x="4612538" y="4189781"/>
            <a:ext cx="2966618" cy="1113739"/>
          </a:xfrm>
          <a:prstGeom prst="rect">
            <a:avLst/>
          </a:prstGeom>
          <a:noFill/>
          <a:ln/>
        </p:spPr>
        <p:txBody>
          <a:bodyPr wrap="square" rtlCol="0" anchor="t"/>
          <a:lstStyle/>
          <a:p>
            <a:pPr algn="l" indent="0" marL="0">
              <a:lnSpc>
                <a:spcPct val="110000"/>
              </a:lnSpc>
              <a:buNone/>
            </a:pPr>
            <a:r>
              <a:rPr lang="en-US" sz="1000" i="1" dirty="0">
                <a:solidFill>
                  <a:srgbClr val="D9C3E0"/>
                </a:solidFill>
                <a:latin typeface="Arial" pitchFamily="34" charset="0"/>
                <a:ea typeface="Arial" pitchFamily="34" charset="-122"/>
                <a:cs typeface="Arial" pitchFamily="34" charset="-120"/>
              </a:rPr>
              <a:t>Analytics dashboards let us track every student's progress across the six pillars in real time</a:t>
            </a:r>
            <a:endParaRPr lang="en-US" sz="1000" dirty="0"/>
          </a:p>
        </p:txBody>
      </p:sp>
      <p:sp>
        <p:nvSpPr>
          <p:cNvPr id="17" name="Shape 11"/>
          <p:cNvSpPr/>
          <p:nvPr/>
        </p:nvSpPr>
        <p:spPr>
          <a:xfrm>
            <a:off x="548640" y="1691640"/>
            <a:ext cx="3515258" cy="3931920"/>
          </a:xfrm>
          <a:prstGeom prst="roundRect">
            <a:avLst>
              <a:gd name="adj" fmla="val 2081"/>
            </a:avLst>
          </a:prstGeom>
          <a:solidFill>
            <a:srgbClr val="F2F7F8"/>
          </a:solidFill>
          <a:ln/>
        </p:spPr>
      </p:sp>
      <p:sp>
        <p:nvSpPr>
          <p:cNvPr id="18" name="Text 12"/>
          <p:cNvSpPr/>
          <p:nvPr/>
        </p:nvSpPr>
        <p:spPr>
          <a:xfrm>
            <a:off x="777240" y="1965960"/>
            <a:ext cx="3058058" cy="548640"/>
          </a:xfrm>
          <a:prstGeom prst="rect">
            <a:avLst/>
          </a:prstGeom>
          <a:noFill/>
          <a:ln/>
        </p:spPr>
        <p:txBody>
          <a:bodyPr wrap="square" rtlCol="0" anchor="ctr"/>
          <a:lstStyle/>
          <a:p>
            <a:pPr rtl="1" algn="ctr" indent="0" marL="0">
              <a:buNone/>
            </a:pPr>
            <a:r>
              <a:rPr lang="en-US" sz="1500" b="1" dirty="0">
                <a:solidFill>
                  <a:srgbClr val="005A66"/>
                </a:solidFill>
                <a:latin typeface="Cambria" pitchFamily="34" charset="0"/>
                <a:ea typeface="Cambria" pitchFamily="34" charset="-122"/>
                <a:cs typeface="Cambria" pitchFamily="34" charset="-120"/>
              </a:rPr>
              <a:t>تقرير دوري لأولياء الأمور</a:t>
            </a:r>
            <a:endParaRPr lang="en-US" sz="1500" dirty="0"/>
          </a:p>
        </p:txBody>
      </p:sp>
      <p:sp>
        <p:nvSpPr>
          <p:cNvPr id="19" name="Text 13"/>
          <p:cNvSpPr/>
          <p:nvPr/>
        </p:nvSpPr>
        <p:spPr>
          <a:xfrm>
            <a:off x="822960" y="2651760"/>
            <a:ext cx="2966618" cy="1538021"/>
          </a:xfrm>
          <a:prstGeom prst="rect">
            <a:avLst/>
          </a:prstGeom>
          <a:noFill/>
          <a:ln/>
        </p:spPr>
        <p:txBody>
          <a:bodyPr wrap="square" rtlCol="0" anchor="t"/>
          <a:lstStyle/>
          <a:p>
            <a:pPr rtl="1" algn="ctr" indent="0" marL="0">
              <a:lnSpc>
                <a:spcPct val="115000"/>
              </a:lnSpc>
              <a:buNone/>
            </a:pPr>
            <a:r>
              <a:rPr lang="en-US" sz="1150" dirty="0">
                <a:solidFill>
                  <a:srgbClr val="1B1B2F"/>
                </a:solidFill>
                <a:latin typeface="Arial" pitchFamily="34" charset="0"/>
                <a:ea typeface="Arial" pitchFamily="34" charset="-122"/>
                <a:cs typeface="Arial" pitchFamily="34" charset="-120"/>
              </a:rPr>
              <a:t>مشاركة مخرجات فعلية محقَّقة، وليس فقط محتوى تمت تغطيته</a:t>
            </a:r>
            <a:endParaRPr lang="en-US" sz="1150" dirty="0"/>
          </a:p>
        </p:txBody>
      </p:sp>
      <p:sp>
        <p:nvSpPr>
          <p:cNvPr id="20" name="Text 14"/>
          <p:cNvSpPr/>
          <p:nvPr/>
        </p:nvSpPr>
        <p:spPr>
          <a:xfrm>
            <a:off x="822960" y="4189781"/>
            <a:ext cx="2966618" cy="1113739"/>
          </a:xfrm>
          <a:prstGeom prst="rect">
            <a:avLst/>
          </a:prstGeom>
          <a:noFill/>
          <a:ln/>
        </p:spPr>
        <p:txBody>
          <a:bodyPr wrap="square" rtlCol="0" anchor="t"/>
          <a:lstStyle/>
          <a:p>
            <a:pPr algn="l" indent="0" marL="0">
              <a:lnSpc>
                <a:spcPct val="110000"/>
              </a:lnSpc>
              <a:buNone/>
            </a:pPr>
            <a:r>
              <a:rPr lang="en-US" sz="1000" i="1" dirty="0">
                <a:solidFill>
                  <a:srgbClr val="5A5F73"/>
                </a:solidFill>
                <a:latin typeface="Arial" pitchFamily="34" charset="0"/>
                <a:ea typeface="Arial" pitchFamily="34" charset="-122"/>
                <a:cs typeface="Arial" pitchFamily="34" charset="-120"/>
              </a:rPr>
              <a:t>Sharing actual achieved outcomes with you, not merely content that was covered</a:t>
            </a:r>
            <a:endParaRPr lang="en-US" sz="1000" dirty="0"/>
          </a:p>
        </p:txBody>
      </p:sp>
      <p:sp>
        <p:nvSpPr>
          <p:cNvPr id="21" name="Text 15"/>
          <p:cNvSpPr/>
          <p:nvPr/>
        </p:nvSpPr>
        <p:spPr>
          <a:xfrm>
            <a:off x="11551615" y="6400800"/>
            <a:ext cx="365760" cy="274320"/>
          </a:xfrm>
          <a:prstGeom prst="rect">
            <a:avLst/>
          </a:prstGeom>
          <a:noFill/>
          <a:ln/>
        </p:spPr>
        <p:txBody>
          <a:bodyPr wrap="square" rtlCol="0" anchor="ctr"/>
          <a:lstStyle/>
          <a:p>
            <a:pPr algn="r" indent="0" marL="0">
              <a:buNone/>
            </a:pPr>
            <a:r>
              <a:rPr lang="en-US" sz="1000" dirty="0">
                <a:solidFill>
                  <a:srgbClr val="5A5F73"/>
                </a:solidFill>
                <a:latin typeface="Arial" pitchFamily="34" charset="0"/>
                <a:ea typeface="Arial" pitchFamily="34" charset="-122"/>
                <a:cs typeface="Arial"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5A66"/>
        </a:solidFill>
      </p:bgPr>
    </p:bg>
    <p:spTree>
      <p:nvGrpSpPr>
        <p:cNvPr id="1" name=""/>
        <p:cNvGrpSpPr/>
        <p:nvPr/>
      </p:nvGrpSpPr>
      <p:grpSpPr>
        <a:xfrm>
          <a:off x="0" y="0"/>
          <a:ext cx="0" cy="0"/>
          <a:chOff x="0" y="0"/>
          <a:chExt cx="0" cy="0"/>
        </a:xfrm>
      </p:grpSpPr>
      <p:sp>
        <p:nvSpPr>
          <p:cNvPr id="2" name="Shape 0"/>
          <p:cNvSpPr/>
          <p:nvPr/>
        </p:nvSpPr>
        <p:spPr>
          <a:xfrm>
            <a:off x="365760" y="292608"/>
            <a:ext cx="2824759" cy="501091"/>
          </a:xfrm>
          <a:prstGeom prst="roundRect">
            <a:avLst>
              <a:gd name="adj" fmla="val 10949"/>
            </a:avLst>
          </a:prstGeom>
          <a:solidFill>
            <a:srgbClr val="FFFFFF"/>
          </a:solidFill>
          <a:ln w="6350">
            <a:solidFill>
              <a:srgbClr val="E3E8EA"/>
            </a:solidFill>
            <a:prstDash val="solid"/>
          </a:ln>
          <a:effectLst>
            <a:outerShdw sx="100000" sy="100000" kx="0" ky="0" algn="bl" rotWithShape="0" blurRad="50800" dist="12700" dir="5400000">
              <a:srgbClr val="888888">
                <a:alpha val="25000"/>
              </a:srgbClr>
            </a:outerShdw>
          </a:effectLst>
        </p:spPr>
      </p:sp>
      <p:pic>
        <p:nvPicPr>
          <p:cNvPr id="3" name="Image 0" descr="/home/claude/qubits_pptx/logos/trim_dar_alforsan.png">    </p:cNvPr>
          <p:cNvPicPr>
            <a:picLocks noChangeAspect="1"/>
          </p:cNvPicPr>
          <p:nvPr/>
        </p:nvPicPr>
        <p:blipFill>
          <a:blip r:embed="rId1"/>
          <a:stretch>
            <a:fillRect/>
          </a:stretch>
        </p:blipFill>
        <p:spPr>
          <a:xfrm>
            <a:off x="484632" y="387706"/>
            <a:ext cx="270802" cy="310896"/>
          </a:xfrm>
          <a:prstGeom prst="rect">
            <a:avLst/>
          </a:prstGeom>
        </p:spPr>
      </p:pic>
      <p:pic>
        <p:nvPicPr>
          <p:cNvPr id="4" name="Image 1" descr="/home/claude/qubits_pptx/logos/trim_diploma_section.png">    </p:cNvPr>
          <p:cNvPicPr>
            <a:picLocks noChangeAspect="1"/>
          </p:cNvPicPr>
          <p:nvPr/>
        </p:nvPicPr>
        <p:blipFill>
          <a:blip r:embed="rId2"/>
          <a:stretch>
            <a:fillRect/>
          </a:stretch>
        </p:blipFill>
        <p:spPr>
          <a:xfrm>
            <a:off x="846874" y="387706"/>
            <a:ext cx="253851" cy="310896"/>
          </a:xfrm>
          <a:prstGeom prst="rect">
            <a:avLst/>
          </a:prstGeom>
        </p:spPr>
      </p:pic>
      <p:pic>
        <p:nvPicPr>
          <p:cNvPr id="5" name="Image 2" descr="/home/claude/qubits_pptx/logos/trim_qubits_v4.png">    </p:cNvPr>
          <p:cNvPicPr>
            <a:picLocks noChangeAspect="1"/>
          </p:cNvPicPr>
          <p:nvPr/>
        </p:nvPicPr>
        <p:blipFill>
          <a:blip r:embed="rId3"/>
          <a:stretch>
            <a:fillRect/>
          </a:stretch>
        </p:blipFill>
        <p:spPr>
          <a:xfrm>
            <a:off x="1192164" y="387706"/>
            <a:ext cx="981777" cy="310896"/>
          </a:xfrm>
          <a:prstGeom prst="rect">
            <a:avLst/>
          </a:prstGeom>
        </p:spPr>
      </p:pic>
      <p:pic>
        <p:nvPicPr>
          <p:cNvPr id="6" name="Image 3" descr="/home/claude/qubits_pptx/logos/trim_aiaasc.png">    </p:cNvPr>
          <p:cNvPicPr>
            <a:picLocks noChangeAspect="1"/>
          </p:cNvPicPr>
          <p:nvPr/>
        </p:nvPicPr>
        <p:blipFill>
          <a:blip r:embed="rId4"/>
          <a:stretch>
            <a:fillRect/>
          </a:stretch>
        </p:blipFill>
        <p:spPr>
          <a:xfrm>
            <a:off x="2265381" y="387706"/>
            <a:ext cx="806266" cy="310896"/>
          </a:xfrm>
          <a:prstGeom prst="rect">
            <a:avLst/>
          </a:prstGeom>
        </p:spPr>
      </p:pic>
      <p:sp>
        <p:nvSpPr>
          <p:cNvPr id="7" name="Text 1"/>
          <p:cNvSpPr/>
          <p:nvPr/>
        </p:nvSpPr>
        <p:spPr>
          <a:xfrm>
            <a:off x="914400" y="2331720"/>
            <a:ext cx="10362895" cy="777240"/>
          </a:xfrm>
          <a:prstGeom prst="rect">
            <a:avLst/>
          </a:prstGeom>
          <a:noFill/>
          <a:ln/>
        </p:spPr>
        <p:txBody>
          <a:bodyPr wrap="square" rtlCol="0" anchor="ctr"/>
          <a:lstStyle/>
          <a:p>
            <a:pPr rtl="1" algn="ctr" indent="0" marL="0">
              <a:buNone/>
            </a:pPr>
            <a:r>
              <a:rPr lang="en-US" sz="3000" b="1" dirty="0">
                <a:solidFill>
                  <a:srgbClr val="FFFFFF"/>
                </a:solidFill>
                <a:latin typeface="Cambria" pitchFamily="34" charset="0"/>
                <a:ea typeface="Cambria" pitchFamily="34" charset="-122"/>
                <a:cs typeface="Cambria" pitchFamily="34" charset="-120"/>
              </a:rPr>
              <a:t>نتطلع لشراكتكم في هذه المرحلة الانتقالية</a:t>
            </a:r>
            <a:endParaRPr lang="en-US" sz="3000" dirty="0"/>
          </a:p>
        </p:txBody>
      </p:sp>
      <p:sp>
        <p:nvSpPr>
          <p:cNvPr id="8" name="Text 2"/>
          <p:cNvSpPr/>
          <p:nvPr/>
        </p:nvSpPr>
        <p:spPr>
          <a:xfrm>
            <a:off x="914400" y="3063240"/>
            <a:ext cx="10362895" cy="365760"/>
          </a:xfrm>
          <a:prstGeom prst="rect">
            <a:avLst/>
          </a:prstGeom>
          <a:noFill/>
          <a:ln/>
        </p:spPr>
        <p:txBody>
          <a:bodyPr wrap="square" rtlCol="0" anchor="ctr"/>
          <a:lstStyle/>
          <a:p>
            <a:pPr algn="ctr" indent="0" marL="0">
              <a:buNone/>
            </a:pPr>
            <a:r>
              <a:rPr lang="en-US" sz="1300" i="1" dirty="0">
                <a:solidFill>
                  <a:srgbClr val="BFE3E8"/>
                </a:solidFill>
                <a:latin typeface="Arial" pitchFamily="34" charset="0"/>
                <a:ea typeface="Arial" pitchFamily="34" charset="-122"/>
                <a:cs typeface="Arial" pitchFamily="34" charset="-120"/>
              </a:rPr>
              <a:t>We look forward to your partnership during this transitional phase</a:t>
            </a:r>
            <a:endParaRPr lang="en-US" sz="1300" dirty="0"/>
          </a:p>
        </p:txBody>
      </p:sp>
      <p:sp>
        <p:nvSpPr>
          <p:cNvPr id="9" name="Shape 3"/>
          <p:cNvSpPr/>
          <p:nvPr/>
        </p:nvSpPr>
        <p:spPr>
          <a:xfrm>
            <a:off x="5181448" y="3611880"/>
            <a:ext cx="1828800" cy="0"/>
          </a:xfrm>
          <a:prstGeom prst="line">
            <a:avLst/>
          </a:prstGeom>
          <a:noFill/>
          <a:ln w="31750">
            <a:solidFill>
              <a:srgbClr val="802980"/>
            </a:solidFill>
            <a:prstDash val="solid"/>
          </a:ln>
        </p:spPr>
      </p:sp>
      <p:sp>
        <p:nvSpPr>
          <p:cNvPr id="10" name="Text 4"/>
          <p:cNvSpPr/>
          <p:nvPr/>
        </p:nvSpPr>
        <p:spPr>
          <a:xfrm>
            <a:off x="914400" y="3794760"/>
            <a:ext cx="10362895" cy="457200"/>
          </a:xfrm>
          <a:prstGeom prst="rect">
            <a:avLst/>
          </a:prstGeom>
          <a:noFill/>
          <a:ln/>
        </p:spPr>
        <p:txBody>
          <a:bodyPr wrap="square" rtlCol="0" anchor="ctr"/>
          <a:lstStyle/>
          <a:p>
            <a:pPr rtl="1" algn="ctr" indent="0" marL="0">
              <a:buNone/>
            </a:pPr>
            <a:r>
              <a:rPr lang="en-US" sz="1700" dirty="0">
                <a:solidFill>
                  <a:srgbClr val="BFE3E8"/>
                </a:solidFill>
                <a:latin typeface="Arial" pitchFamily="34" charset="0"/>
                <a:ea typeface="Arial" pitchFamily="34" charset="-122"/>
                <a:cs typeface="Arial" pitchFamily="34" charset="-120"/>
              </a:rPr>
              <a:t>شكراً لحسن استماعكم</a:t>
            </a:r>
            <a:endParaRPr lang="en-US" sz="1700" dirty="0"/>
          </a:p>
        </p:txBody>
      </p:sp>
      <p:sp>
        <p:nvSpPr>
          <p:cNvPr id="11" name="Text 5"/>
          <p:cNvSpPr/>
          <p:nvPr/>
        </p:nvSpPr>
        <p:spPr>
          <a:xfrm>
            <a:off x="914400" y="4251960"/>
            <a:ext cx="10362895" cy="365760"/>
          </a:xfrm>
          <a:prstGeom prst="rect">
            <a:avLst/>
          </a:prstGeom>
          <a:noFill/>
          <a:ln/>
        </p:spPr>
        <p:txBody>
          <a:bodyPr wrap="square" rtlCol="0" anchor="ctr"/>
          <a:lstStyle/>
          <a:p>
            <a:pPr algn="ctr" indent="0" marL="0">
              <a:buNone/>
            </a:pPr>
            <a:r>
              <a:rPr lang="en-US" sz="1200" i="1" dirty="0">
                <a:solidFill>
                  <a:srgbClr val="8FBFC7"/>
                </a:solidFill>
                <a:latin typeface="Arial" pitchFamily="34" charset="0"/>
                <a:ea typeface="Arial" pitchFamily="34" charset="-122"/>
                <a:cs typeface="Arial" pitchFamily="34" charset="-120"/>
              </a:rPr>
              <a:t>Thank you for your attention</a:t>
            </a:r>
            <a:endParaRPr lang="en-US" sz="1200" dirty="0"/>
          </a:p>
        </p:txBody>
      </p:sp>
      <p:sp>
        <p:nvSpPr>
          <p:cNvPr id="12" name="Text 6"/>
          <p:cNvSpPr/>
          <p:nvPr/>
        </p:nvSpPr>
        <p:spPr>
          <a:xfrm>
            <a:off x="914400" y="4846320"/>
            <a:ext cx="10362895" cy="365760"/>
          </a:xfrm>
          <a:prstGeom prst="rect">
            <a:avLst/>
          </a:prstGeom>
          <a:noFill/>
          <a:ln/>
        </p:spPr>
        <p:txBody>
          <a:bodyPr wrap="square" rtlCol="0" anchor="ctr"/>
          <a:lstStyle/>
          <a:p>
            <a:pPr rtl="1" algn="ctr" indent="0" marL="0">
              <a:buNone/>
            </a:pPr>
            <a:r>
              <a:rPr lang="en-US" sz="1100" dirty="0">
                <a:solidFill>
                  <a:srgbClr val="8FBFC7"/>
                </a:solidFill>
                <a:latin typeface="Arial" pitchFamily="34" charset="0"/>
                <a:ea typeface="Arial" pitchFamily="34" charset="-122"/>
                <a:cs typeface="Arial" pitchFamily="34" charset="-120"/>
              </a:rPr>
              <a:t>Qubits LMS  |  العام الدراسي 2026 - 2027</a:t>
            </a:r>
            <a:endParaRPr lang="en-US" sz="1100" dirty="0"/>
          </a:p>
        </p:txBody>
      </p:sp>
      <p:sp>
        <p:nvSpPr>
          <p:cNvPr id="13" name="Text 7"/>
          <p:cNvSpPr/>
          <p:nvPr/>
        </p:nvSpPr>
        <p:spPr>
          <a:xfrm>
            <a:off x="11551615" y="6400800"/>
            <a:ext cx="365760" cy="274320"/>
          </a:xfrm>
          <a:prstGeom prst="rect">
            <a:avLst/>
          </a:prstGeom>
          <a:noFill/>
          <a:ln/>
        </p:spPr>
        <p:txBody>
          <a:bodyPr wrap="square" rtlCol="0" anchor="ctr"/>
          <a:lstStyle/>
          <a:p>
            <a:pPr algn="r" indent="0" marL="0">
              <a:buNone/>
            </a:pPr>
            <a:r>
              <a:rPr lang="en-US" sz="1000" dirty="0">
                <a:solidFill>
                  <a:srgbClr val="5A5F73"/>
                </a:solidFill>
                <a:latin typeface="Arial" pitchFamily="34" charset="0"/>
                <a:ea typeface="Arial" pitchFamily="34" charset="-122"/>
                <a:cs typeface="Arial" pitchFamily="34" charset="-120"/>
              </a:rPr>
              <a:t>18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2026-08-28T19:21:36Z</dcterms:created>
  <dcterms:modified xsi:type="dcterms:W3CDTF">2026-08-28T19:21:36Z</dcterms:modified>
</cp:coreProperties>
</file>